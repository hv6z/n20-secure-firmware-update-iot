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8288000" cy="10287000"/>
  <p:notesSz cx="6858000" cy="9144000"/>
  <p:embeddedFontLst>
    <p:embeddedFont>
      <p:font typeface="TT Lakes Neue Extended Bold" panose="02010001040000080307"/>
      <p:bold r:id="rId19"/>
    </p:embeddedFont>
    <p:embeddedFont>
      <p:font typeface="TT Lakes Neue Extended" panose="02010001040000080307"/>
      <p:regular r:id="rId20"/>
    </p:embeddedFont>
    <p:embeddedFont>
      <p:font typeface="Montserrat Light" panose="00000400000000000000"/>
      <p:regular r:id="rId21"/>
    </p:embeddedFont>
    <p:embeddedFont>
      <p:font typeface="Montserrat Bold" panose="00000800000000000000"/>
      <p:bold r:id="rId22"/>
    </p:embeddedFont>
    <p:embeddedFont>
      <p:font typeface="Montserrat" panose="00000500000000000000"/>
      <p:regular r:id="rId23"/>
    </p:embeddedFont>
    <p:embeddedFont>
      <p:font typeface="Noto Sans" panose="020B0502040504020204"/>
      <p:regular r:id="rId24"/>
    </p:embeddedFont>
    <p:embeddedFont>
      <p:font typeface="Calibri" panose="020F050202020403020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font" Target="fonts/font10.fntdata"/><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svg"/><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svg"/><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hyperlink" Target="https://github.com/hv6z/n20-secure-firmware-update-iot" TargetMode="External"/><Relationship Id="rId7" Type="http://schemas.openxmlformats.org/officeDocument/2006/relationships/hyperlink" Target="https://github.com/OWASP/IoTGoat" TargetMode="External"/><Relationship Id="rId6" Type="http://schemas.openxmlformats.org/officeDocument/2006/relationships/hyperlink" Target="https://github.com/scriptingxss/owasp-fstm" TargetMode="External"/><Relationship Id="rId5" Type="http://schemas.openxmlformats.org/officeDocument/2006/relationships/hyperlink" Target="https://github.com/OWASP/IoT-Security-Verification-Standard-ISVS" TargetMode="External"/><Relationship Id="rId4" Type="http://schemas.openxmlformats.org/officeDocument/2006/relationships/hyperlink" Target="https://github.com/espressif/esp-idf" TargetMode="External"/><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65984" r="-65984"/>
            </a:stretch>
          </a:blipFill>
        </p:spPr>
      </p:sp>
      <p:sp>
        <p:nvSpPr>
          <p:cNvPr id="3" name="Freeform 3"/>
          <p:cNvSpPr/>
          <p:nvPr/>
        </p:nvSpPr>
        <p:spPr>
          <a:xfrm>
            <a:off x="-2108849" y="6034841"/>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rot="0">
            <a:off x="5521572" y="6407094"/>
            <a:ext cx="7244857" cy="616879"/>
            <a:chOff x="0" y="0"/>
            <a:chExt cx="4772913" cy="406400"/>
          </a:xfrm>
        </p:grpSpPr>
        <p:sp>
          <p:nvSpPr>
            <p:cNvPr id="5" name="Freeform 5"/>
            <p:cNvSpPr/>
            <p:nvPr/>
          </p:nvSpPr>
          <p:spPr>
            <a:xfrm>
              <a:off x="0" y="0"/>
              <a:ext cx="4772913" cy="406400"/>
            </a:xfrm>
            <a:custGeom>
              <a:avLst/>
              <a:gdLst/>
              <a:ahLst/>
              <a:cxnLst/>
              <a:rect l="l" t="t" r="r" b="b"/>
              <a:pathLst>
                <a:path w="4772913" h="406400">
                  <a:moveTo>
                    <a:pt x="4569713" y="0"/>
                  </a:moveTo>
                  <a:cubicBezTo>
                    <a:pt x="4681937" y="0"/>
                    <a:pt x="4772913" y="90976"/>
                    <a:pt x="4772913" y="203200"/>
                  </a:cubicBezTo>
                  <a:cubicBezTo>
                    <a:pt x="4772913" y="315424"/>
                    <a:pt x="4681937" y="406400"/>
                    <a:pt x="4569713" y="406400"/>
                  </a:cubicBezTo>
                  <a:lnTo>
                    <a:pt x="203200" y="406400"/>
                  </a:lnTo>
                  <a:cubicBezTo>
                    <a:pt x="90976" y="406400"/>
                    <a:pt x="0" y="315424"/>
                    <a:pt x="0" y="203200"/>
                  </a:cubicBezTo>
                  <a:cubicBezTo>
                    <a:pt x="0" y="90976"/>
                    <a:pt x="90976" y="0"/>
                    <a:pt x="203200" y="0"/>
                  </a:cubicBezTo>
                  <a:lnTo>
                    <a:pt x="4569713" y="0"/>
                  </a:lnTo>
                  <a:close/>
                </a:path>
              </a:pathLst>
            </a:custGeom>
            <a:gradFill rotWithShape="1">
              <a:gsLst>
                <a:gs pos="0">
                  <a:srgbClr val="31A1D4">
                    <a:alpha val="47000"/>
                  </a:srgbClr>
                </a:gs>
                <a:gs pos="100000">
                  <a:srgbClr val="035E8E">
                    <a:alpha val="0"/>
                  </a:srgbClr>
                </a:gs>
              </a:gsLst>
              <a:lin ang="2700000"/>
            </a:gradFill>
            <a:ln cap="rnd">
              <a:noFill/>
              <a:prstDash val="solid"/>
              <a:round/>
            </a:ln>
          </p:spPr>
        </p:sp>
        <p:sp>
          <p:nvSpPr>
            <p:cNvPr id="6" name="TextBox 6"/>
            <p:cNvSpPr txBox="1"/>
            <p:nvPr/>
          </p:nvSpPr>
          <p:spPr>
            <a:xfrm>
              <a:off x="0" y="-38100"/>
              <a:ext cx="4772913" cy="444500"/>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7" name="Group 7"/>
          <p:cNvGrpSpPr/>
          <p:nvPr/>
        </p:nvGrpSpPr>
        <p:grpSpPr>
          <a:xfrm rot="0">
            <a:off x="-1482992" y="7162049"/>
            <a:ext cx="3636307" cy="3124951"/>
            <a:chOff x="0" y="0"/>
            <a:chExt cx="812800" cy="698500"/>
          </a:xfrm>
        </p:grpSpPr>
        <p:sp>
          <p:nvSpPr>
            <p:cNvPr id="8" name="Freeform 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9" name="TextBox 9"/>
            <p:cNvSpPr txBox="1"/>
            <p:nvPr/>
          </p:nvSpPr>
          <p:spPr>
            <a:xfrm>
              <a:off x="114300" y="-38100"/>
              <a:ext cx="584200" cy="736600"/>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10" name="Group 10"/>
          <p:cNvGrpSpPr/>
          <p:nvPr/>
        </p:nvGrpSpPr>
        <p:grpSpPr>
          <a:xfrm rot="0">
            <a:off x="1028700" y="8501408"/>
            <a:ext cx="4155559" cy="3571183"/>
            <a:chOff x="0" y="0"/>
            <a:chExt cx="812800" cy="698500"/>
          </a:xfrm>
        </p:grpSpPr>
        <p:sp>
          <p:nvSpPr>
            <p:cNvPr id="11" name="Freeform 1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2" name="TextBox 12"/>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3" name="Group 13"/>
          <p:cNvGrpSpPr/>
          <p:nvPr/>
        </p:nvGrpSpPr>
        <p:grpSpPr>
          <a:xfrm rot="0">
            <a:off x="335162" y="6342923"/>
            <a:ext cx="1906328" cy="1638251"/>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6" name="Group 16"/>
          <p:cNvGrpSpPr/>
          <p:nvPr/>
        </p:nvGrpSpPr>
        <p:grpSpPr>
          <a:xfrm rot="0">
            <a:off x="3746822" y="8501408"/>
            <a:ext cx="1510485" cy="1298073"/>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47000"/>
                  </a:srgbClr>
                </a:gs>
                <a:gs pos="100000">
                  <a:srgbClr val="035E8E">
                    <a:alpha val="0"/>
                  </a:srgbClr>
                </a:gs>
              </a:gsLst>
              <a:lin ang="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19" name="TextBox 19"/>
          <p:cNvSpPr txBox="1"/>
          <p:nvPr/>
        </p:nvSpPr>
        <p:spPr>
          <a:xfrm>
            <a:off x="1323801" y="3618425"/>
            <a:ext cx="15640397" cy="1089171"/>
          </a:xfrm>
          <a:prstGeom prst="rect">
            <a:avLst/>
          </a:prstGeom>
        </p:spPr>
        <p:txBody>
          <a:bodyPr lIns="0" tIns="0" rIns="0" bIns="0" rtlCol="0" anchor="t">
            <a:spAutoFit/>
          </a:bodyPr>
          <a:lstStyle/>
          <a:p>
            <a:pPr algn="ctr">
              <a:lnSpc>
                <a:spcPts val="8975"/>
              </a:lnSpc>
              <a:spcBef>
                <a:spcPct val="0"/>
              </a:spcBef>
            </a:pPr>
            <a:r>
              <a:rPr lang="en-US" sz="641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CẬP NHẬT FIRMWARE AN TOÀN</a:t>
            </a:r>
            <a:endParaRPr lang="en-US" sz="641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20" name="TextBox 20"/>
          <p:cNvSpPr txBox="1"/>
          <p:nvPr/>
        </p:nvSpPr>
        <p:spPr>
          <a:xfrm>
            <a:off x="1920618" y="4746198"/>
            <a:ext cx="14446764" cy="1155293"/>
          </a:xfrm>
          <a:prstGeom prst="rect">
            <a:avLst/>
          </a:prstGeom>
        </p:spPr>
        <p:txBody>
          <a:bodyPr lIns="0" tIns="0" rIns="0" bIns="0" rtlCol="0" anchor="t">
            <a:spAutoFit/>
          </a:bodyPr>
          <a:lstStyle/>
          <a:p>
            <a:pPr algn="ctr">
              <a:lnSpc>
                <a:spcPts val="9495"/>
              </a:lnSpc>
              <a:spcBef>
                <a:spcPct val="0"/>
              </a:spcBef>
            </a:pPr>
            <a:r>
              <a:rPr lang="en-US" sz="6785">
                <a:solidFill>
                  <a:srgbClr val="FFFFFF"/>
                </a:solidFill>
                <a:latin typeface="TT Lakes Neue Extended" panose="02010001040000080307"/>
                <a:ea typeface="TT Lakes Neue Extended" panose="02010001040000080307"/>
                <a:cs typeface="TT Lakes Neue Extended" panose="02010001040000080307"/>
                <a:sym typeface="TT Lakes Neue Extended" panose="02010001040000080307"/>
              </a:rPr>
              <a:t> CHO THIẾT BỊ IOT</a:t>
            </a:r>
            <a:endParaRPr lang="en-US" sz="6785">
              <a:solidFill>
                <a:srgbClr val="FFFFFF"/>
              </a:solidFill>
              <a:latin typeface="TT Lakes Neue Extended" panose="02010001040000080307"/>
              <a:ea typeface="TT Lakes Neue Extended" panose="02010001040000080307"/>
              <a:cs typeface="TT Lakes Neue Extended" panose="02010001040000080307"/>
              <a:sym typeface="TT Lakes Neue Extended" panose="02010001040000080307"/>
            </a:endParaRPr>
          </a:p>
        </p:txBody>
      </p:sp>
      <p:sp>
        <p:nvSpPr>
          <p:cNvPr id="21" name="TextBox 21"/>
          <p:cNvSpPr txBox="1"/>
          <p:nvPr/>
        </p:nvSpPr>
        <p:spPr>
          <a:xfrm>
            <a:off x="5521572" y="6498343"/>
            <a:ext cx="7244857" cy="396280"/>
          </a:xfrm>
          <a:prstGeom prst="rect">
            <a:avLst/>
          </a:prstGeom>
        </p:spPr>
        <p:txBody>
          <a:bodyPr lIns="0" tIns="0" rIns="0" bIns="0" rtlCol="0" anchor="t">
            <a:spAutoFit/>
          </a:bodyPr>
          <a:lstStyle/>
          <a:p>
            <a:pPr algn="ctr">
              <a:lnSpc>
                <a:spcPts val="3355"/>
              </a:lnSpc>
              <a:spcBef>
                <a:spcPct val="0"/>
              </a:spcBef>
            </a:pPr>
            <a:r>
              <a:rPr lang="en-US" sz="2400">
                <a:solidFill>
                  <a:srgbClr val="FFFFFF"/>
                </a:solidFill>
                <a:latin typeface="Montserrat Light" panose="00000400000000000000"/>
                <a:ea typeface="Montserrat Light" panose="00000400000000000000"/>
                <a:cs typeface="Montserrat Light" panose="00000400000000000000"/>
                <a:sym typeface="Montserrat Light" panose="00000400000000000000"/>
              </a:rPr>
              <a:t>Secure firmw</a:t>
            </a:r>
            <a:r>
              <a:rPr lang="en-US" sz="2400">
                <a:solidFill>
                  <a:srgbClr val="FFFFFF"/>
                </a:solidFill>
                <a:latin typeface="Montserrat Light" panose="00000400000000000000"/>
                <a:ea typeface="Montserrat Light" panose="00000400000000000000"/>
                <a:cs typeface="Montserrat Light" panose="00000400000000000000"/>
                <a:sym typeface="Montserrat Light" panose="00000400000000000000"/>
              </a:rPr>
              <a:t>are update for IoT devices</a:t>
            </a:r>
            <a:endParaRPr lang="en-US" sz="2400">
              <a:solidFill>
                <a:srgbClr val="FFFFFF"/>
              </a:solidFill>
              <a:latin typeface="Montserrat Light" panose="00000400000000000000"/>
              <a:ea typeface="Montserrat Light" panose="00000400000000000000"/>
              <a:cs typeface="Montserrat Light" panose="00000400000000000000"/>
              <a:sym typeface="Montserrat Light" panose="00000400000000000000"/>
            </a:endParaRPr>
          </a:p>
        </p:txBody>
      </p:sp>
      <p:sp>
        <p:nvSpPr>
          <p:cNvPr id="22" name="TextBox 22"/>
          <p:cNvSpPr txBox="1"/>
          <p:nvPr/>
        </p:nvSpPr>
        <p:spPr>
          <a:xfrm>
            <a:off x="1362735" y="1000125"/>
            <a:ext cx="4158837" cy="1387277"/>
          </a:xfrm>
          <a:prstGeom prst="rect">
            <a:avLst/>
          </a:prstGeom>
        </p:spPr>
        <p:txBody>
          <a:bodyPr lIns="0" tIns="0" rIns="0" bIns="0" rtlCol="0" anchor="t">
            <a:spAutoFit/>
          </a:bodyPr>
          <a:lstStyle/>
          <a:p>
            <a:pPr algn="l">
              <a:lnSpc>
                <a:spcPts val="2795"/>
              </a:lnSpc>
            </a:pPr>
            <a:r>
              <a:rPr lang="en-US" sz="2000">
                <a:solidFill>
                  <a:srgbClr val="FFFFFF"/>
                </a:solidFill>
                <a:latin typeface="Montserrat Light" panose="00000400000000000000"/>
                <a:ea typeface="Montserrat Light" panose="00000400000000000000"/>
                <a:cs typeface="Montserrat Light" panose="00000400000000000000"/>
                <a:sym typeface="Montserrat Light" panose="00000400000000000000"/>
              </a:rPr>
              <a:t>NHOM20</a:t>
            </a:r>
            <a:endParaRPr lang="en-US" sz="2000">
              <a:solidFill>
                <a:srgbClr val="FFFFFF"/>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2795"/>
              </a:lnSpc>
              <a:spcBef>
                <a:spcPct val="0"/>
              </a:spcBef>
            </a:pPr>
            <a:r>
              <a:rPr lang="en-US" sz="2000">
                <a:solidFill>
                  <a:srgbClr val="FFFFFF"/>
                </a:solidFill>
                <a:latin typeface="Montserrat Light" panose="00000400000000000000"/>
                <a:ea typeface="Montserrat Light" panose="00000400000000000000"/>
                <a:cs typeface="Montserrat Light" panose="00000400000000000000"/>
                <a:sym typeface="Montserrat Light" panose="00000400000000000000"/>
              </a:rPr>
              <a:t>LHP: 253INT441001</a:t>
            </a:r>
            <a:endParaRPr lang="en-US" sz="2000">
              <a:solidFill>
                <a:srgbClr val="FFFFFF"/>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2795"/>
              </a:lnSpc>
              <a:spcBef>
                <a:spcPct val="0"/>
              </a:spcBef>
            </a:pPr>
            <a:r>
              <a:rPr lang="en-US" sz="2000">
                <a:solidFill>
                  <a:srgbClr val="FFFFFF"/>
                </a:solidFill>
                <a:latin typeface="Montserrat Light" panose="00000400000000000000"/>
                <a:ea typeface="Montserrat Light" panose="00000400000000000000"/>
                <a:cs typeface="Montserrat Light" panose="00000400000000000000"/>
                <a:sym typeface="Montserrat Light" panose="00000400000000000000"/>
              </a:rPr>
              <a:t>Tran Thi Ha Vy</a:t>
            </a:r>
            <a:endParaRPr lang="en-US" sz="2000">
              <a:solidFill>
                <a:srgbClr val="FFFFFF"/>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2795"/>
              </a:lnSpc>
              <a:spcBef>
                <a:spcPct val="0"/>
              </a:spcBef>
            </a:pPr>
            <a:r>
              <a:rPr lang="en-US" sz="2000">
                <a:solidFill>
                  <a:srgbClr val="FFFFFF"/>
                </a:solidFill>
                <a:latin typeface="Montserrat Light" panose="00000400000000000000"/>
                <a:ea typeface="Montserrat Light" panose="00000400000000000000"/>
                <a:cs typeface="Montserrat Light" panose="00000400000000000000"/>
                <a:sym typeface="Montserrat Light" panose="00000400000000000000"/>
              </a:rPr>
              <a:t>231A010297</a:t>
            </a:r>
            <a:endParaRPr lang="en-US" sz="2000">
              <a:solidFill>
                <a:srgbClr val="FFFFFF"/>
              </a:solidFill>
              <a:latin typeface="Montserrat Light" panose="00000400000000000000"/>
              <a:ea typeface="Montserrat Light" panose="00000400000000000000"/>
              <a:cs typeface="Montserrat Light" panose="00000400000000000000"/>
              <a:sym typeface="Montserrat Light" panose="000004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sp>
        <p:nvSpPr>
          <p:cNvPr id="3" name="TextBox 3"/>
          <p:cNvSpPr txBox="1"/>
          <p:nvPr/>
        </p:nvSpPr>
        <p:spPr>
          <a:xfrm>
            <a:off x="1028700" y="1815138"/>
            <a:ext cx="9716337" cy="1257542"/>
          </a:xfrm>
          <a:prstGeom prst="rect">
            <a:avLst/>
          </a:prstGeom>
        </p:spPr>
        <p:txBody>
          <a:bodyPr lIns="0" tIns="0" rIns="0" bIns="0" rtlCol="0" anchor="t">
            <a:spAutoFit/>
          </a:bodyPr>
          <a:lstStyle/>
          <a:p>
            <a:pPr algn="l">
              <a:lnSpc>
                <a:spcPts val="10265"/>
              </a:lnSpc>
              <a:spcBef>
                <a:spcPct val="0"/>
              </a:spcBef>
            </a:pPr>
            <a:r>
              <a:rPr lang="en-US" sz="733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NỘI DUNG</a:t>
            </a:r>
            <a:endParaRPr lang="en-US" sz="733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4" name="TextBox 4"/>
          <p:cNvSpPr txBox="1"/>
          <p:nvPr/>
        </p:nvSpPr>
        <p:spPr>
          <a:xfrm>
            <a:off x="1028700" y="2929851"/>
            <a:ext cx="9716337" cy="1257588"/>
          </a:xfrm>
          <a:prstGeom prst="rect">
            <a:avLst/>
          </a:prstGeom>
        </p:spPr>
        <p:txBody>
          <a:bodyPr lIns="0" tIns="0" rIns="0" bIns="0" rtlCol="0" anchor="t">
            <a:spAutoFit/>
          </a:bodyPr>
          <a:lstStyle/>
          <a:p>
            <a:pPr algn="l">
              <a:lnSpc>
                <a:spcPts val="10265"/>
              </a:lnSpc>
              <a:spcBef>
                <a:spcPct val="0"/>
              </a:spcBef>
            </a:pPr>
            <a:r>
              <a:rPr lang="en-US" sz="733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TRIỂN KHAI</a:t>
            </a:r>
            <a:endParaRPr lang="en-US" sz="733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grpSp>
        <p:nvGrpSpPr>
          <p:cNvPr id="5" name="Group 5"/>
          <p:cNvGrpSpPr/>
          <p:nvPr/>
        </p:nvGrpSpPr>
        <p:grpSpPr>
          <a:xfrm rot="0">
            <a:off x="9694410" y="1958013"/>
            <a:ext cx="9329646" cy="643089"/>
            <a:chOff x="0" y="0"/>
            <a:chExt cx="1046692" cy="72148"/>
          </a:xfrm>
        </p:grpSpPr>
        <p:sp>
          <p:nvSpPr>
            <p:cNvPr id="6" name="Freeform 6"/>
            <p:cNvSpPr/>
            <p:nvPr/>
          </p:nvSpPr>
          <p:spPr>
            <a:xfrm>
              <a:off x="0" y="0"/>
              <a:ext cx="1046692" cy="72148"/>
            </a:xfrm>
            <a:custGeom>
              <a:avLst/>
              <a:gdLst/>
              <a:ahLst/>
              <a:cxnLst/>
              <a:rect l="l" t="t" r="r" b="b"/>
              <a:pathLst>
                <a:path w="1046692" h="72148">
                  <a:moveTo>
                    <a:pt x="20745" y="0"/>
                  </a:moveTo>
                  <a:lnTo>
                    <a:pt x="1025947" y="0"/>
                  </a:lnTo>
                  <a:cubicBezTo>
                    <a:pt x="1037404" y="0"/>
                    <a:pt x="1046692" y="9288"/>
                    <a:pt x="1046692" y="20745"/>
                  </a:cubicBezTo>
                  <a:lnTo>
                    <a:pt x="1046692" y="51403"/>
                  </a:lnTo>
                  <a:cubicBezTo>
                    <a:pt x="1046692" y="62860"/>
                    <a:pt x="1037404" y="72148"/>
                    <a:pt x="1025947" y="72148"/>
                  </a:cubicBezTo>
                  <a:lnTo>
                    <a:pt x="20745" y="72148"/>
                  </a:lnTo>
                  <a:cubicBezTo>
                    <a:pt x="9288" y="72148"/>
                    <a:pt x="0" y="62860"/>
                    <a:pt x="0" y="51403"/>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7" name="TextBox 7"/>
            <p:cNvSpPr txBox="1"/>
            <p:nvPr/>
          </p:nvSpPr>
          <p:spPr>
            <a:xfrm>
              <a:off x="0" y="-38100"/>
              <a:ext cx="1046692" cy="110248"/>
            </a:xfrm>
            <a:prstGeom prst="rect">
              <a:avLst/>
            </a:prstGeom>
          </p:spPr>
          <p:txBody>
            <a:bodyPr lIns="50800" tIns="50800" rIns="50800" bIns="50800" rtlCol="0" anchor="ctr"/>
            <a:lstStyle/>
            <a:p>
              <a:pPr marL="0" lvl="0" indent="0" algn="ctr">
                <a:lnSpc>
                  <a:spcPts val="3355"/>
                </a:lnSpc>
                <a:spcBef>
                  <a:spcPct val="0"/>
                </a:spcBef>
              </a:pPr>
            </a:p>
          </p:txBody>
        </p:sp>
      </p:grpSp>
      <p:sp>
        <p:nvSpPr>
          <p:cNvPr id="8" name="TextBox 8"/>
          <p:cNvSpPr txBox="1"/>
          <p:nvPr/>
        </p:nvSpPr>
        <p:spPr>
          <a:xfrm>
            <a:off x="11144743" y="2074084"/>
            <a:ext cx="5256547"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VẤN ĐỀ BẢO MẬT VÀ MỤC TIÊU</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9" name="TextBox 9"/>
          <p:cNvSpPr txBox="1"/>
          <p:nvPr/>
        </p:nvSpPr>
        <p:spPr>
          <a:xfrm>
            <a:off x="10318297" y="2074084"/>
            <a:ext cx="826446"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01</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10" name="Group 10"/>
          <p:cNvGrpSpPr/>
          <p:nvPr/>
        </p:nvGrpSpPr>
        <p:grpSpPr>
          <a:xfrm rot="0">
            <a:off x="9694410" y="2763550"/>
            <a:ext cx="9329646" cy="643089"/>
            <a:chOff x="0" y="0"/>
            <a:chExt cx="1046692" cy="72148"/>
          </a:xfrm>
        </p:grpSpPr>
        <p:sp>
          <p:nvSpPr>
            <p:cNvPr id="11" name="Freeform 11"/>
            <p:cNvSpPr/>
            <p:nvPr/>
          </p:nvSpPr>
          <p:spPr>
            <a:xfrm>
              <a:off x="0" y="0"/>
              <a:ext cx="1046692" cy="72148"/>
            </a:xfrm>
            <a:custGeom>
              <a:avLst/>
              <a:gdLst/>
              <a:ahLst/>
              <a:cxnLst/>
              <a:rect l="l" t="t" r="r" b="b"/>
              <a:pathLst>
                <a:path w="1046692" h="72148">
                  <a:moveTo>
                    <a:pt x="20745" y="0"/>
                  </a:moveTo>
                  <a:lnTo>
                    <a:pt x="1025947" y="0"/>
                  </a:lnTo>
                  <a:cubicBezTo>
                    <a:pt x="1037404" y="0"/>
                    <a:pt x="1046692" y="9288"/>
                    <a:pt x="1046692" y="20745"/>
                  </a:cubicBezTo>
                  <a:lnTo>
                    <a:pt x="1046692" y="51403"/>
                  </a:lnTo>
                  <a:cubicBezTo>
                    <a:pt x="1046692" y="62860"/>
                    <a:pt x="1037404" y="72148"/>
                    <a:pt x="1025947" y="72148"/>
                  </a:cubicBezTo>
                  <a:lnTo>
                    <a:pt x="20745" y="72148"/>
                  </a:lnTo>
                  <a:cubicBezTo>
                    <a:pt x="9288" y="72148"/>
                    <a:pt x="0" y="62860"/>
                    <a:pt x="0" y="51403"/>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12" name="TextBox 12"/>
            <p:cNvSpPr txBox="1"/>
            <p:nvPr/>
          </p:nvSpPr>
          <p:spPr>
            <a:xfrm>
              <a:off x="0" y="-38100"/>
              <a:ext cx="1046692" cy="110248"/>
            </a:xfrm>
            <a:prstGeom prst="rect">
              <a:avLst/>
            </a:prstGeom>
          </p:spPr>
          <p:txBody>
            <a:bodyPr lIns="50800" tIns="50800" rIns="50800" bIns="50800" rtlCol="0" anchor="ctr"/>
            <a:lstStyle/>
            <a:p>
              <a:pPr marL="0" lvl="0" indent="0" algn="ctr">
                <a:lnSpc>
                  <a:spcPts val="3355"/>
                </a:lnSpc>
                <a:spcBef>
                  <a:spcPct val="0"/>
                </a:spcBef>
              </a:pPr>
            </a:p>
          </p:txBody>
        </p:sp>
      </p:grpSp>
      <p:sp>
        <p:nvSpPr>
          <p:cNvPr id="13" name="TextBox 13"/>
          <p:cNvSpPr txBox="1"/>
          <p:nvPr/>
        </p:nvSpPr>
        <p:spPr>
          <a:xfrm>
            <a:off x="10318297" y="2879622"/>
            <a:ext cx="826446"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02</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4" name="TextBox 14"/>
          <p:cNvSpPr txBox="1"/>
          <p:nvPr/>
        </p:nvSpPr>
        <p:spPr>
          <a:xfrm>
            <a:off x="11144743" y="2879622"/>
            <a:ext cx="6527533"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CƠ SỞ LÝ  THUYẾT VÀ NGUỒN THAM KHẢO</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5" name="Freeform 15"/>
          <p:cNvSpPr/>
          <p:nvPr/>
        </p:nvSpPr>
        <p:spPr>
          <a:xfrm>
            <a:off x="-2108849" y="7310674"/>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6" name="Group 16"/>
          <p:cNvGrpSpPr/>
          <p:nvPr/>
        </p:nvGrpSpPr>
        <p:grpSpPr>
          <a:xfrm rot="0">
            <a:off x="1028700" y="8848918"/>
            <a:ext cx="4155559" cy="3571183"/>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9" name="Group 19"/>
          <p:cNvGrpSpPr/>
          <p:nvPr/>
        </p:nvGrpSpPr>
        <p:grpSpPr>
          <a:xfrm rot="0">
            <a:off x="3746822" y="8848918"/>
            <a:ext cx="1510485" cy="1298073"/>
            <a:chOff x="0" y="0"/>
            <a:chExt cx="812800" cy="698500"/>
          </a:xfrm>
        </p:grpSpPr>
        <p:sp>
          <p:nvSpPr>
            <p:cNvPr id="20" name="Freeform 2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47000"/>
                  </a:srgbClr>
                </a:gs>
                <a:gs pos="100000">
                  <a:srgbClr val="035E8E">
                    <a:alpha val="0"/>
                  </a:srgbClr>
                </a:gs>
              </a:gsLst>
              <a:lin ang="0"/>
            </a:gradFill>
          </p:spPr>
        </p:sp>
        <p:sp>
          <p:nvSpPr>
            <p:cNvPr id="21" name="TextBox 21"/>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22" name="Group 22"/>
          <p:cNvGrpSpPr/>
          <p:nvPr/>
        </p:nvGrpSpPr>
        <p:grpSpPr>
          <a:xfrm rot="0">
            <a:off x="9694410" y="3568564"/>
            <a:ext cx="9329646" cy="643089"/>
            <a:chOff x="0" y="0"/>
            <a:chExt cx="1046692" cy="72148"/>
          </a:xfrm>
        </p:grpSpPr>
        <p:sp>
          <p:nvSpPr>
            <p:cNvPr id="23" name="Freeform 23"/>
            <p:cNvSpPr/>
            <p:nvPr/>
          </p:nvSpPr>
          <p:spPr>
            <a:xfrm>
              <a:off x="0" y="0"/>
              <a:ext cx="1046692" cy="72148"/>
            </a:xfrm>
            <a:custGeom>
              <a:avLst/>
              <a:gdLst/>
              <a:ahLst/>
              <a:cxnLst/>
              <a:rect l="l" t="t" r="r" b="b"/>
              <a:pathLst>
                <a:path w="1046692" h="72148">
                  <a:moveTo>
                    <a:pt x="20745" y="0"/>
                  </a:moveTo>
                  <a:lnTo>
                    <a:pt x="1025947" y="0"/>
                  </a:lnTo>
                  <a:cubicBezTo>
                    <a:pt x="1037404" y="0"/>
                    <a:pt x="1046692" y="9288"/>
                    <a:pt x="1046692" y="20745"/>
                  </a:cubicBezTo>
                  <a:lnTo>
                    <a:pt x="1046692" y="51403"/>
                  </a:lnTo>
                  <a:cubicBezTo>
                    <a:pt x="1046692" y="62860"/>
                    <a:pt x="1037404" y="72148"/>
                    <a:pt x="1025947" y="72148"/>
                  </a:cubicBezTo>
                  <a:lnTo>
                    <a:pt x="20745" y="72148"/>
                  </a:lnTo>
                  <a:cubicBezTo>
                    <a:pt x="9288" y="72148"/>
                    <a:pt x="0" y="62860"/>
                    <a:pt x="0" y="51403"/>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24" name="TextBox 24"/>
            <p:cNvSpPr txBox="1"/>
            <p:nvPr/>
          </p:nvSpPr>
          <p:spPr>
            <a:xfrm>
              <a:off x="0" y="-38100"/>
              <a:ext cx="1046692" cy="110248"/>
            </a:xfrm>
            <a:prstGeom prst="rect">
              <a:avLst/>
            </a:prstGeom>
          </p:spPr>
          <p:txBody>
            <a:bodyPr lIns="50800" tIns="50800" rIns="50800" bIns="50800" rtlCol="0" anchor="ctr"/>
            <a:lstStyle/>
            <a:p>
              <a:pPr marL="0" lvl="0" indent="0" algn="ctr">
                <a:lnSpc>
                  <a:spcPts val="3355"/>
                </a:lnSpc>
                <a:spcBef>
                  <a:spcPct val="0"/>
                </a:spcBef>
              </a:pPr>
            </a:p>
          </p:txBody>
        </p:sp>
      </p:grpSp>
      <p:sp>
        <p:nvSpPr>
          <p:cNvPr id="25" name="TextBox 25"/>
          <p:cNvSpPr txBox="1"/>
          <p:nvPr/>
        </p:nvSpPr>
        <p:spPr>
          <a:xfrm>
            <a:off x="11144743" y="3684636"/>
            <a:ext cx="5256547"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KIẾN TRÚC MÔ PHỎNG</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6" name="TextBox 26"/>
          <p:cNvSpPr txBox="1"/>
          <p:nvPr/>
        </p:nvSpPr>
        <p:spPr>
          <a:xfrm>
            <a:off x="10318297" y="3684636"/>
            <a:ext cx="826446"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03</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27" name="Group 27"/>
          <p:cNvGrpSpPr/>
          <p:nvPr/>
        </p:nvGrpSpPr>
        <p:grpSpPr>
          <a:xfrm rot="0">
            <a:off x="9694410" y="4374102"/>
            <a:ext cx="9329646" cy="643089"/>
            <a:chOff x="0" y="0"/>
            <a:chExt cx="1046692" cy="72148"/>
          </a:xfrm>
        </p:grpSpPr>
        <p:sp>
          <p:nvSpPr>
            <p:cNvPr id="28" name="Freeform 28"/>
            <p:cNvSpPr/>
            <p:nvPr/>
          </p:nvSpPr>
          <p:spPr>
            <a:xfrm>
              <a:off x="0" y="0"/>
              <a:ext cx="1046692" cy="72148"/>
            </a:xfrm>
            <a:custGeom>
              <a:avLst/>
              <a:gdLst/>
              <a:ahLst/>
              <a:cxnLst/>
              <a:rect l="l" t="t" r="r" b="b"/>
              <a:pathLst>
                <a:path w="1046692" h="72148">
                  <a:moveTo>
                    <a:pt x="20745" y="0"/>
                  </a:moveTo>
                  <a:lnTo>
                    <a:pt x="1025947" y="0"/>
                  </a:lnTo>
                  <a:cubicBezTo>
                    <a:pt x="1037404" y="0"/>
                    <a:pt x="1046692" y="9288"/>
                    <a:pt x="1046692" y="20745"/>
                  </a:cubicBezTo>
                  <a:lnTo>
                    <a:pt x="1046692" y="51403"/>
                  </a:lnTo>
                  <a:cubicBezTo>
                    <a:pt x="1046692" y="62860"/>
                    <a:pt x="1037404" y="72148"/>
                    <a:pt x="1025947" y="72148"/>
                  </a:cubicBezTo>
                  <a:lnTo>
                    <a:pt x="20745" y="72148"/>
                  </a:lnTo>
                  <a:cubicBezTo>
                    <a:pt x="9288" y="72148"/>
                    <a:pt x="0" y="62860"/>
                    <a:pt x="0" y="51403"/>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29" name="TextBox 29"/>
            <p:cNvSpPr txBox="1"/>
            <p:nvPr/>
          </p:nvSpPr>
          <p:spPr>
            <a:xfrm>
              <a:off x="0" y="-38100"/>
              <a:ext cx="1046692" cy="110248"/>
            </a:xfrm>
            <a:prstGeom prst="rect">
              <a:avLst/>
            </a:prstGeom>
          </p:spPr>
          <p:txBody>
            <a:bodyPr lIns="50800" tIns="50800" rIns="50800" bIns="50800" rtlCol="0" anchor="ctr"/>
            <a:lstStyle/>
            <a:p>
              <a:pPr marL="0" lvl="0" indent="0" algn="ctr">
                <a:lnSpc>
                  <a:spcPts val="3355"/>
                </a:lnSpc>
                <a:spcBef>
                  <a:spcPct val="0"/>
                </a:spcBef>
              </a:pPr>
            </a:p>
          </p:txBody>
        </p:sp>
      </p:grpSp>
      <p:sp>
        <p:nvSpPr>
          <p:cNvPr id="30" name="TextBox 30"/>
          <p:cNvSpPr txBox="1"/>
          <p:nvPr/>
        </p:nvSpPr>
        <p:spPr>
          <a:xfrm>
            <a:off x="10318297" y="4490174"/>
            <a:ext cx="826446"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04</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31" name="TextBox 31"/>
          <p:cNvSpPr txBox="1"/>
          <p:nvPr/>
        </p:nvSpPr>
        <p:spPr>
          <a:xfrm>
            <a:off x="11144743" y="4490174"/>
            <a:ext cx="5903418"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QUY TRÌNH OTA AN TOÀN </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32" name="Group 32"/>
          <p:cNvGrpSpPr/>
          <p:nvPr/>
        </p:nvGrpSpPr>
        <p:grpSpPr>
          <a:xfrm rot="0">
            <a:off x="9694410" y="5179116"/>
            <a:ext cx="9329646" cy="643089"/>
            <a:chOff x="0" y="0"/>
            <a:chExt cx="1046692" cy="72148"/>
          </a:xfrm>
        </p:grpSpPr>
        <p:sp>
          <p:nvSpPr>
            <p:cNvPr id="33" name="Freeform 33"/>
            <p:cNvSpPr/>
            <p:nvPr/>
          </p:nvSpPr>
          <p:spPr>
            <a:xfrm>
              <a:off x="0" y="0"/>
              <a:ext cx="1046692" cy="72148"/>
            </a:xfrm>
            <a:custGeom>
              <a:avLst/>
              <a:gdLst/>
              <a:ahLst/>
              <a:cxnLst/>
              <a:rect l="l" t="t" r="r" b="b"/>
              <a:pathLst>
                <a:path w="1046692" h="72148">
                  <a:moveTo>
                    <a:pt x="20745" y="0"/>
                  </a:moveTo>
                  <a:lnTo>
                    <a:pt x="1025947" y="0"/>
                  </a:lnTo>
                  <a:cubicBezTo>
                    <a:pt x="1037404" y="0"/>
                    <a:pt x="1046692" y="9288"/>
                    <a:pt x="1046692" y="20745"/>
                  </a:cubicBezTo>
                  <a:lnTo>
                    <a:pt x="1046692" y="51403"/>
                  </a:lnTo>
                  <a:cubicBezTo>
                    <a:pt x="1046692" y="62860"/>
                    <a:pt x="1037404" y="72148"/>
                    <a:pt x="1025947" y="72148"/>
                  </a:cubicBezTo>
                  <a:lnTo>
                    <a:pt x="20745" y="72148"/>
                  </a:lnTo>
                  <a:cubicBezTo>
                    <a:pt x="9288" y="72148"/>
                    <a:pt x="0" y="62860"/>
                    <a:pt x="0" y="51403"/>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34" name="TextBox 34"/>
            <p:cNvSpPr txBox="1"/>
            <p:nvPr/>
          </p:nvSpPr>
          <p:spPr>
            <a:xfrm>
              <a:off x="0" y="-38100"/>
              <a:ext cx="1046692" cy="110248"/>
            </a:xfrm>
            <a:prstGeom prst="rect">
              <a:avLst/>
            </a:prstGeom>
          </p:spPr>
          <p:txBody>
            <a:bodyPr lIns="50800" tIns="50800" rIns="50800" bIns="50800" rtlCol="0" anchor="ctr"/>
            <a:lstStyle/>
            <a:p>
              <a:pPr marL="0" lvl="0" indent="0" algn="ctr">
                <a:lnSpc>
                  <a:spcPts val="3355"/>
                </a:lnSpc>
                <a:spcBef>
                  <a:spcPct val="0"/>
                </a:spcBef>
              </a:pPr>
            </a:p>
          </p:txBody>
        </p:sp>
      </p:grpSp>
      <p:sp>
        <p:nvSpPr>
          <p:cNvPr id="35" name="TextBox 35"/>
          <p:cNvSpPr txBox="1"/>
          <p:nvPr/>
        </p:nvSpPr>
        <p:spPr>
          <a:xfrm>
            <a:off x="11144743" y="5295187"/>
            <a:ext cx="5256547"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KẾT QUẢ DEMO</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36" name="TextBox 36"/>
          <p:cNvSpPr txBox="1"/>
          <p:nvPr/>
        </p:nvSpPr>
        <p:spPr>
          <a:xfrm>
            <a:off x="10318297" y="5295187"/>
            <a:ext cx="826446"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05</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37" name="Group 37"/>
          <p:cNvGrpSpPr/>
          <p:nvPr/>
        </p:nvGrpSpPr>
        <p:grpSpPr>
          <a:xfrm rot="0">
            <a:off x="9694410" y="5984654"/>
            <a:ext cx="9329646" cy="643089"/>
            <a:chOff x="0" y="0"/>
            <a:chExt cx="1046692" cy="72148"/>
          </a:xfrm>
        </p:grpSpPr>
        <p:sp>
          <p:nvSpPr>
            <p:cNvPr id="38" name="Freeform 38"/>
            <p:cNvSpPr/>
            <p:nvPr/>
          </p:nvSpPr>
          <p:spPr>
            <a:xfrm>
              <a:off x="0" y="0"/>
              <a:ext cx="1046692" cy="72148"/>
            </a:xfrm>
            <a:custGeom>
              <a:avLst/>
              <a:gdLst/>
              <a:ahLst/>
              <a:cxnLst/>
              <a:rect l="l" t="t" r="r" b="b"/>
              <a:pathLst>
                <a:path w="1046692" h="72148">
                  <a:moveTo>
                    <a:pt x="20745" y="0"/>
                  </a:moveTo>
                  <a:lnTo>
                    <a:pt x="1025947" y="0"/>
                  </a:lnTo>
                  <a:cubicBezTo>
                    <a:pt x="1037404" y="0"/>
                    <a:pt x="1046692" y="9288"/>
                    <a:pt x="1046692" y="20745"/>
                  </a:cubicBezTo>
                  <a:lnTo>
                    <a:pt x="1046692" y="51403"/>
                  </a:lnTo>
                  <a:cubicBezTo>
                    <a:pt x="1046692" y="62860"/>
                    <a:pt x="1037404" y="72148"/>
                    <a:pt x="1025947" y="72148"/>
                  </a:cubicBezTo>
                  <a:lnTo>
                    <a:pt x="20745" y="72148"/>
                  </a:lnTo>
                  <a:cubicBezTo>
                    <a:pt x="9288" y="72148"/>
                    <a:pt x="0" y="62860"/>
                    <a:pt x="0" y="51403"/>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39" name="TextBox 39"/>
            <p:cNvSpPr txBox="1"/>
            <p:nvPr/>
          </p:nvSpPr>
          <p:spPr>
            <a:xfrm>
              <a:off x="0" y="-38100"/>
              <a:ext cx="1046692" cy="110248"/>
            </a:xfrm>
            <a:prstGeom prst="rect">
              <a:avLst/>
            </a:prstGeom>
          </p:spPr>
          <p:txBody>
            <a:bodyPr lIns="50800" tIns="50800" rIns="50800" bIns="50800" rtlCol="0" anchor="ctr"/>
            <a:lstStyle/>
            <a:p>
              <a:pPr marL="0" lvl="0" indent="0" algn="ctr">
                <a:lnSpc>
                  <a:spcPts val="3355"/>
                </a:lnSpc>
                <a:spcBef>
                  <a:spcPct val="0"/>
                </a:spcBef>
              </a:pPr>
            </a:p>
          </p:txBody>
        </p:sp>
      </p:grpSp>
      <p:sp>
        <p:nvSpPr>
          <p:cNvPr id="40" name="TextBox 40"/>
          <p:cNvSpPr txBox="1"/>
          <p:nvPr/>
        </p:nvSpPr>
        <p:spPr>
          <a:xfrm>
            <a:off x="10318297" y="6100725"/>
            <a:ext cx="826446"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06</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41" name="TextBox 41"/>
          <p:cNvSpPr txBox="1"/>
          <p:nvPr/>
        </p:nvSpPr>
        <p:spPr>
          <a:xfrm>
            <a:off x="11144743" y="6100725"/>
            <a:ext cx="5903418"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RỦI RO VÀ BIỆN PHÁP GIẢM THIỂU</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42" name="Group 42"/>
          <p:cNvGrpSpPr/>
          <p:nvPr/>
        </p:nvGrpSpPr>
        <p:grpSpPr>
          <a:xfrm rot="0">
            <a:off x="9694410" y="6789667"/>
            <a:ext cx="9329646" cy="643089"/>
            <a:chOff x="0" y="0"/>
            <a:chExt cx="1046692" cy="72148"/>
          </a:xfrm>
        </p:grpSpPr>
        <p:sp>
          <p:nvSpPr>
            <p:cNvPr id="43" name="Freeform 43"/>
            <p:cNvSpPr/>
            <p:nvPr/>
          </p:nvSpPr>
          <p:spPr>
            <a:xfrm>
              <a:off x="0" y="0"/>
              <a:ext cx="1046692" cy="72148"/>
            </a:xfrm>
            <a:custGeom>
              <a:avLst/>
              <a:gdLst/>
              <a:ahLst/>
              <a:cxnLst/>
              <a:rect l="l" t="t" r="r" b="b"/>
              <a:pathLst>
                <a:path w="1046692" h="72148">
                  <a:moveTo>
                    <a:pt x="20745" y="0"/>
                  </a:moveTo>
                  <a:lnTo>
                    <a:pt x="1025947" y="0"/>
                  </a:lnTo>
                  <a:cubicBezTo>
                    <a:pt x="1037404" y="0"/>
                    <a:pt x="1046692" y="9288"/>
                    <a:pt x="1046692" y="20745"/>
                  </a:cubicBezTo>
                  <a:lnTo>
                    <a:pt x="1046692" y="51403"/>
                  </a:lnTo>
                  <a:cubicBezTo>
                    <a:pt x="1046692" y="62860"/>
                    <a:pt x="1037404" y="72148"/>
                    <a:pt x="1025947" y="72148"/>
                  </a:cubicBezTo>
                  <a:lnTo>
                    <a:pt x="20745" y="72148"/>
                  </a:lnTo>
                  <a:cubicBezTo>
                    <a:pt x="9288" y="72148"/>
                    <a:pt x="0" y="62860"/>
                    <a:pt x="0" y="51403"/>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44" name="TextBox 44"/>
            <p:cNvSpPr txBox="1"/>
            <p:nvPr/>
          </p:nvSpPr>
          <p:spPr>
            <a:xfrm>
              <a:off x="0" y="-38100"/>
              <a:ext cx="1046692" cy="110248"/>
            </a:xfrm>
            <a:prstGeom prst="rect">
              <a:avLst/>
            </a:prstGeom>
          </p:spPr>
          <p:txBody>
            <a:bodyPr lIns="50800" tIns="50800" rIns="50800" bIns="50800" rtlCol="0" anchor="ctr"/>
            <a:lstStyle/>
            <a:p>
              <a:pPr marL="0" lvl="0" indent="0" algn="ctr">
                <a:lnSpc>
                  <a:spcPts val="3355"/>
                </a:lnSpc>
                <a:spcBef>
                  <a:spcPct val="0"/>
                </a:spcBef>
              </a:pPr>
            </a:p>
          </p:txBody>
        </p:sp>
      </p:grpSp>
      <p:sp>
        <p:nvSpPr>
          <p:cNvPr id="45" name="TextBox 45"/>
          <p:cNvSpPr txBox="1"/>
          <p:nvPr/>
        </p:nvSpPr>
        <p:spPr>
          <a:xfrm>
            <a:off x="11144743" y="6905739"/>
            <a:ext cx="7070832"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ĐÁNH GIÁ, HẠN CHẾ VÀ HƯỚNG PHÁT TRIỂN</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46" name="TextBox 46"/>
          <p:cNvSpPr txBox="1"/>
          <p:nvPr/>
        </p:nvSpPr>
        <p:spPr>
          <a:xfrm>
            <a:off x="10318297" y="6905739"/>
            <a:ext cx="826446"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07</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47" name="Group 47"/>
          <p:cNvGrpSpPr/>
          <p:nvPr/>
        </p:nvGrpSpPr>
        <p:grpSpPr>
          <a:xfrm rot="0">
            <a:off x="9694410" y="7595205"/>
            <a:ext cx="9329646" cy="643089"/>
            <a:chOff x="0" y="0"/>
            <a:chExt cx="1046692" cy="72148"/>
          </a:xfrm>
        </p:grpSpPr>
        <p:sp>
          <p:nvSpPr>
            <p:cNvPr id="48" name="Freeform 48"/>
            <p:cNvSpPr/>
            <p:nvPr/>
          </p:nvSpPr>
          <p:spPr>
            <a:xfrm>
              <a:off x="0" y="0"/>
              <a:ext cx="1046692" cy="72148"/>
            </a:xfrm>
            <a:custGeom>
              <a:avLst/>
              <a:gdLst/>
              <a:ahLst/>
              <a:cxnLst/>
              <a:rect l="l" t="t" r="r" b="b"/>
              <a:pathLst>
                <a:path w="1046692" h="72148">
                  <a:moveTo>
                    <a:pt x="20745" y="0"/>
                  </a:moveTo>
                  <a:lnTo>
                    <a:pt x="1025947" y="0"/>
                  </a:lnTo>
                  <a:cubicBezTo>
                    <a:pt x="1037404" y="0"/>
                    <a:pt x="1046692" y="9288"/>
                    <a:pt x="1046692" y="20745"/>
                  </a:cubicBezTo>
                  <a:lnTo>
                    <a:pt x="1046692" y="51403"/>
                  </a:lnTo>
                  <a:cubicBezTo>
                    <a:pt x="1046692" y="62860"/>
                    <a:pt x="1037404" y="72148"/>
                    <a:pt x="1025947" y="72148"/>
                  </a:cubicBezTo>
                  <a:lnTo>
                    <a:pt x="20745" y="72148"/>
                  </a:lnTo>
                  <a:cubicBezTo>
                    <a:pt x="9288" y="72148"/>
                    <a:pt x="0" y="62860"/>
                    <a:pt x="0" y="51403"/>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49" name="TextBox 49"/>
            <p:cNvSpPr txBox="1"/>
            <p:nvPr/>
          </p:nvSpPr>
          <p:spPr>
            <a:xfrm>
              <a:off x="0" y="-38100"/>
              <a:ext cx="1046692" cy="110248"/>
            </a:xfrm>
            <a:prstGeom prst="rect">
              <a:avLst/>
            </a:prstGeom>
          </p:spPr>
          <p:txBody>
            <a:bodyPr lIns="50800" tIns="50800" rIns="50800" bIns="50800" rtlCol="0" anchor="ctr"/>
            <a:lstStyle/>
            <a:p>
              <a:pPr marL="0" lvl="0" indent="0" algn="ctr">
                <a:lnSpc>
                  <a:spcPts val="3355"/>
                </a:lnSpc>
                <a:spcBef>
                  <a:spcPct val="0"/>
                </a:spcBef>
              </a:pPr>
            </a:p>
          </p:txBody>
        </p:sp>
      </p:grpSp>
      <p:sp>
        <p:nvSpPr>
          <p:cNvPr id="50" name="TextBox 50"/>
          <p:cNvSpPr txBox="1"/>
          <p:nvPr/>
        </p:nvSpPr>
        <p:spPr>
          <a:xfrm>
            <a:off x="10318297" y="7711277"/>
            <a:ext cx="826446"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08</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51" name="TextBox 51"/>
          <p:cNvSpPr txBox="1"/>
          <p:nvPr/>
        </p:nvSpPr>
        <p:spPr>
          <a:xfrm>
            <a:off x="11144743" y="7711277"/>
            <a:ext cx="5903418"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KẾT LUẬN</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52" name="Group 52"/>
          <p:cNvGrpSpPr/>
          <p:nvPr/>
        </p:nvGrpSpPr>
        <p:grpSpPr>
          <a:xfrm rot="0">
            <a:off x="9694410" y="8400219"/>
            <a:ext cx="9329646" cy="643089"/>
            <a:chOff x="0" y="0"/>
            <a:chExt cx="1046692" cy="72148"/>
          </a:xfrm>
        </p:grpSpPr>
        <p:sp>
          <p:nvSpPr>
            <p:cNvPr id="53" name="Freeform 53"/>
            <p:cNvSpPr/>
            <p:nvPr/>
          </p:nvSpPr>
          <p:spPr>
            <a:xfrm>
              <a:off x="0" y="0"/>
              <a:ext cx="1046692" cy="72148"/>
            </a:xfrm>
            <a:custGeom>
              <a:avLst/>
              <a:gdLst/>
              <a:ahLst/>
              <a:cxnLst/>
              <a:rect l="l" t="t" r="r" b="b"/>
              <a:pathLst>
                <a:path w="1046692" h="72148">
                  <a:moveTo>
                    <a:pt x="20745" y="0"/>
                  </a:moveTo>
                  <a:lnTo>
                    <a:pt x="1025947" y="0"/>
                  </a:lnTo>
                  <a:cubicBezTo>
                    <a:pt x="1037404" y="0"/>
                    <a:pt x="1046692" y="9288"/>
                    <a:pt x="1046692" y="20745"/>
                  </a:cubicBezTo>
                  <a:lnTo>
                    <a:pt x="1046692" y="51403"/>
                  </a:lnTo>
                  <a:cubicBezTo>
                    <a:pt x="1046692" y="62860"/>
                    <a:pt x="1037404" y="72148"/>
                    <a:pt x="1025947" y="72148"/>
                  </a:cubicBezTo>
                  <a:lnTo>
                    <a:pt x="20745" y="72148"/>
                  </a:lnTo>
                  <a:cubicBezTo>
                    <a:pt x="9288" y="72148"/>
                    <a:pt x="0" y="62860"/>
                    <a:pt x="0" y="51403"/>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54" name="TextBox 54"/>
            <p:cNvSpPr txBox="1"/>
            <p:nvPr/>
          </p:nvSpPr>
          <p:spPr>
            <a:xfrm>
              <a:off x="0" y="-38100"/>
              <a:ext cx="1046692" cy="110248"/>
            </a:xfrm>
            <a:prstGeom prst="rect">
              <a:avLst/>
            </a:prstGeom>
          </p:spPr>
          <p:txBody>
            <a:bodyPr lIns="50800" tIns="50800" rIns="50800" bIns="50800" rtlCol="0" anchor="ctr"/>
            <a:lstStyle/>
            <a:p>
              <a:pPr marL="0" lvl="0" indent="0" algn="ctr">
                <a:lnSpc>
                  <a:spcPts val="3355"/>
                </a:lnSpc>
                <a:spcBef>
                  <a:spcPct val="0"/>
                </a:spcBef>
              </a:pPr>
            </a:p>
          </p:txBody>
        </p:sp>
      </p:grpSp>
      <p:sp>
        <p:nvSpPr>
          <p:cNvPr id="55" name="TextBox 55"/>
          <p:cNvSpPr txBox="1"/>
          <p:nvPr/>
        </p:nvSpPr>
        <p:spPr>
          <a:xfrm>
            <a:off x="10318297" y="8516290"/>
            <a:ext cx="826446"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09</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56" name="TextBox 56"/>
          <p:cNvSpPr txBox="1"/>
          <p:nvPr/>
        </p:nvSpPr>
        <p:spPr>
          <a:xfrm>
            <a:off x="11144743" y="8516290"/>
            <a:ext cx="5903418" cy="37278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TÀI LIỆU THAM KHẢO</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grpSp>
        <p:nvGrpSpPr>
          <p:cNvPr id="3" name="Group 3"/>
          <p:cNvGrpSpPr/>
          <p:nvPr/>
        </p:nvGrpSpPr>
        <p:grpSpPr>
          <a:xfrm rot="0">
            <a:off x="1520396" y="4144605"/>
            <a:ext cx="4742670" cy="5286174"/>
            <a:chOff x="0" y="0"/>
            <a:chExt cx="532080" cy="593056"/>
          </a:xfrm>
        </p:grpSpPr>
        <p:sp>
          <p:nvSpPr>
            <p:cNvPr id="4" name="Freeform 4"/>
            <p:cNvSpPr/>
            <p:nvPr/>
          </p:nvSpPr>
          <p:spPr>
            <a:xfrm>
              <a:off x="0" y="0"/>
              <a:ext cx="532080" cy="593056"/>
            </a:xfrm>
            <a:custGeom>
              <a:avLst/>
              <a:gdLst/>
              <a:ahLst/>
              <a:cxnLst/>
              <a:rect l="l" t="t" r="r" b="b"/>
              <a:pathLst>
                <a:path w="532080" h="593056">
                  <a:moveTo>
                    <a:pt x="40810" y="0"/>
                  </a:moveTo>
                  <a:lnTo>
                    <a:pt x="491270" y="0"/>
                  </a:lnTo>
                  <a:cubicBezTo>
                    <a:pt x="513809" y="0"/>
                    <a:pt x="532080" y="18271"/>
                    <a:pt x="532080" y="40810"/>
                  </a:cubicBezTo>
                  <a:lnTo>
                    <a:pt x="532080" y="552246"/>
                  </a:lnTo>
                  <a:cubicBezTo>
                    <a:pt x="532080" y="574784"/>
                    <a:pt x="513809" y="593056"/>
                    <a:pt x="491270" y="593056"/>
                  </a:cubicBezTo>
                  <a:lnTo>
                    <a:pt x="40810" y="593056"/>
                  </a:lnTo>
                  <a:cubicBezTo>
                    <a:pt x="18271" y="593056"/>
                    <a:pt x="0" y="574784"/>
                    <a:pt x="0" y="552246"/>
                  </a:cubicBezTo>
                  <a:lnTo>
                    <a:pt x="0" y="40810"/>
                  </a:lnTo>
                  <a:cubicBezTo>
                    <a:pt x="0" y="18271"/>
                    <a:pt x="18271" y="0"/>
                    <a:pt x="40810" y="0"/>
                  </a:cubicBezTo>
                  <a:close/>
                </a:path>
              </a:pathLst>
            </a:custGeom>
            <a:gradFill rotWithShape="1">
              <a:gsLst>
                <a:gs pos="0">
                  <a:srgbClr val="31A1D4">
                    <a:alpha val="100000"/>
                  </a:srgbClr>
                </a:gs>
                <a:gs pos="100000">
                  <a:srgbClr val="001C37">
                    <a:alpha val="100000"/>
                  </a:srgbClr>
                </a:gs>
              </a:gsLst>
              <a:lin ang="2700000"/>
            </a:gradFill>
          </p:spPr>
        </p:sp>
        <p:sp>
          <p:nvSpPr>
            <p:cNvPr id="5" name="TextBox 5"/>
            <p:cNvSpPr txBox="1"/>
            <p:nvPr/>
          </p:nvSpPr>
          <p:spPr>
            <a:xfrm>
              <a:off x="0" y="-38100"/>
              <a:ext cx="532080" cy="631156"/>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6" name="Group 6"/>
          <p:cNvGrpSpPr/>
          <p:nvPr/>
        </p:nvGrpSpPr>
        <p:grpSpPr>
          <a:xfrm rot="0">
            <a:off x="12024934" y="4144605"/>
            <a:ext cx="4742670" cy="5286174"/>
            <a:chOff x="0" y="0"/>
            <a:chExt cx="532080" cy="593056"/>
          </a:xfrm>
        </p:grpSpPr>
        <p:sp>
          <p:nvSpPr>
            <p:cNvPr id="7" name="Freeform 7"/>
            <p:cNvSpPr/>
            <p:nvPr/>
          </p:nvSpPr>
          <p:spPr>
            <a:xfrm>
              <a:off x="0" y="0"/>
              <a:ext cx="532080" cy="593056"/>
            </a:xfrm>
            <a:custGeom>
              <a:avLst/>
              <a:gdLst/>
              <a:ahLst/>
              <a:cxnLst/>
              <a:rect l="l" t="t" r="r" b="b"/>
              <a:pathLst>
                <a:path w="532080" h="593056">
                  <a:moveTo>
                    <a:pt x="40810" y="0"/>
                  </a:moveTo>
                  <a:lnTo>
                    <a:pt x="491270" y="0"/>
                  </a:lnTo>
                  <a:cubicBezTo>
                    <a:pt x="513809" y="0"/>
                    <a:pt x="532080" y="18271"/>
                    <a:pt x="532080" y="40810"/>
                  </a:cubicBezTo>
                  <a:lnTo>
                    <a:pt x="532080" y="552246"/>
                  </a:lnTo>
                  <a:cubicBezTo>
                    <a:pt x="532080" y="574784"/>
                    <a:pt x="513809" y="593056"/>
                    <a:pt x="491270" y="593056"/>
                  </a:cubicBezTo>
                  <a:lnTo>
                    <a:pt x="40810" y="593056"/>
                  </a:lnTo>
                  <a:cubicBezTo>
                    <a:pt x="18271" y="593056"/>
                    <a:pt x="0" y="574784"/>
                    <a:pt x="0" y="552246"/>
                  </a:cubicBezTo>
                  <a:lnTo>
                    <a:pt x="0" y="40810"/>
                  </a:lnTo>
                  <a:cubicBezTo>
                    <a:pt x="0" y="18271"/>
                    <a:pt x="18271" y="0"/>
                    <a:pt x="40810" y="0"/>
                  </a:cubicBezTo>
                  <a:close/>
                </a:path>
              </a:pathLst>
            </a:custGeom>
            <a:gradFill rotWithShape="1">
              <a:gsLst>
                <a:gs pos="0">
                  <a:srgbClr val="31A1D4">
                    <a:alpha val="100000"/>
                  </a:srgbClr>
                </a:gs>
                <a:gs pos="100000">
                  <a:srgbClr val="001C37">
                    <a:alpha val="100000"/>
                  </a:srgbClr>
                </a:gs>
              </a:gsLst>
              <a:lin ang="2700000"/>
            </a:gradFill>
          </p:spPr>
        </p:sp>
        <p:sp>
          <p:nvSpPr>
            <p:cNvPr id="8" name="TextBox 8"/>
            <p:cNvSpPr txBox="1"/>
            <p:nvPr/>
          </p:nvSpPr>
          <p:spPr>
            <a:xfrm>
              <a:off x="0" y="-38100"/>
              <a:ext cx="532080" cy="631156"/>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9" name="Group 9"/>
          <p:cNvGrpSpPr/>
          <p:nvPr/>
        </p:nvGrpSpPr>
        <p:grpSpPr>
          <a:xfrm rot="0">
            <a:off x="6772665" y="4144605"/>
            <a:ext cx="4742670" cy="4676574"/>
            <a:chOff x="0" y="0"/>
            <a:chExt cx="734764" cy="724524"/>
          </a:xfrm>
        </p:grpSpPr>
        <p:sp>
          <p:nvSpPr>
            <p:cNvPr id="10" name="Freeform 10"/>
            <p:cNvSpPr/>
            <p:nvPr/>
          </p:nvSpPr>
          <p:spPr>
            <a:xfrm>
              <a:off x="0" y="0"/>
              <a:ext cx="734764" cy="724524"/>
            </a:xfrm>
            <a:custGeom>
              <a:avLst/>
              <a:gdLst/>
              <a:ahLst/>
              <a:cxnLst/>
              <a:rect l="l" t="t" r="r" b="b"/>
              <a:pathLst>
                <a:path w="734764" h="724524">
                  <a:moveTo>
                    <a:pt x="40810" y="0"/>
                  </a:moveTo>
                  <a:lnTo>
                    <a:pt x="693954" y="0"/>
                  </a:lnTo>
                  <a:cubicBezTo>
                    <a:pt x="716493" y="0"/>
                    <a:pt x="734764" y="18271"/>
                    <a:pt x="734764" y="40810"/>
                  </a:cubicBezTo>
                  <a:lnTo>
                    <a:pt x="734764" y="683714"/>
                  </a:lnTo>
                  <a:cubicBezTo>
                    <a:pt x="734764" y="706252"/>
                    <a:pt x="716493" y="724524"/>
                    <a:pt x="693954" y="724524"/>
                  </a:cubicBezTo>
                  <a:lnTo>
                    <a:pt x="40810" y="724524"/>
                  </a:lnTo>
                  <a:cubicBezTo>
                    <a:pt x="18271" y="724524"/>
                    <a:pt x="0" y="706252"/>
                    <a:pt x="0" y="683714"/>
                  </a:cubicBezTo>
                  <a:lnTo>
                    <a:pt x="0" y="40810"/>
                  </a:lnTo>
                  <a:cubicBezTo>
                    <a:pt x="0" y="18271"/>
                    <a:pt x="18271" y="0"/>
                    <a:pt x="40810" y="0"/>
                  </a:cubicBezTo>
                  <a:close/>
                </a:path>
              </a:pathLst>
            </a:custGeom>
            <a:blipFill>
              <a:blip r:embed="rId2"/>
              <a:stretch>
                <a:fillRect l="-23954" r="-23954"/>
              </a:stretch>
            </a:blipFill>
          </p:spPr>
        </p:sp>
      </p:grpSp>
      <p:sp>
        <p:nvSpPr>
          <p:cNvPr id="11" name="Freeform 11"/>
          <p:cNvSpPr/>
          <p:nvPr/>
        </p:nvSpPr>
        <p:spPr>
          <a:xfrm>
            <a:off x="13568711" y="-3962307"/>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2" name="Group 12"/>
          <p:cNvGrpSpPr/>
          <p:nvPr/>
        </p:nvGrpSpPr>
        <p:grpSpPr>
          <a:xfrm rot="0">
            <a:off x="16128358" y="-502202"/>
            <a:ext cx="4155559" cy="3571183"/>
            <a:chOff x="0" y="0"/>
            <a:chExt cx="812800" cy="698500"/>
          </a:xfrm>
        </p:grpSpPr>
        <p:sp>
          <p:nvSpPr>
            <p:cNvPr id="13" name="Freeform 13"/>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4" name="TextBox 14"/>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5" name="Group 15"/>
          <p:cNvGrpSpPr/>
          <p:nvPr/>
        </p:nvGrpSpPr>
        <p:grpSpPr>
          <a:xfrm rot="0">
            <a:off x="15234643" y="515353"/>
            <a:ext cx="1787431" cy="1536073"/>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7" name="TextBox 17"/>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18" name="TextBox 18"/>
          <p:cNvSpPr txBox="1"/>
          <p:nvPr/>
        </p:nvSpPr>
        <p:spPr>
          <a:xfrm>
            <a:off x="5243589" y="1332661"/>
            <a:ext cx="7800821" cy="1002961"/>
          </a:xfrm>
          <a:prstGeom prst="rect">
            <a:avLst/>
          </a:prstGeom>
        </p:spPr>
        <p:txBody>
          <a:bodyPr lIns="0" tIns="0" rIns="0" bIns="0" rtlCol="0" anchor="t">
            <a:spAutoFit/>
          </a:bodyPr>
          <a:lstStyle/>
          <a:p>
            <a:pPr algn="ctr">
              <a:lnSpc>
                <a:spcPts val="8240"/>
              </a:lnSpc>
              <a:spcBef>
                <a:spcPct val="0"/>
              </a:spcBef>
            </a:pPr>
            <a:r>
              <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VẤN ĐỀ BẢO MẬT </a:t>
            </a:r>
            <a:endPar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19" name="TextBox 19"/>
          <p:cNvSpPr txBox="1"/>
          <p:nvPr/>
        </p:nvSpPr>
        <p:spPr>
          <a:xfrm>
            <a:off x="5243589" y="2227616"/>
            <a:ext cx="7800821" cy="1002961"/>
          </a:xfrm>
          <a:prstGeom prst="rect">
            <a:avLst/>
          </a:prstGeom>
        </p:spPr>
        <p:txBody>
          <a:bodyPr lIns="0" tIns="0" rIns="0" bIns="0" rtlCol="0" anchor="t">
            <a:spAutoFit/>
          </a:bodyPr>
          <a:lstStyle/>
          <a:p>
            <a:pPr algn="ctr">
              <a:lnSpc>
                <a:spcPts val="8240"/>
              </a:lnSpc>
              <a:spcBef>
                <a:spcPct val="0"/>
              </a:spcBef>
            </a:pPr>
            <a:r>
              <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VÀ MỤC TIÊU</a:t>
            </a:r>
            <a:endPar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20" name="TextBox 20"/>
          <p:cNvSpPr txBox="1"/>
          <p:nvPr/>
        </p:nvSpPr>
        <p:spPr>
          <a:xfrm>
            <a:off x="1802997" y="5095875"/>
            <a:ext cx="4177468" cy="4123771"/>
          </a:xfrm>
          <a:prstGeom prst="rect">
            <a:avLst/>
          </a:prstGeom>
        </p:spPr>
        <p:txBody>
          <a:bodyPr lIns="0" tIns="0" rIns="0" bIns="0" rtlCol="0" anchor="t">
            <a:spAutoFit/>
          </a:bodyPr>
          <a:lstStyle/>
          <a:p>
            <a:pPr algn="l">
              <a:lnSpc>
                <a:spcPts val="3340"/>
              </a:lnSpc>
            </a:pP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 Firmwa</a:t>
            </a: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re giả mạo có thể chứa mã độc.</a:t>
            </a:r>
            <a:endPar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40"/>
              </a:lnSpc>
            </a:pP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 Firmware bị sửa đổi có thể làm thiết bị hoạt động sai.</a:t>
            </a:r>
            <a:endPar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40"/>
              </a:lnSpc>
            </a:pP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 Kẻ tấn công có thể phát lại phiên bản cũ còn lỗ hổng.</a:t>
            </a:r>
            <a:endPar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40"/>
              </a:lnSpc>
              <a:spcBef>
                <a:spcPct val="0"/>
              </a:spcBef>
            </a:pP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 Cập nhật lỗi có thể khiến thiết bị không thể khởi động.</a:t>
            </a:r>
            <a:endPar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sp>
        <p:nvSpPr>
          <p:cNvPr id="21" name="TextBox 21"/>
          <p:cNvSpPr txBox="1"/>
          <p:nvPr/>
        </p:nvSpPr>
        <p:spPr>
          <a:xfrm>
            <a:off x="2408604" y="4375817"/>
            <a:ext cx="2717163" cy="495281"/>
          </a:xfrm>
          <a:prstGeom prst="rect">
            <a:avLst/>
          </a:prstGeom>
        </p:spPr>
        <p:txBody>
          <a:bodyPr lIns="0" tIns="0" rIns="0" bIns="0" rtlCol="0" anchor="t">
            <a:spAutoFit/>
          </a:bodyPr>
          <a:lstStyle/>
          <a:p>
            <a:pPr algn="ctr">
              <a:lnSpc>
                <a:spcPts val="4195"/>
              </a:lnSpc>
              <a:spcBef>
                <a:spcPct val="0"/>
              </a:spcBef>
            </a:pPr>
            <a:r>
              <a:rPr lang="en-US" sz="3000" b="1">
                <a:solidFill>
                  <a:srgbClr val="FFFFFF"/>
                </a:solidFill>
                <a:latin typeface="Montserrat Bold" panose="00000800000000000000"/>
                <a:ea typeface="Montserrat Bold" panose="00000800000000000000"/>
                <a:cs typeface="Montserrat Bold" panose="00000800000000000000"/>
                <a:sym typeface="Montserrat Bold" panose="00000800000000000000"/>
              </a:rPr>
              <a:t>Vấn đề</a:t>
            </a:r>
            <a:endParaRPr lang="en-US" sz="30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2" name="TextBox 22"/>
          <p:cNvSpPr txBox="1"/>
          <p:nvPr/>
        </p:nvSpPr>
        <p:spPr>
          <a:xfrm>
            <a:off x="12980538" y="4375817"/>
            <a:ext cx="2717163" cy="495281"/>
          </a:xfrm>
          <a:prstGeom prst="rect">
            <a:avLst/>
          </a:prstGeom>
        </p:spPr>
        <p:txBody>
          <a:bodyPr lIns="0" tIns="0" rIns="0" bIns="0" rtlCol="0" anchor="t">
            <a:spAutoFit/>
          </a:bodyPr>
          <a:lstStyle/>
          <a:p>
            <a:pPr algn="ctr">
              <a:lnSpc>
                <a:spcPts val="4195"/>
              </a:lnSpc>
              <a:spcBef>
                <a:spcPct val="0"/>
              </a:spcBef>
            </a:pPr>
            <a:r>
              <a:rPr lang="en-US" sz="3000" b="1">
                <a:solidFill>
                  <a:srgbClr val="FFFFFF"/>
                </a:solidFill>
                <a:latin typeface="Montserrat Bold" panose="00000800000000000000"/>
                <a:ea typeface="Montserrat Bold" panose="00000800000000000000"/>
                <a:cs typeface="Montserrat Bold" panose="00000800000000000000"/>
                <a:sym typeface="Montserrat Bold" panose="00000800000000000000"/>
              </a:rPr>
              <a:t>Mục tiêu</a:t>
            </a:r>
            <a:endParaRPr lang="en-US" sz="30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3" name="TextBox 23"/>
          <p:cNvSpPr txBox="1"/>
          <p:nvPr/>
        </p:nvSpPr>
        <p:spPr>
          <a:xfrm>
            <a:off x="12307535" y="5198169"/>
            <a:ext cx="4177468" cy="3710096"/>
          </a:xfrm>
          <a:prstGeom prst="rect">
            <a:avLst/>
          </a:prstGeom>
        </p:spPr>
        <p:txBody>
          <a:bodyPr lIns="0" tIns="0" rIns="0" bIns="0" rtlCol="0" anchor="t">
            <a:spAutoFit/>
          </a:bodyPr>
          <a:lstStyle/>
          <a:p>
            <a:pPr algn="l">
              <a:lnSpc>
                <a:spcPts val="3340"/>
              </a:lnSpc>
            </a:pP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 Mô</a:t>
            </a: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 phỏng kiểm tra SHA-256 và chữ ký số.</a:t>
            </a:r>
            <a:endPar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40"/>
              </a:lnSpc>
            </a:pP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 Xây dựng manifest mô tả bản cập nhật.</a:t>
            </a:r>
            <a:endPar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40"/>
              </a:lnSpc>
            </a:pP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 Chống rollback về firmware cũ.</a:t>
            </a:r>
            <a:endPar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40"/>
              </a:lnSpc>
              <a:spcBef>
                <a:spcPct val="0"/>
              </a:spcBef>
            </a:pPr>
            <a:r>
              <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rPr>
              <a:t>- Khôi phục phiên bản trước nếu self-test thất bại.</a:t>
            </a:r>
            <a:endParaRPr lang="en-US" sz="238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40"/>
              </a:lnSpc>
              <a:spcBef>
                <a:spcPct val="0"/>
              </a:spcBef>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grpSp>
        <p:nvGrpSpPr>
          <p:cNvPr id="3" name="Group 3"/>
          <p:cNvGrpSpPr/>
          <p:nvPr/>
        </p:nvGrpSpPr>
        <p:grpSpPr>
          <a:xfrm rot="0">
            <a:off x="1332687" y="4079912"/>
            <a:ext cx="599159" cy="599159"/>
            <a:chOff x="0" y="0"/>
            <a:chExt cx="651573" cy="651573"/>
          </a:xfrm>
        </p:grpSpPr>
        <p:sp>
          <p:nvSpPr>
            <p:cNvPr id="4" name="Freeform 4"/>
            <p:cNvSpPr/>
            <p:nvPr/>
          </p:nvSpPr>
          <p:spPr>
            <a:xfrm>
              <a:off x="0" y="0"/>
              <a:ext cx="651573" cy="651573"/>
            </a:xfrm>
            <a:custGeom>
              <a:avLst/>
              <a:gdLst/>
              <a:ahLst/>
              <a:cxnLst/>
              <a:rect l="l" t="t" r="r" b="b"/>
              <a:pathLst>
                <a:path w="651573" h="651573">
                  <a:moveTo>
                    <a:pt x="142134" y="0"/>
                  </a:moveTo>
                  <a:lnTo>
                    <a:pt x="509438" y="0"/>
                  </a:lnTo>
                  <a:cubicBezTo>
                    <a:pt x="547135" y="0"/>
                    <a:pt x="583287" y="14975"/>
                    <a:pt x="609942" y="41630"/>
                  </a:cubicBezTo>
                  <a:cubicBezTo>
                    <a:pt x="636598" y="68286"/>
                    <a:pt x="651573" y="104438"/>
                    <a:pt x="651573" y="142134"/>
                  </a:cubicBezTo>
                  <a:lnTo>
                    <a:pt x="651573" y="509438"/>
                  </a:lnTo>
                  <a:cubicBezTo>
                    <a:pt x="651573" y="587937"/>
                    <a:pt x="587937" y="651573"/>
                    <a:pt x="509438" y="651573"/>
                  </a:cubicBezTo>
                  <a:lnTo>
                    <a:pt x="142134" y="651573"/>
                  </a:lnTo>
                  <a:cubicBezTo>
                    <a:pt x="63636" y="651573"/>
                    <a:pt x="0" y="587937"/>
                    <a:pt x="0" y="509438"/>
                  </a:cubicBezTo>
                  <a:lnTo>
                    <a:pt x="0" y="142134"/>
                  </a:lnTo>
                  <a:cubicBezTo>
                    <a:pt x="0" y="63636"/>
                    <a:pt x="63636" y="0"/>
                    <a:pt x="142134" y="0"/>
                  </a:cubicBezTo>
                  <a:close/>
                </a:path>
              </a:pathLst>
            </a:custGeom>
            <a:gradFill rotWithShape="1">
              <a:gsLst>
                <a:gs pos="0">
                  <a:srgbClr val="31A1D4">
                    <a:alpha val="100000"/>
                  </a:srgbClr>
                </a:gs>
                <a:gs pos="100000">
                  <a:srgbClr val="035E8E">
                    <a:alpha val="100000"/>
                  </a:srgbClr>
                </a:gs>
              </a:gsLst>
              <a:lin ang="0"/>
            </a:gradFill>
          </p:spPr>
        </p:sp>
        <p:sp>
          <p:nvSpPr>
            <p:cNvPr id="5" name="TextBox 5"/>
            <p:cNvSpPr txBox="1"/>
            <p:nvPr/>
          </p:nvSpPr>
          <p:spPr>
            <a:xfrm>
              <a:off x="0" y="-38100"/>
              <a:ext cx="651573" cy="689673"/>
            </a:xfrm>
            <a:prstGeom prst="rect">
              <a:avLst/>
            </a:prstGeom>
          </p:spPr>
          <p:txBody>
            <a:bodyPr lIns="50800" tIns="50800" rIns="50800" bIns="50800" rtlCol="0" anchor="ctr"/>
            <a:lstStyle/>
            <a:p>
              <a:pPr algn="ctr">
                <a:lnSpc>
                  <a:spcPts val="3075"/>
                </a:lnSpc>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1</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sp>
        <p:nvSpPr>
          <p:cNvPr id="6" name="TextBox 6"/>
          <p:cNvSpPr txBox="1"/>
          <p:nvPr/>
        </p:nvSpPr>
        <p:spPr>
          <a:xfrm>
            <a:off x="1332687" y="1479493"/>
            <a:ext cx="13580494" cy="1152551"/>
          </a:xfrm>
          <a:prstGeom prst="rect">
            <a:avLst/>
          </a:prstGeom>
        </p:spPr>
        <p:txBody>
          <a:bodyPr lIns="0" tIns="0" rIns="0" bIns="0" rtlCol="0" anchor="t">
            <a:spAutoFit/>
          </a:bodyPr>
          <a:lstStyle/>
          <a:p>
            <a:pPr algn="l">
              <a:lnSpc>
                <a:spcPts val="9470"/>
              </a:lnSpc>
              <a:spcBef>
                <a:spcPct val="0"/>
              </a:spcBef>
            </a:pPr>
            <a:r>
              <a:rPr lang="en-US" sz="676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CƠ SỞ LÝ THUYẾT </a:t>
            </a:r>
            <a:endParaRPr lang="en-US" sz="676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7" name="TextBox 7"/>
          <p:cNvSpPr txBox="1"/>
          <p:nvPr/>
        </p:nvSpPr>
        <p:spPr>
          <a:xfrm>
            <a:off x="1332687" y="2508261"/>
            <a:ext cx="13161508" cy="1152551"/>
          </a:xfrm>
          <a:prstGeom prst="rect">
            <a:avLst/>
          </a:prstGeom>
        </p:spPr>
        <p:txBody>
          <a:bodyPr lIns="0" tIns="0" rIns="0" bIns="0" rtlCol="0" anchor="t">
            <a:spAutoFit/>
          </a:bodyPr>
          <a:lstStyle/>
          <a:p>
            <a:pPr algn="l">
              <a:lnSpc>
                <a:spcPts val="9470"/>
              </a:lnSpc>
              <a:spcBef>
                <a:spcPct val="0"/>
              </a:spcBef>
            </a:pPr>
            <a:r>
              <a:rPr lang="en-US" sz="676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VÀ NGUỒN THAM KHẢO</a:t>
            </a:r>
            <a:endParaRPr lang="en-US" sz="676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8" name="TextBox 8"/>
          <p:cNvSpPr txBox="1"/>
          <p:nvPr/>
        </p:nvSpPr>
        <p:spPr>
          <a:xfrm>
            <a:off x="2487668" y="4631446"/>
            <a:ext cx="13630331" cy="2691452"/>
          </a:xfrm>
          <a:prstGeom prst="rect">
            <a:avLst/>
          </a:prstGeom>
        </p:spPr>
        <p:txBody>
          <a:bodyPr lIns="0" tIns="0" rIns="0" bIns="0" rtlCol="0" anchor="t">
            <a:spAutoFit/>
          </a:bodyPr>
          <a:lstStyle/>
          <a:p>
            <a:pPr algn="l">
              <a:lnSpc>
                <a:spcPts val="3145"/>
              </a:lnSpc>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SHA-256: kiểm tra tính toàn vẹn firmware.</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RSA-PSS: xác thực nguồn phát hành manifest.</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AES-256-GCM: mã hóa và phát hiện payload bị sửa.</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RSA-OAEP: bảo vệ khóa AES khi phân phối.</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Sequence: ngăn cài đặt lại phiên bản cũ.</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spcBef>
                <a:spcPct val="0"/>
              </a:spcBef>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Staging và self-test: kiểm tra trước khi kích hoạt.</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spcBef>
                <a:spcPct val="0"/>
              </a:spcBef>
            </a:pPr>
          </a:p>
        </p:txBody>
      </p:sp>
      <p:sp>
        <p:nvSpPr>
          <p:cNvPr id="9" name="TextBox 9"/>
          <p:cNvSpPr txBox="1"/>
          <p:nvPr/>
        </p:nvSpPr>
        <p:spPr>
          <a:xfrm>
            <a:off x="2489815" y="4041812"/>
            <a:ext cx="5256547"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Các cơ </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chế bảo vệ</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0" name="Freeform 10"/>
          <p:cNvSpPr/>
          <p:nvPr/>
        </p:nvSpPr>
        <p:spPr>
          <a:xfrm>
            <a:off x="11768318" y="-4958517"/>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rot="0">
            <a:off x="16885087" y="-1481594"/>
            <a:ext cx="4155559" cy="3571183"/>
            <a:chOff x="0" y="0"/>
            <a:chExt cx="812800" cy="698500"/>
          </a:xfrm>
        </p:grpSpPr>
        <p:sp>
          <p:nvSpPr>
            <p:cNvPr id="12" name="Freeform 1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3" name="TextBox 13"/>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14" name="TextBox 14"/>
          <p:cNvSpPr txBox="1"/>
          <p:nvPr/>
        </p:nvSpPr>
        <p:spPr>
          <a:xfrm>
            <a:off x="2489815" y="7709345"/>
            <a:ext cx="9586433" cy="1919758"/>
          </a:xfrm>
          <a:prstGeom prst="rect">
            <a:avLst/>
          </a:prstGeom>
        </p:spPr>
        <p:txBody>
          <a:bodyPr lIns="0" tIns="0" rIns="0" bIns="0" rtlCol="0" anchor="t">
            <a:spAutoFit/>
          </a:bodyPr>
          <a:lstStyle/>
          <a:p>
            <a:pPr algn="l">
              <a:lnSpc>
                <a:spcPts val="3145"/>
              </a:lnSpc>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ESP-IDF: OTA, Secure Boot và rollback.</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OWASP ISVS: yêu cầu bảo mật cập nhật.</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OWASP FSTM: phương pháp kiểm thử firmware.</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spcBef>
                <a:spcPct val="0"/>
              </a:spcBef>
            </a:pPr>
            <a:r>
              <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OWASP IoTGoat: các lỗi firmware thường gặp.</a:t>
            </a:r>
            <a:endParaRPr lang="en-US" sz="22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45"/>
              </a:lnSpc>
              <a:spcBef>
                <a:spcPct val="0"/>
              </a:spcBef>
            </a:pPr>
          </a:p>
        </p:txBody>
      </p:sp>
      <p:sp>
        <p:nvSpPr>
          <p:cNvPr id="15" name="TextBox 15"/>
          <p:cNvSpPr txBox="1"/>
          <p:nvPr/>
        </p:nvSpPr>
        <p:spPr>
          <a:xfrm>
            <a:off x="2489815" y="7117426"/>
            <a:ext cx="6816493"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Nguồn GitHub </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chính</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16" name="Group 16"/>
          <p:cNvGrpSpPr/>
          <p:nvPr/>
        </p:nvGrpSpPr>
        <p:grpSpPr>
          <a:xfrm rot="0">
            <a:off x="1463316" y="7023319"/>
            <a:ext cx="599159" cy="599159"/>
            <a:chOff x="0" y="0"/>
            <a:chExt cx="651573" cy="651573"/>
          </a:xfrm>
        </p:grpSpPr>
        <p:sp>
          <p:nvSpPr>
            <p:cNvPr id="17" name="Freeform 17"/>
            <p:cNvSpPr/>
            <p:nvPr/>
          </p:nvSpPr>
          <p:spPr>
            <a:xfrm>
              <a:off x="0" y="0"/>
              <a:ext cx="651573" cy="651573"/>
            </a:xfrm>
            <a:custGeom>
              <a:avLst/>
              <a:gdLst/>
              <a:ahLst/>
              <a:cxnLst/>
              <a:rect l="l" t="t" r="r" b="b"/>
              <a:pathLst>
                <a:path w="651573" h="651573">
                  <a:moveTo>
                    <a:pt x="142134" y="0"/>
                  </a:moveTo>
                  <a:lnTo>
                    <a:pt x="509438" y="0"/>
                  </a:lnTo>
                  <a:cubicBezTo>
                    <a:pt x="547135" y="0"/>
                    <a:pt x="583287" y="14975"/>
                    <a:pt x="609942" y="41630"/>
                  </a:cubicBezTo>
                  <a:cubicBezTo>
                    <a:pt x="636598" y="68286"/>
                    <a:pt x="651573" y="104438"/>
                    <a:pt x="651573" y="142134"/>
                  </a:cubicBezTo>
                  <a:lnTo>
                    <a:pt x="651573" y="509438"/>
                  </a:lnTo>
                  <a:cubicBezTo>
                    <a:pt x="651573" y="587937"/>
                    <a:pt x="587937" y="651573"/>
                    <a:pt x="509438" y="651573"/>
                  </a:cubicBezTo>
                  <a:lnTo>
                    <a:pt x="142134" y="651573"/>
                  </a:lnTo>
                  <a:cubicBezTo>
                    <a:pt x="63636" y="651573"/>
                    <a:pt x="0" y="587937"/>
                    <a:pt x="0" y="509438"/>
                  </a:cubicBezTo>
                  <a:lnTo>
                    <a:pt x="0" y="142134"/>
                  </a:lnTo>
                  <a:cubicBezTo>
                    <a:pt x="0" y="63636"/>
                    <a:pt x="63636" y="0"/>
                    <a:pt x="142134" y="0"/>
                  </a:cubicBezTo>
                  <a:close/>
                </a:path>
              </a:pathLst>
            </a:custGeom>
            <a:gradFill rotWithShape="1">
              <a:gsLst>
                <a:gs pos="0">
                  <a:srgbClr val="31A1D4">
                    <a:alpha val="100000"/>
                  </a:srgbClr>
                </a:gs>
                <a:gs pos="100000">
                  <a:srgbClr val="035E8E">
                    <a:alpha val="100000"/>
                  </a:srgbClr>
                </a:gs>
              </a:gsLst>
              <a:lin ang="0"/>
            </a:gradFill>
          </p:spPr>
        </p:sp>
        <p:sp>
          <p:nvSpPr>
            <p:cNvPr id="18" name="TextBox 18"/>
            <p:cNvSpPr txBox="1"/>
            <p:nvPr/>
          </p:nvSpPr>
          <p:spPr>
            <a:xfrm>
              <a:off x="0" y="-38100"/>
              <a:ext cx="651573" cy="689673"/>
            </a:xfrm>
            <a:prstGeom prst="rect">
              <a:avLst/>
            </a:prstGeom>
          </p:spPr>
          <p:txBody>
            <a:bodyPr lIns="50800" tIns="50800" rIns="50800" bIns="50800" rtlCol="0" anchor="ctr"/>
            <a:lstStyle/>
            <a:p>
              <a:pPr algn="ctr">
                <a:lnSpc>
                  <a:spcPts val="3075"/>
                </a:lnSpc>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2</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grpSp>
        <p:nvGrpSpPr>
          <p:cNvPr id="3" name="Group 3"/>
          <p:cNvGrpSpPr/>
          <p:nvPr/>
        </p:nvGrpSpPr>
        <p:grpSpPr>
          <a:xfrm rot="0">
            <a:off x="1552178" y="3577732"/>
            <a:ext cx="4402254" cy="4194921"/>
            <a:chOff x="0" y="0"/>
            <a:chExt cx="493889" cy="470628"/>
          </a:xfrm>
        </p:grpSpPr>
        <p:sp>
          <p:nvSpPr>
            <p:cNvPr id="4" name="Freeform 4"/>
            <p:cNvSpPr/>
            <p:nvPr/>
          </p:nvSpPr>
          <p:spPr>
            <a:xfrm>
              <a:off x="0" y="0"/>
              <a:ext cx="493889" cy="470628"/>
            </a:xfrm>
            <a:custGeom>
              <a:avLst/>
              <a:gdLst/>
              <a:ahLst/>
              <a:cxnLst/>
              <a:rect l="l" t="t" r="r" b="b"/>
              <a:pathLst>
                <a:path w="493889" h="470628">
                  <a:moveTo>
                    <a:pt x="43966" y="0"/>
                  </a:moveTo>
                  <a:lnTo>
                    <a:pt x="449923" y="0"/>
                  </a:lnTo>
                  <a:cubicBezTo>
                    <a:pt x="461583" y="0"/>
                    <a:pt x="472766" y="4632"/>
                    <a:pt x="481011" y="12877"/>
                  </a:cubicBezTo>
                  <a:cubicBezTo>
                    <a:pt x="489256" y="21122"/>
                    <a:pt x="493889" y="32305"/>
                    <a:pt x="493889" y="43966"/>
                  </a:cubicBezTo>
                  <a:lnTo>
                    <a:pt x="493889" y="426662"/>
                  </a:lnTo>
                  <a:cubicBezTo>
                    <a:pt x="493889" y="450944"/>
                    <a:pt x="474204" y="470628"/>
                    <a:pt x="449923" y="470628"/>
                  </a:cubicBezTo>
                  <a:lnTo>
                    <a:pt x="43966" y="470628"/>
                  </a:lnTo>
                  <a:cubicBezTo>
                    <a:pt x="19684" y="470628"/>
                    <a:pt x="0" y="450944"/>
                    <a:pt x="0" y="426662"/>
                  </a:cubicBezTo>
                  <a:lnTo>
                    <a:pt x="0" y="43966"/>
                  </a:lnTo>
                  <a:cubicBezTo>
                    <a:pt x="0" y="19684"/>
                    <a:pt x="19684" y="0"/>
                    <a:pt x="43966" y="0"/>
                  </a:cubicBezTo>
                  <a:close/>
                </a:path>
              </a:pathLst>
            </a:custGeom>
            <a:gradFill rotWithShape="1">
              <a:gsLst>
                <a:gs pos="0">
                  <a:srgbClr val="31A1D4">
                    <a:alpha val="47000"/>
                  </a:srgbClr>
                </a:gs>
                <a:gs pos="100000">
                  <a:srgbClr val="035E8E">
                    <a:alpha val="0"/>
                  </a:srgbClr>
                </a:gs>
              </a:gsLst>
              <a:lin ang="2700000"/>
            </a:gradFill>
          </p:spPr>
        </p:sp>
        <p:sp>
          <p:nvSpPr>
            <p:cNvPr id="5" name="TextBox 5"/>
            <p:cNvSpPr txBox="1"/>
            <p:nvPr/>
          </p:nvSpPr>
          <p:spPr>
            <a:xfrm>
              <a:off x="0" y="-38100"/>
              <a:ext cx="493889" cy="508728"/>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6" name="Group 6"/>
          <p:cNvGrpSpPr/>
          <p:nvPr/>
        </p:nvGrpSpPr>
        <p:grpSpPr>
          <a:xfrm rot="0">
            <a:off x="6974656" y="3577732"/>
            <a:ext cx="4402254" cy="4194921"/>
            <a:chOff x="0" y="0"/>
            <a:chExt cx="493889" cy="470628"/>
          </a:xfrm>
        </p:grpSpPr>
        <p:sp>
          <p:nvSpPr>
            <p:cNvPr id="7" name="Freeform 7"/>
            <p:cNvSpPr/>
            <p:nvPr/>
          </p:nvSpPr>
          <p:spPr>
            <a:xfrm>
              <a:off x="0" y="0"/>
              <a:ext cx="493889" cy="470628"/>
            </a:xfrm>
            <a:custGeom>
              <a:avLst/>
              <a:gdLst/>
              <a:ahLst/>
              <a:cxnLst/>
              <a:rect l="l" t="t" r="r" b="b"/>
              <a:pathLst>
                <a:path w="493889" h="470628">
                  <a:moveTo>
                    <a:pt x="43966" y="0"/>
                  </a:moveTo>
                  <a:lnTo>
                    <a:pt x="449923" y="0"/>
                  </a:lnTo>
                  <a:cubicBezTo>
                    <a:pt x="461583" y="0"/>
                    <a:pt x="472766" y="4632"/>
                    <a:pt x="481011" y="12877"/>
                  </a:cubicBezTo>
                  <a:cubicBezTo>
                    <a:pt x="489256" y="21122"/>
                    <a:pt x="493889" y="32305"/>
                    <a:pt x="493889" y="43966"/>
                  </a:cubicBezTo>
                  <a:lnTo>
                    <a:pt x="493889" y="426662"/>
                  </a:lnTo>
                  <a:cubicBezTo>
                    <a:pt x="493889" y="450944"/>
                    <a:pt x="474204" y="470628"/>
                    <a:pt x="449923" y="470628"/>
                  </a:cubicBezTo>
                  <a:lnTo>
                    <a:pt x="43966" y="470628"/>
                  </a:lnTo>
                  <a:cubicBezTo>
                    <a:pt x="19684" y="470628"/>
                    <a:pt x="0" y="450944"/>
                    <a:pt x="0" y="426662"/>
                  </a:cubicBezTo>
                  <a:lnTo>
                    <a:pt x="0" y="43966"/>
                  </a:lnTo>
                  <a:cubicBezTo>
                    <a:pt x="0" y="19684"/>
                    <a:pt x="19684" y="0"/>
                    <a:pt x="43966" y="0"/>
                  </a:cubicBezTo>
                  <a:close/>
                </a:path>
              </a:pathLst>
            </a:custGeom>
            <a:gradFill rotWithShape="1">
              <a:gsLst>
                <a:gs pos="0">
                  <a:srgbClr val="31A1D4">
                    <a:alpha val="47000"/>
                  </a:srgbClr>
                </a:gs>
                <a:gs pos="100000">
                  <a:srgbClr val="035E8E">
                    <a:alpha val="0"/>
                  </a:srgbClr>
                </a:gs>
              </a:gsLst>
              <a:lin ang="2700000"/>
            </a:gradFill>
          </p:spPr>
        </p:sp>
        <p:sp>
          <p:nvSpPr>
            <p:cNvPr id="8" name="TextBox 8"/>
            <p:cNvSpPr txBox="1"/>
            <p:nvPr/>
          </p:nvSpPr>
          <p:spPr>
            <a:xfrm>
              <a:off x="0" y="-38100"/>
              <a:ext cx="493889" cy="508728"/>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9" name="Group 9"/>
          <p:cNvGrpSpPr/>
          <p:nvPr/>
        </p:nvGrpSpPr>
        <p:grpSpPr>
          <a:xfrm rot="0">
            <a:off x="12397134" y="3577732"/>
            <a:ext cx="4402254" cy="4194921"/>
            <a:chOff x="0" y="0"/>
            <a:chExt cx="493889" cy="470628"/>
          </a:xfrm>
        </p:grpSpPr>
        <p:sp>
          <p:nvSpPr>
            <p:cNvPr id="10" name="Freeform 10"/>
            <p:cNvSpPr/>
            <p:nvPr/>
          </p:nvSpPr>
          <p:spPr>
            <a:xfrm>
              <a:off x="0" y="0"/>
              <a:ext cx="493889" cy="470628"/>
            </a:xfrm>
            <a:custGeom>
              <a:avLst/>
              <a:gdLst/>
              <a:ahLst/>
              <a:cxnLst/>
              <a:rect l="l" t="t" r="r" b="b"/>
              <a:pathLst>
                <a:path w="493889" h="470628">
                  <a:moveTo>
                    <a:pt x="43966" y="0"/>
                  </a:moveTo>
                  <a:lnTo>
                    <a:pt x="449923" y="0"/>
                  </a:lnTo>
                  <a:cubicBezTo>
                    <a:pt x="461583" y="0"/>
                    <a:pt x="472766" y="4632"/>
                    <a:pt x="481011" y="12877"/>
                  </a:cubicBezTo>
                  <a:cubicBezTo>
                    <a:pt x="489256" y="21122"/>
                    <a:pt x="493889" y="32305"/>
                    <a:pt x="493889" y="43966"/>
                  </a:cubicBezTo>
                  <a:lnTo>
                    <a:pt x="493889" y="426662"/>
                  </a:lnTo>
                  <a:cubicBezTo>
                    <a:pt x="493889" y="450944"/>
                    <a:pt x="474204" y="470628"/>
                    <a:pt x="449923" y="470628"/>
                  </a:cubicBezTo>
                  <a:lnTo>
                    <a:pt x="43966" y="470628"/>
                  </a:lnTo>
                  <a:cubicBezTo>
                    <a:pt x="19684" y="470628"/>
                    <a:pt x="0" y="450944"/>
                    <a:pt x="0" y="426662"/>
                  </a:cubicBezTo>
                  <a:lnTo>
                    <a:pt x="0" y="43966"/>
                  </a:lnTo>
                  <a:cubicBezTo>
                    <a:pt x="0" y="19684"/>
                    <a:pt x="19684" y="0"/>
                    <a:pt x="43966" y="0"/>
                  </a:cubicBezTo>
                  <a:close/>
                </a:path>
              </a:pathLst>
            </a:custGeom>
            <a:gradFill rotWithShape="1">
              <a:gsLst>
                <a:gs pos="0">
                  <a:srgbClr val="31A1D4">
                    <a:alpha val="47000"/>
                  </a:srgbClr>
                </a:gs>
                <a:gs pos="100000">
                  <a:srgbClr val="035E8E">
                    <a:alpha val="0"/>
                  </a:srgbClr>
                </a:gs>
              </a:gsLst>
              <a:lin ang="2700000"/>
            </a:gradFill>
          </p:spPr>
        </p:sp>
        <p:sp>
          <p:nvSpPr>
            <p:cNvPr id="11" name="TextBox 11"/>
            <p:cNvSpPr txBox="1"/>
            <p:nvPr/>
          </p:nvSpPr>
          <p:spPr>
            <a:xfrm>
              <a:off x="0" y="-38100"/>
              <a:ext cx="493889" cy="508728"/>
            </a:xfrm>
            <a:prstGeom prst="rect">
              <a:avLst/>
            </a:prstGeom>
          </p:spPr>
          <p:txBody>
            <a:bodyPr lIns="50800" tIns="50800" rIns="50800" bIns="50800" rtlCol="0" anchor="ctr"/>
            <a:lstStyle/>
            <a:p>
              <a:pPr marL="0" lvl="0" indent="0" algn="ctr">
                <a:lnSpc>
                  <a:spcPts val="3355"/>
                </a:lnSpc>
                <a:spcBef>
                  <a:spcPct val="0"/>
                </a:spcBef>
              </a:pPr>
            </a:p>
          </p:txBody>
        </p:sp>
      </p:grpSp>
      <p:sp>
        <p:nvSpPr>
          <p:cNvPr id="12" name="TextBox 12"/>
          <p:cNvSpPr txBox="1"/>
          <p:nvPr/>
        </p:nvSpPr>
        <p:spPr>
          <a:xfrm>
            <a:off x="1488613" y="1302888"/>
            <a:ext cx="15229847" cy="1309884"/>
          </a:xfrm>
          <a:prstGeom prst="rect">
            <a:avLst/>
          </a:prstGeom>
        </p:spPr>
        <p:txBody>
          <a:bodyPr lIns="0" tIns="0" rIns="0" bIns="0" rtlCol="0" anchor="t">
            <a:spAutoFit/>
          </a:bodyPr>
          <a:lstStyle/>
          <a:p>
            <a:pPr algn="l">
              <a:lnSpc>
                <a:spcPts val="10660"/>
              </a:lnSpc>
              <a:spcBef>
                <a:spcPct val="0"/>
              </a:spcBef>
            </a:pPr>
            <a:r>
              <a:rPr lang="en-US" sz="761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KIẾN TRÚC MÔ PHỎNG</a:t>
            </a:r>
            <a:endParaRPr lang="en-US" sz="761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13" name="TextBox 13"/>
          <p:cNvSpPr txBox="1"/>
          <p:nvPr/>
        </p:nvSpPr>
        <p:spPr>
          <a:xfrm>
            <a:off x="1757015" y="4413188"/>
            <a:ext cx="4069263" cy="2841484"/>
          </a:xfrm>
          <a:prstGeom prst="rect">
            <a:avLst/>
          </a:prstGeom>
        </p:spPr>
        <p:txBody>
          <a:bodyPr lIns="0" tIns="0" rIns="0" bIns="0" rtlCol="0" anchor="t">
            <a:spAutoFit/>
          </a:bodyPr>
          <a:lstStyle/>
          <a:p>
            <a:pPr algn="l">
              <a:lnSpc>
                <a:spcPts val="3315"/>
              </a:lnSpc>
            </a:pPr>
            <a:r>
              <a:rPr lang="en-US" sz="2365">
                <a:solidFill>
                  <a:srgbClr val="C6C6C6"/>
                </a:solidFill>
                <a:latin typeface="Montserrat Light" panose="00000400000000000000"/>
                <a:ea typeface="Montserrat Light" panose="00000400000000000000"/>
                <a:cs typeface="Montserrat Light" panose="00000400000000000000"/>
                <a:sym typeface="Montserrat Light" panose="00000400000000000000"/>
              </a:rPr>
              <a:t>- Tạo firmware và manifest.</a:t>
            </a:r>
            <a:endParaRPr lang="en-US" sz="236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15"/>
              </a:lnSpc>
            </a:pPr>
            <a:r>
              <a:rPr lang="en-US" sz="2365">
                <a:solidFill>
                  <a:srgbClr val="C6C6C6"/>
                </a:solidFill>
                <a:latin typeface="Montserrat Light" panose="00000400000000000000"/>
                <a:ea typeface="Montserrat Light" panose="00000400000000000000"/>
                <a:cs typeface="Montserrat Light" panose="00000400000000000000"/>
                <a:sym typeface="Montserrat Light" panose="00000400000000000000"/>
              </a:rPr>
              <a:t>- Tính SHA-256.</a:t>
            </a:r>
            <a:endParaRPr lang="en-US" sz="236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15"/>
              </a:lnSpc>
              <a:spcBef>
                <a:spcPct val="0"/>
              </a:spcBef>
            </a:pPr>
            <a:r>
              <a:rPr lang="en-US" sz="2365">
                <a:solidFill>
                  <a:srgbClr val="C6C6C6"/>
                </a:solidFill>
                <a:latin typeface="Montserrat Light" panose="00000400000000000000"/>
                <a:ea typeface="Montserrat Light" panose="00000400000000000000"/>
                <a:cs typeface="Montserrat Light" panose="00000400000000000000"/>
                <a:sym typeface="Montserrat Light" panose="00000400000000000000"/>
              </a:rPr>
              <a:t>- Ký manifest bằng khóa riêng của nhà phát hành.</a:t>
            </a:r>
            <a:endParaRPr lang="en-US" sz="236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15"/>
              </a:lnSpc>
              <a:spcBef>
                <a:spcPct val="0"/>
              </a:spcBef>
            </a:pPr>
            <a:r>
              <a:rPr lang="en-US" sz="2365">
                <a:solidFill>
                  <a:srgbClr val="C6C6C6"/>
                </a:solidFill>
                <a:latin typeface="Montserrat Light" panose="00000400000000000000"/>
                <a:ea typeface="Montserrat Light" panose="00000400000000000000"/>
                <a:cs typeface="Montserrat Light" panose="00000400000000000000"/>
                <a:sym typeface="Montserrat Light" panose="00000400000000000000"/>
              </a:rPr>
              <a:t>- Mã hóa firmware trước khi phân phối.</a:t>
            </a:r>
            <a:endParaRPr lang="en-US" sz="236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315"/>
              </a:lnSpc>
              <a:spcBef>
                <a:spcPct val="0"/>
              </a:spcBef>
            </a:pPr>
          </a:p>
        </p:txBody>
      </p:sp>
      <p:sp>
        <p:nvSpPr>
          <p:cNvPr id="14" name="TextBox 14"/>
          <p:cNvSpPr txBox="1"/>
          <p:nvPr/>
        </p:nvSpPr>
        <p:spPr>
          <a:xfrm>
            <a:off x="7230462" y="4549679"/>
            <a:ext cx="3890641" cy="2203401"/>
          </a:xfrm>
          <a:prstGeom prst="rect">
            <a:avLst/>
          </a:prstGeom>
        </p:spPr>
        <p:txBody>
          <a:bodyPr lIns="0" tIns="0" rIns="0" bIns="0" rtlCol="0" anchor="t">
            <a:spAutoFit/>
          </a:bodyPr>
          <a:lstStyle/>
          <a:p>
            <a:pPr algn="l">
              <a:lnSpc>
                <a:spcPts val="3625"/>
              </a:lnSpc>
            </a:pPr>
            <a:r>
              <a:rPr lang="en-US" sz="2590">
                <a:solidFill>
                  <a:srgbClr val="C6C6C6"/>
                </a:solidFill>
                <a:latin typeface="Montserrat Light" panose="00000400000000000000"/>
                <a:ea typeface="Montserrat Light" panose="00000400000000000000"/>
                <a:cs typeface="Montserrat Light" panose="00000400000000000000"/>
                <a:sym typeface="Montserrat Light" panose="00000400000000000000"/>
              </a:rPr>
              <a:t>- </a:t>
            </a:r>
            <a:r>
              <a:rPr lang="en-US" sz="2590">
                <a:solidFill>
                  <a:srgbClr val="C6C6C6"/>
                </a:solidFill>
                <a:latin typeface="Montserrat Light" panose="00000400000000000000"/>
                <a:ea typeface="Montserrat Light" panose="00000400000000000000"/>
                <a:cs typeface="Montserrat Light" panose="00000400000000000000"/>
                <a:sym typeface="Montserrat Light" panose="00000400000000000000"/>
              </a:rPr>
              <a:t>Lưu trữ và phân phối gói cập nhật.</a:t>
            </a:r>
            <a:endParaRPr lang="en-US" sz="259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625"/>
              </a:lnSpc>
              <a:spcBef>
                <a:spcPct val="0"/>
              </a:spcBef>
            </a:pPr>
            <a:r>
              <a:rPr lang="en-US" sz="2590">
                <a:solidFill>
                  <a:srgbClr val="C6C6C6"/>
                </a:solidFill>
                <a:latin typeface="Montserrat Light" panose="00000400000000000000"/>
                <a:ea typeface="Montserrat Light" panose="00000400000000000000"/>
                <a:cs typeface="Montserrat Light" panose="00000400000000000000"/>
                <a:sym typeface="Montserrat Light" panose="00000400000000000000"/>
              </a:rPr>
              <a:t>   - Không được thiết bị tin cậy tuyệt đối.</a:t>
            </a:r>
            <a:endParaRPr lang="en-US" sz="259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625"/>
              </a:lnSpc>
              <a:spcBef>
                <a:spcPct val="0"/>
              </a:spcBef>
            </a:pPr>
          </a:p>
        </p:txBody>
      </p:sp>
      <p:sp>
        <p:nvSpPr>
          <p:cNvPr id="15" name="TextBox 15"/>
          <p:cNvSpPr txBox="1"/>
          <p:nvPr/>
        </p:nvSpPr>
        <p:spPr>
          <a:xfrm>
            <a:off x="1884769" y="3793742"/>
            <a:ext cx="3737071"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1. Môi trường phá</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t hành</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6" name="TextBox 16"/>
          <p:cNvSpPr txBox="1"/>
          <p:nvPr/>
        </p:nvSpPr>
        <p:spPr>
          <a:xfrm>
            <a:off x="8011190" y="3793742"/>
            <a:ext cx="2329185"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2.</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 Máy chủ OTA</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7" name="TextBox 17"/>
          <p:cNvSpPr txBox="1"/>
          <p:nvPr/>
        </p:nvSpPr>
        <p:spPr>
          <a:xfrm>
            <a:off x="12653259" y="4549679"/>
            <a:ext cx="3926825" cy="2498685"/>
          </a:xfrm>
          <a:prstGeom prst="rect">
            <a:avLst/>
          </a:prstGeom>
        </p:spPr>
        <p:txBody>
          <a:bodyPr lIns="0" tIns="0" rIns="0" bIns="0" rtlCol="0" anchor="t">
            <a:spAutoFit/>
          </a:bodyPr>
          <a:lstStyle/>
          <a:p>
            <a:pPr algn="l">
              <a:lnSpc>
                <a:spcPts val="3415"/>
              </a:lnSpc>
            </a:pPr>
            <a:r>
              <a:rPr lang="en-US" sz="2440">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440">
                <a:solidFill>
                  <a:srgbClr val="C6C6C6"/>
                </a:solidFill>
                <a:latin typeface="Montserrat Light" panose="00000400000000000000"/>
                <a:ea typeface="Montserrat Light" panose="00000400000000000000"/>
                <a:cs typeface="Montserrat Light" panose="00000400000000000000"/>
                <a:sym typeface="Montserrat Light" panose="00000400000000000000"/>
              </a:rPr>
              <a:t> Lưu khóa công khai của nhà phát hành.</a:t>
            </a:r>
            <a:endParaRPr lang="en-US" sz="244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415"/>
              </a:lnSpc>
            </a:pPr>
            <a:r>
              <a:rPr lang="en-US" sz="2440">
                <a:solidFill>
                  <a:srgbClr val="C6C6C6"/>
                </a:solidFill>
                <a:latin typeface="Montserrat Light" panose="00000400000000000000"/>
                <a:ea typeface="Montserrat Light" panose="00000400000000000000"/>
                <a:cs typeface="Montserrat Light" panose="00000400000000000000"/>
                <a:sym typeface="Montserrat Light" panose="00000400000000000000"/>
              </a:rPr>
              <a:t>- Xác minh gói cập nhật trước khi cài đặt.</a:t>
            </a:r>
            <a:endParaRPr lang="en-US" sz="244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415"/>
              </a:lnSpc>
              <a:spcBef>
                <a:spcPct val="0"/>
              </a:spcBef>
            </a:pPr>
            <a:r>
              <a:rPr lang="en-US" sz="2440">
                <a:solidFill>
                  <a:srgbClr val="C6C6C6"/>
                </a:solidFill>
                <a:latin typeface="Montserrat Light" panose="00000400000000000000"/>
                <a:ea typeface="Montserrat Light" panose="00000400000000000000"/>
                <a:cs typeface="Montserrat Light" panose="00000400000000000000"/>
                <a:sym typeface="Montserrat Light" panose="00000400000000000000"/>
              </a:rPr>
              <a:t>- Từ chối firmware không hợp lệ hoặc quá cũ.</a:t>
            </a:r>
            <a:endParaRPr lang="en-US" sz="244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sp>
        <p:nvSpPr>
          <p:cNvPr id="18" name="TextBox 18"/>
          <p:cNvSpPr txBox="1"/>
          <p:nvPr/>
        </p:nvSpPr>
        <p:spPr>
          <a:xfrm>
            <a:off x="13532007" y="3793742"/>
            <a:ext cx="2132507"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3.</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 Thiết bị IoT</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9" name="TextBox 19"/>
          <p:cNvSpPr txBox="1"/>
          <p:nvPr/>
        </p:nvSpPr>
        <p:spPr>
          <a:xfrm>
            <a:off x="1581207" y="2935857"/>
            <a:ext cx="4245071"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Ba thành</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 phần chính</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0" name="TextBox 20"/>
          <p:cNvSpPr txBox="1"/>
          <p:nvPr/>
        </p:nvSpPr>
        <p:spPr>
          <a:xfrm>
            <a:off x="1573939" y="8223071"/>
            <a:ext cx="14883087" cy="907284"/>
          </a:xfrm>
          <a:prstGeom prst="rect">
            <a:avLst/>
          </a:prstGeom>
        </p:spPr>
        <p:txBody>
          <a:bodyPr lIns="0" tIns="0" rIns="0" bIns="0" rtlCol="0" anchor="t">
            <a:spAutoFit/>
          </a:bodyPr>
          <a:lstStyle/>
          <a:p>
            <a:pPr algn="l">
              <a:lnSpc>
                <a:spcPts val="3605"/>
              </a:lnSpc>
            </a:pPr>
            <a:r>
              <a:rPr lang="en-US" sz="2575" b="1">
                <a:solidFill>
                  <a:srgbClr val="FFFFFF"/>
                </a:solidFill>
                <a:latin typeface="Montserrat Bold" panose="00000800000000000000"/>
                <a:ea typeface="Montserrat Bold" panose="00000800000000000000"/>
                <a:cs typeface="Montserrat Bold" panose="00000800000000000000"/>
                <a:sym typeface="Montserrat Bold" panose="00000800000000000000"/>
              </a:rPr>
              <a:t>→ Thông</a:t>
            </a:r>
            <a:r>
              <a:rPr lang="en-US" sz="2575" b="1">
                <a:solidFill>
                  <a:srgbClr val="FFFFFF"/>
                </a:solidFill>
                <a:latin typeface="Montserrat Bold" panose="00000800000000000000"/>
                <a:ea typeface="Montserrat Bold" panose="00000800000000000000"/>
                <a:cs typeface="Montserrat Bold" panose="00000800000000000000"/>
                <a:sym typeface="Montserrat Bold" panose="00000800000000000000"/>
              </a:rPr>
              <a:t> điệp chính: Thiết bị tự xác minh firmware, không chỉ dựa vào máy chủ hoặc HTTPS.</a:t>
            </a:r>
            <a:endParaRPr lang="en-US" sz="2575"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sp>
        <p:nvSpPr>
          <p:cNvPr id="3" name="TextBox 3"/>
          <p:cNvSpPr txBox="1"/>
          <p:nvPr/>
        </p:nvSpPr>
        <p:spPr>
          <a:xfrm>
            <a:off x="9637445" y="1206096"/>
            <a:ext cx="6730661" cy="1130051"/>
          </a:xfrm>
          <a:prstGeom prst="rect">
            <a:avLst/>
          </a:prstGeom>
        </p:spPr>
        <p:txBody>
          <a:bodyPr lIns="0" tIns="0" rIns="0" bIns="0" rtlCol="0" anchor="t">
            <a:spAutoFit/>
          </a:bodyPr>
          <a:lstStyle/>
          <a:p>
            <a:pPr algn="l">
              <a:lnSpc>
                <a:spcPts val="9265"/>
              </a:lnSpc>
              <a:spcBef>
                <a:spcPct val="0"/>
              </a:spcBef>
            </a:pPr>
            <a:r>
              <a:rPr lang="en-US" sz="662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QUY TRÌNH </a:t>
            </a:r>
            <a:endParaRPr lang="en-US" sz="662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grpSp>
        <p:nvGrpSpPr>
          <p:cNvPr id="4" name="Group 4"/>
          <p:cNvGrpSpPr/>
          <p:nvPr/>
        </p:nvGrpSpPr>
        <p:grpSpPr>
          <a:xfrm rot="0">
            <a:off x="1296008" y="4360702"/>
            <a:ext cx="7244857" cy="616879"/>
            <a:chOff x="0" y="0"/>
            <a:chExt cx="4772913" cy="406400"/>
          </a:xfrm>
        </p:grpSpPr>
        <p:sp>
          <p:nvSpPr>
            <p:cNvPr id="5" name="Freeform 5"/>
            <p:cNvSpPr/>
            <p:nvPr/>
          </p:nvSpPr>
          <p:spPr>
            <a:xfrm>
              <a:off x="0" y="0"/>
              <a:ext cx="4772913" cy="406400"/>
            </a:xfrm>
            <a:custGeom>
              <a:avLst/>
              <a:gdLst/>
              <a:ahLst/>
              <a:cxnLst/>
              <a:rect l="l" t="t" r="r" b="b"/>
              <a:pathLst>
                <a:path w="4772913" h="406400">
                  <a:moveTo>
                    <a:pt x="4569713" y="0"/>
                  </a:moveTo>
                  <a:cubicBezTo>
                    <a:pt x="4681937" y="0"/>
                    <a:pt x="4772913" y="90976"/>
                    <a:pt x="4772913" y="203200"/>
                  </a:cubicBezTo>
                  <a:cubicBezTo>
                    <a:pt x="4772913" y="315424"/>
                    <a:pt x="4681937" y="406400"/>
                    <a:pt x="4569713"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6" name="TextBox 6"/>
            <p:cNvSpPr txBox="1"/>
            <p:nvPr/>
          </p:nvSpPr>
          <p:spPr>
            <a:xfrm>
              <a:off x="0" y="-38100"/>
              <a:ext cx="4772913" cy="444500"/>
            </a:xfrm>
            <a:prstGeom prst="rect">
              <a:avLst/>
            </a:prstGeom>
          </p:spPr>
          <p:txBody>
            <a:bodyPr lIns="50800" tIns="50800" rIns="50800" bIns="50800" rtlCol="0" anchor="ctr"/>
            <a:lstStyle/>
            <a:p>
              <a:pPr algn="ctr">
                <a:lnSpc>
                  <a:spcPts val="3355"/>
                </a:lnSpc>
              </a:pPr>
            </a:p>
          </p:txBody>
        </p:sp>
      </p:grpSp>
      <p:grpSp>
        <p:nvGrpSpPr>
          <p:cNvPr id="7" name="Group 7"/>
          <p:cNvGrpSpPr/>
          <p:nvPr/>
        </p:nvGrpSpPr>
        <p:grpSpPr>
          <a:xfrm rot="0">
            <a:off x="1296008" y="5255656"/>
            <a:ext cx="7244857" cy="616879"/>
            <a:chOff x="0" y="0"/>
            <a:chExt cx="4772913" cy="406400"/>
          </a:xfrm>
        </p:grpSpPr>
        <p:sp>
          <p:nvSpPr>
            <p:cNvPr id="8" name="Freeform 8"/>
            <p:cNvSpPr/>
            <p:nvPr/>
          </p:nvSpPr>
          <p:spPr>
            <a:xfrm>
              <a:off x="0" y="0"/>
              <a:ext cx="4772913" cy="406400"/>
            </a:xfrm>
            <a:custGeom>
              <a:avLst/>
              <a:gdLst/>
              <a:ahLst/>
              <a:cxnLst/>
              <a:rect l="l" t="t" r="r" b="b"/>
              <a:pathLst>
                <a:path w="4772913" h="406400">
                  <a:moveTo>
                    <a:pt x="4569713" y="0"/>
                  </a:moveTo>
                  <a:cubicBezTo>
                    <a:pt x="4681937" y="0"/>
                    <a:pt x="4772913" y="90976"/>
                    <a:pt x="4772913" y="203200"/>
                  </a:cubicBezTo>
                  <a:cubicBezTo>
                    <a:pt x="4772913" y="315424"/>
                    <a:pt x="4681937" y="406400"/>
                    <a:pt x="4569713"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9" name="TextBox 9"/>
            <p:cNvSpPr txBox="1"/>
            <p:nvPr/>
          </p:nvSpPr>
          <p:spPr>
            <a:xfrm>
              <a:off x="0" y="-38100"/>
              <a:ext cx="4772913" cy="444500"/>
            </a:xfrm>
            <a:prstGeom prst="rect">
              <a:avLst/>
            </a:prstGeom>
          </p:spPr>
          <p:txBody>
            <a:bodyPr lIns="50800" tIns="50800" rIns="50800" bIns="50800" rtlCol="0" anchor="ctr"/>
            <a:lstStyle/>
            <a:p>
              <a:pPr algn="ctr">
                <a:lnSpc>
                  <a:spcPts val="3355"/>
                </a:lnSpc>
              </a:pPr>
            </a:p>
          </p:txBody>
        </p:sp>
      </p:grpSp>
      <p:grpSp>
        <p:nvGrpSpPr>
          <p:cNvPr id="10" name="Group 10"/>
          <p:cNvGrpSpPr/>
          <p:nvPr/>
        </p:nvGrpSpPr>
        <p:grpSpPr>
          <a:xfrm rot="0">
            <a:off x="1296008" y="6150611"/>
            <a:ext cx="7244857" cy="616879"/>
            <a:chOff x="0" y="0"/>
            <a:chExt cx="4772913" cy="406400"/>
          </a:xfrm>
        </p:grpSpPr>
        <p:sp>
          <p:nvSpPr>
            <p:cNvPr id="11" name="Freeform 11"/>
            <p:cNvSpPr/>
            <p:nvPr/>
          </p:nvSpPr>
          <p:spPr>
            <a:xfrm>
              <a:off x="0" y="0"/>
              <a:ext cx="4772913" cy="406400"/>
            </a:xfrm>
            <a:custGeom>
              <a:avLst/>
              <a:gdLst/>
              <a:ahLst/>
              <a:cxnLst/>
              <a:rect l="l" t="t" r="r" b="b"/>
              <a:pathLst>
                <a:path w="4772913" h="406400">
                  <a:moveTo>
                    <a:pt x="4569713" y="0"/>
                  </a:moveTo>
                  <a:cubicBezTo>
                    <a:pt x="4681937" y="0"/>
                    <a:pt x="4772913" y="90976"/>
                    <a:pt x="4772913" y="203200"/>
                  </a:cubicBezTo>
                  <a:cubicBezTo>
                    <a:pt x="4772913" y="315424"/>
                    <a:pt x="4681937" y="406400"/>
                    <a:pt x="4569713"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12" name="TextBox 12"/>
            <p:cNvSpPr txBox="1"/>
            <p:nvPr/>
          </p:nvSpPr>
          <p:spPr>
            <a:xfrm>
              <a:off x="0" y="-38100"/>
              <a:ext cx="4772913" cy="444500"/>
            </a:xfrm>
            <a:prstGeom prst="rect">
              <a:avLst/>
            </a:prstGeom>
          </p:spPr>
          <p:txBody>
            <a:bodyPr lIns="50800" tIns="50800" rIns="50800" bIns="50800" rtlCol="0" anchor="ctr"/>
            <a:lstStyle/>
            <a:p>
              <a:pPr algn="ctr">
                <a:lnSpc>
                  <a:spcPts val="3355"/>
                </a:lnSpc>
              </a:pPr>
            </a:p>
          </p:txBody>
        </p:sp>
      </p:grpSp>
      <p:grpSp>
        <p:nvGrpSpPr>
          <p:cNvPr id="13" name="Group 13"/>
          <p:cNvGrpSpPr/>
          <p:nvPr/>
        </p:nvGrpSpPr>
        <p:grpSpPr>
          <a:xfrm rot="0">
            <a:off x="1296008" y="7045565"/>
            <a:ext cx="7244857" cy="616879"/>
            <a:chOff x="0" y="0"/>
            <a:chExt cx="4772913" cy="406400"/>
          </a:xfrm>
        </p:grpSpPr>
        <p:sp>
          <p:nvSpPr>
            <p:cNvPr id="14" name="Freeform 14"/>
            <p:cNvSpPr/>
            <p:nvPr/>
          </p:nvSpPr>
          <p:spPr>
            <a:xfrm>
              <a:off x="0" y="0"/>
              <a:ext cx="4772913" cy="406400"/>
            </a:xfrm>
            <a:custGeom>
              <a:avLst/>
              <a:gdLst/>
              <a:ahLst/>
              <a:cxnLst/>
              <a:rect l="l" t="t" r="r" b="b"/>
              <a:pathLst>
                <a:path w="4772913" h="406400">
                  <a:moveTo>
                    <a:pt x="4569713" y="0"/>
                  </a:moveTo>
                  <a:cubicBezTo>
                    <a:pt x="4681937" y="0"/>
                    <a:pt x="4772913" y="90976"/>
                    <a:pt x="4772913" y="203200"/>
                  </a:cubicBezTo>
                  <a:cubicBezTo>
                    <a:pt x="4772913" y="315424"/>
                    <a:pt x="4681937" y="406400"/>
                    <a:pt x="4569713"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15" name="TextBox 15"/>
            <p:cNvSpPr txBox="1"/>
            <p:nvPr/>
          </p:nvSpPr>
          <p:spPr>
            <a:xfrm>
              <a:off x="0" y="-38100"/>
              <a:ext cx="4772913" cy="444500"/>
            </a:xfrm>
            <a:prstGeom prst="rect">
              <a:avLst/>
            </a:prstGeom>
          </p:spPr>
          <p:txBody>
            <a:bodyPr lIns="50800" tIns="50800" rIns="50800" bIns="50800" rtlCol="0" anchor="ctr"/>
            <a:lstStyle/>
            <a:p>
              <a:pPr algn="ctr">
                <a:lnSpc>
                  <a:spcPts val="3355"/>
                </a:lnSpc>
              </a:pPr>
            </a:p>
          </p:txBody>
        </p:sp>
      </p:grpSp>
      <p:grpSp>
        <p:nvGrpSpPr>
          <p:cNvPr id="16" name="Group 16"/>
          <p:cNvGrpSpPr/>
          <p:nvPr/>
        </p:nvGrpSpPr>
        <p:grpSpPr>
          <a:xfrm rot="0">
            <a:off x="1296008" y="1329921"/>
            <a:ext cx="7244857" cy="2668863"/>
            <a:chOff x="0" y="0"/>
            <a:chExt cx="1122418" cy="413477"/>
          </a:xfrm>
        </p:grpSpPr>
        <p:sp>
          <p:nvSpPr>
            <p:cNvPr id="17" name="Freeform 17"/>
            <p:cNvSpPr/>
            <p:nvPr/>
          </p:nvSpPr>
          <p:spPr>
            <a:xfrm>
              <a:off x="0" y="0"/>
              <a:ext cx="1122418" cy="413477"/>
            </a:xfrm>
            <a:custGeom>
              <a:avLst/>
              <a:gdLst/>
              <a:ahLst/>
              <a:cxnLst/>
              <a:rect l="l" t="t" r="r" b="b"/>
              <a:pathLst>
                <a:path w="1122418" h="413477">
                  <a:moveTo>
                    <a:pt x="26715" y="0"/>
                  </a:moveTo>
                  <a:lnTo>
                    <a:pt x="1095703" y="0"/>
                  </a:lnTo>
                  <a:cubicBezTo>
                    <a:pt x="1110457" y="0"/>
                    <a:pt x="1122418" y="11961"/>
                    <a:pt x="1122418" y="26715"/>
                  </a:cubicBezTo>
                  <a:lnTo>
                    <a:pt x="1122418" y="386761"/>
                  </a:lnTo>
                  <a:cubicBezTo>
                    <a:pt x="1122418" y="401516"/>
                    <a:pt x="1110457" y="413477"/>
                    <a:pt x="1095703" y="413477"/>
                  </a:cubicBezTo>
                  <a:lnTo>
                    <a:pt x="26715" y="413477"/>
                  </a:lnTo>
                  <a:cubicBezTo>
                    <a:pt x="11961" y="413477"/>
                    <a:pt x="0" y="401516"/>
                    <a:pt x="0" y="386761"/>
                  </a:cubicBezTo>
                  <a:lnTo>
                    <a:pt x="0" y="26715"/>
                  </a:lnTo>
                  <a:cubicBezTo>
                    <a:pt x="0" y="11961"/>
                    <a:pt x="11961" y="0"/>
                    <a:pt x="26715" y="0"/>
                  </a:cubicBezTo>
                  <a:close/>
                </a:path>
              </a:pathLst>
            </a:custGeom>
            <a:blipFill>
              <a:blip r:embed="rId2"/>
              <a:stretch>
                <a:fillRect t="-26109" b="-26109"/>
              </a:stretch>
            </a:blipFill>
          </p:spPr>
        </p:sp>
      </p:grpSp>
      <p:sp>
        <p:nvSpPr>
          <p:cNvPr id="18" name="Freeform 18"/>
          <p:cNvSpPr/>
          <p:nvPr/>
        </p:nvSpPr>
        <p:spPr>
          <a:xfrm>
            <a:off x="13568711" y="-4805116"/>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9" name="Group 19"/>
          <p:cNvGrpSpPr/>
          <p:nvPr/>
        </p:nvGrpSpPr>
        <p:grpSpPr>
          <a:xfrm rot="0">
            <a:off x="16128358" y="-1345011"/>
            <a:ext cx="4155559" cy="3571183"/>
            <a:chOff x="0" y="0"/>
            <a:chExt cx="812800" cy="698500"/>
          </a:xfrm>
        </p:grpSpPr>
        <p:sp>
          <p:nvSpPr>
            <p:cNvPr id="20" name="Freeform 2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21" name="TextBox 21"/>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22" name="Group 22"/>
          <p:cNvGrpSpPr/>
          <p:nvPr/>
        </p:nvGrpSpPr>
        <p:grpSpPr>
          <a:xfrm rot="0">
            <a:off x="15234643" y="-327456"/>
            <a:ext cx="1787431" cy="1536073"/>
            <a:chOff x="0" y="0"/>
            <a:chExt cx="812800" cy="698500"/>
          </a:xfrm>
        </p:grpSpPr>
        <p:sp>
          <p:nvSpPr>
            <p:cNvPr id="23" name="Freeform 23"/>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24" name="TextBox 24"/>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25" name="Group 25"/>
          <p:cNvGrpSpPr/>
          <p:nvPr/>
        </p:nvGrpSpPr>
        <p:grpSpPr>
          <a:xfrm rot="0">
            <a:off x="9637445" y="4360702"/>
            <a:ext cx="7935406" cy="616879"/>
            <a:chOff x="0" y="0"/>
            <a:chExt cx="5227847" cy="406400"/>
          </a:xfrm>
        </p:grpSpPr>
        <p:sp>
          <p:nvSpPr>
            <p:cNvPr id="26" name="Freeform 26"/>
            <p:cNvSpPr/>
            <p:nvPr/>
          </p:nvSpPr>
          <p:spPr>
            <a:xfrm>
              <a:off x="0" y="0"/>
              <a:ext cx="5227846" cy="406400"/>
            </a:xfrm>
            <a:custGeom>
              <a:avLst/>
              <a:gdLst/>
              <a:ahLst/>
              <a:cxnLst/>
              <a:rect l="l" t="t" r="r" b="b"/>
              <a:pathLst>
                <a:path w="5227846" h="406400">
                  <a:moveTo>
                    <a:pt x="5024646" y="0"/>
                  </a:moveTo>
                  <a:cubicBezTo>
                    <a:pt x="5136871" y="0"/>
                    <a:pt x="5227846" y="90976"/>
                    <a:pt x="5227846" y="203200"/>
                  </a:cubicBezTo>
                  <a:cubicBezTo>
                    <a:pt x="5227846" y="315424"/>
                    <a:pt x="5136871" y="406400"/>
                    <a:pt x="5024646"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27" name="TextBox 27"/>
            <p:cNvSpPr txBox="1"/>
            <p:nvPr/>
          </p:nvSpPr>
          <p:spPr>
            <a:xfrm>
              <a:off x="0" y="-38100"/>
              <a:ext cx="5227847" cy="444500"/>
            </a:xfrm>
            <a:prstGeom prst="rect">
              <a:avLst/>
            </a:prstGeom>
          </p:spPr>
          <p:txBody>
            <a:bodyPr lIns="50800" tIns="50800" rIns="50800" bIns="50800" rtlCol="0" anchor="ctr"/>
            <a:lstStyle/>
            <a:p>
              <a:pPr algn="ctr">
                <a:lnSpc>
                  <a:spcPts val="3355"/>
                </a:lnSpc>
              </a:pPr>
            </a:p>
          </p:txBody>
        </p:sp>
      </p:grpSp>
      <p:grpSp>
        <p:nvGrpSpPr>
          <p:cNvPr id="28" name="Group 28"/>
          <p:cNvGrpSpPr/>
          <p:nvPr/>
        </p:nvGrpSpPr>
        <p:grpSpPr>
          <a:xfrm rot="0">
            <a:off x="9637445" y="5255656"/>
            <a:ext cx="7935406" cy="616879"/>
            <a:chOff x="0" y="0"/>
            <a:chExt cx="5227847" cy="406400"/>
          </a:xfrm>
        </p:grpSpPr>
        <p:sp>
          <p:nvSpPr>
            <p:cNvPr id="29" name="Freeform 29"/>
            <p:cNvSpPr/>
            <p:nvPr/>
          </p:nvSpPr>
          <p:spPr>
            <a:xfrm>
              <a:off x="0" y="0"/>
              <a:ext cx="5227846" cy="406400"/>
            </a:xfrm>
            <a:custGeom>
              <a:avLst/>
              <a:gdLst/>
              <a:ahLst/>
              <a:cxnLst/>
              <a:rect l="l" t="t" r="r" b="b"/>
              <a:pathLst>
                <a:path w="5227846" h="406400">
                  <a:moveTo>
                    <a:pt x="5024646" y="0"/>
                  </a:moveTo>
                  <a:cubicBezTo>
                    <a:pt x="5136871" y="0"/>
                    <a:pt x="5227846" y="90976"/>
                    <a:pt x="5227846" y="203200"/>
                  </a:cubicBezTo>
                  <a:cubicBezTo>
                    <a:pt x="5227846" y="315424"/>
                    <a:pt x="5136871" y="406400"/>
                    <a:pt x="5024646"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30" name="TextBox 30"/>
            <p:cNvSpPr txBox="1"/>
            <p:nvPr/>
          </p:nvSpPr>
          <p:spPr>
            <a:xfrm>
              <a:off x="0" y="-38100"/>
              <a:ext cx="5227847" cy="444500"/>
            </a:xfrm>
            <a:prstGeom prst="rect">
              <a:avLst/>
            </a:prstGeom>
          </p:spPr>
          <p:txBody>
            <a:bodyPr lIns="50800" tIns="50800" rIns="50800" bIns="50800" rtlCol="0" anchor="ctr"/>
            <a:lstStyle/>
            <a:p>
              <a:pPr algn="ctr">
                <a:lnSpc>
                  <a:spcPts val="3355"/>
                </a:lnSpc>
              </a:pPr>
            </a:p>
          </p:txBody>
        </p:sp>
      </p:grpSp>
      <p:grpSp>
        <p:nvGrpSpPr>
          <p:cNvPr id="31" name="Group 31"/>
          <p:cNvGrpSpPr/>
          <p:nvPr/>
        </p:nvGrpSpPr>
        <p:grpSpPr>
          <a:xfrm rot="0">
            <a:off x="9637445" y="6150611"/>
            <a:ext cx="7935406" cy="616879"/>
            <a:chOff x="0" y="0"/>
            <a:chExt cx="5227847" cy="406400"/>
          </a:xfrm>
        </p:grpSpPr>
        <p:sp>
          <p:nvSpPr>
            <p:cNvPr id="32" name="Freeform 32"/>
            <p:cNvSpPr/>
            <p:nvPr/>
          </p:nvSpPr>
          <p:spPr>
            <a:xfrm>
              <a:off x="0" y="0"/>
              <a:ext cx="5227846" cy="406400"/>
            </a:xfrm>
            <a:custGeom>
              <a:avLst/>
              <a:gdLst/>
              <a:ahLst/>
              <a:cxnLst/>
              <a:rect l="l" t="t" r="r" b="b"/>
              <a:pathLst>
                <a:path w="5227846" h="406400">
                  <a:moveTo>
                    <a:pt x="5024646" y="0"/>
                  </a:moveTo>
                  <a:cubicBezTo>
                    <a:pt x="5136871" y="0"/>
                    <a:pt x="5227846" y="90976"/>
                    <a:pt x="5227846" y="203200"/>
                  </a:cubicBezTo>
                  <a:cubicBezTo>
                    <a:pt x="5227846" y="315424"/>
                    <a:pt x="5136871" y="406400"/>
                    <a:pt x="5024646"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33" name="TextBox 33"/>
            <p:cNvSpPr txBox="1"/>
            <p:nvPr/>
          </p:nvSpPr>
          <p:spPr>
            <a:xfrm>
              <a:off x="0" y="-38100"/>
              <a:ext cx="5227847" cy="444500"/>
            </a:xfrm>
            <a:prstGeom prst="rect">
              <a:avLst/>
            </a:prstGeom>
          </p:spPr>
          <p:txBody>
            <a:bodyPr lIns="50800" tIns="50800" rIns="50800" bIns="50800" rtlCol="0" anchor="ctr"/>
            <a:lstStyle/>
            <a:p>
              <a:pPr algn="ctr">
                <a:lnSpc>
                  <a:spcPts val="3355"/>
                </a:lnSpc>
              </a:pPr>
            </a:p>
          </p:txBody>
        </p:sp>
      </p:grpSp>
      <p:grpSp>
        <p:nvGrpSpPr>
          <p:cNvPr id="34" name="Group 34"/>
          <p:cNvGrpSpPr/>
          <p:nvPr/>
        </p:nvGrpSpPr>
        <p:grpSpPr>
          <a:xfrm rot="0">
            <a:off x="9637445" y="7045565"/>
            <a:ext cx="7935406" cy="616879"/>
            <a:chOff x="0" y="0"/>
            <a:chExt cx="5227847" cy="406400"/>
          </a:xfrm>
        </p:grpSpPr>
        <p:sp>
          <p:nvSpPr>
            <p:cNvPr id="35" name="Freeform 35"/>
            <p:cNvSpPr/>
            <p:nvPr/>
          </p:nvSpPr>
          <p:spPr>
            <a:xfrm>
              <a:off x="0" y="0"/>
              <a:ext cx="5227846" cy="406400"/>
            </a:xfrm>
            <a:custGeom>
              <a:avLst/>
              <a:gdLst/>
              <a:ahLst/>
              <a:cxnLst/>
              <a:rect l="l" t="t" r="r" b="b"/>
              <a:pathLst>
                <a:path w="5227846" h="406400">
                  <a:moveTo>
                    <a:pt x="5024646" y="0"/>
                  </a:moveTo>
                  <a:cubicBezTo>
                    <a:pt x="5136871" y="0"/>
                    <a:pt x="5227846" y="90976"/>
                    <a:pt x="5227846" y="203200"/>
                  </a:cubicBezTo>
                  <a:cubicBezTo>
                    <a:pt x="5227846" y="315424"/>
                    <a:pt x="5136871" y="406400"/>
                    <a:pt x="5024646"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36" name="TextBox 36"/>
            <p:cNvSpPr txBox="1"/>
            <p:nvPr/>
          </p:nvSpPr>
          <p:spPr>
            <a:xfrm>
              <a:off x="0" y="-38100"/>
              <a:ext cx="5227847" cy="444500"/>
            </a:xfrm>
            <a:prstGeom prst="rect">
              <a:avLst/>
            </a:prstGeom>
          </p:spPr>
          <p:txBody>
            <a:bodyPr lIns="50800" tIns="50800" rIns="50800" bIns="50800" rtlCol="0" anchor="ctr"/>
            <a:lstStyle/>
            <a:p>
              <a:pPr algn="ctr">
                <a:lnSpc>
                  <a:spcPts val="3355"/>
                </a:lnSpc>
              </a:pPr>
            </a:p>
          </p:txBody>
        </p:sp>
      </p:grpSp>
      <p:grpSp>
        <p:nvGrpSpPr>
          <p:cNvPr id="37" name="Group 37"/>
          <p:cNvGrpSpPr/>
          <p:nvPr/>
        </p:nvGrpSpPr>
        <p:grpSpPr>
          <a:xfrm rot="0">
            <a:off x="9637445" y="7938669"/>
            <a:ext cx="7935406" cy="616879"/>
            <a:chOff x="0" y="0"/>
            <a:chExt cx="5227847" cy="406400"/>
          </a:xfrm>
        </p:grpSpPr>
        <p:sp>
          <p:nvSpPr>
            <p:cNvPr id="38" name="Freeform 38"/>
            <p:cNvSpPr/>
            <p:nvPr/>
          </p:nvSpPr>
          <p:spPr>
            <a:xfrm>
              <a:off x="0" y="0"/>
              <a:ext cx="5227846" cy="406400"/>
            </a:xfrm>
            <a:custGeom>
              <a:avLst/>
              <a:gdLst/>
              <a:ahLst/>
              <a:cxnLst/>
              <a:rect l="l" t="t" r="r" b="b"/>
              <a:pathLst>
                <a:path w="5227846" h="406400">
                  <a:moveTo>
                    <a:pt x="5024646" y="0"/>
                  </a:moveTo>
                  <a:cubicBezTo>
                    <a:pt x="5136871" y="0"/>
                    <a:pt x="5227846" y="90976"/>
                    <a:pt x="5227846" y="203200"/>
                  </a:cubicBezTo>
                  <a:cubicBezTo>
                    <a:pt x="5227846" y="315424"/>
                    <a:pt x="5136871" y="406400"/>
                    <a:pt x="5024646"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39" name="TextBox 39"/>
            <p:cNvSpPr txBox="1"/>
            <p:nvPr/>
          </p:nvSpPr>
          <p:spPr>
            <a:xfrm>
              <a:off x="0" y="-38100"/>
              <a:ext cx="5227847" cy="444500"/>
            </a:xfrm>
            <a:prstGeom prst="rect">
              <a:avLst/>
            </a:prstGeom>
          </p:spPr>
          <p:txBody>
            <a:bodyPr lIns="50800" tIns="50800" rIns="50800" bIns="50800" rtlCol="0" anchor="ctr"/>
            <a:lstStyle/>
            <a:p>
              <a:pPr algn="ctr">
                <a:lnSpc>
                  <a:spcPts val="3355"/>
                </a:lnSpc>
              </a:pPr>
            </a:p>
          </p:txBody>
        </p:sp>
      </p:grpSp>
      <p:grpSp>
        <p:nvGrpSpPr>
          <p:cNvPr id="40" name="Group 40"/>
          <p:cNvGrpSpPr/>
          <p:nvPr/>
        </p:nvGrpSpPr>
        <p:grpSpPr>
          <a:xfrm rot="0">
            <a:off x="1296008" y="7938669"/>
            <a:ext cx="7244857" cy="616879"/>
            <a:chOff x="0" y="0"/>
            <a:chExt cx="4772913" cy="406400"/>
          </a:xfrm>
        </p:grpSpPr>
        <p:sp>
          <p:nvSpPr>
            <p:cNvPr id="41" name="Freeform 41"/>
            <p:cNvSpPr/>
            <p:nvPr/>
          </p:nvSpPr>
          <p:spPr>
            <a:xfrm>
              <a:off x="0" y="0"/>
              <a:ext cx="4772913" cy="406400"/>
            </a:xfrm>
            <a:custGeom>
              <a:avLst/>
              <a:gdLst/>
              <a:ahLst/>
              <a:cxnLst/>
              <a:rect l="l" t="t" r="r" b="b"/>
              <a:pathLst>
                <a:path w="4772913" h="406400">
                  <a:moveTo>
                    <a:pt x="4569713" y="0"/>
                  </a:moveTo>
                  <a:cubicBezTo>
                    <a:pt x="4681937" y="0"/>
                    <a:pt x="4772913" y="90976"/>
                    <a:pt x="4772913" y="203200"/>
                  </a:cubicBezTo>
                  <a:cubicBezTo>
                    <a:pt x="4772913" y="315424"/>
                    <a:pt x="4681937" y="406400"/>
                    <a:pt x="4569713" y="406400"/>
                  </a:cubicBezTo>
                  <a:lnTo>
                    <a:pt x="203200" y="406400"/>
                  </a:lnTo>
                  <a:cubicBezTo>
                    <a:pt x="90976" y="406400"/>
                    <a:pt x="0" y="315424"/>
                    <a:pt x="0" y="203200"/>
                  </a:cubicBezTo>
                  <a:cubicBezTo>
                    <a:pt x="0" y="90976"/>
                    <a:pt x="90976" y="0"/>
                    <a:pt x="203200" y="0"/>
                  </a:cubicBezTo>
                  <a:close/>
                </a:path>
              </a:pathLst>
            </a:custGeom>
            <a:gradFill rotWithShape="1">
              <a:gsLst>
                <a:gs pos="0">
                  <a:srgbClr val="31A1D4">
                    <a:alpha val="100000"/>
                  </a:srgbClr>
                </a:gs>
                <a:gs pos="100000">
                  <a:srgbClr val="035E8E">
                    <a:alpha val="100000"/>
                  </a:srgbClr>
                </a:gs>
              </a:gsLst>
              <a:lin ang="0"/>
            </a:gradFill>
          </p:spPr>
        </p:sp>
        <p:sp>
          <p:nvSpPr>
            <p:cNvPr id="42" name="TextBox 42"/>
            <p:cNvSpPr txBox="1"/>
            <p:nvPr/>
          </p:nvSpPr>
          <p:spPr>
            <a:xfrm>
              <a:off x="0" y="-38100"/>
              <a:ext cx="4772913" cy="444500"/>
            </a:xfrm>
            <a:prstGeom prst="rect">
              <a:avLst/>
            </a:prstGeom>
          </p:spPr>
          <p:txBody>
            <a:bodyPr lIns="50800" tIns="50800" rIns="50800" bIns="50800" rtlCol="0" anchor="ctr"/>
            <a:lstStyle/>
            <a:p>
              <a:pPr algn="ctr">
                <a:lnSpc>
                  <a:spcPts val="3355"/>
                </a:lnSpc>
              </a:pPr>
            </a:p>
          </p:txBody>
        </p:sp>
      </p:grpSp>
      <p:sp>
        <p:nvSpPr>
          <p:cNvPr id="43" name="TextBox 43"/>
          <p:cNvSpPr txBox="1"/>
          <p:nvPr/>
        </p:nvSpPr>
        <p:spPr>
          <a:xfrm>
            <a:off x="9637445" y="2212363"/>
            <a:ext cx="8313658" cy="1130051"/>
          </a:xfrm>
          <a:prstGeom prst="rect">
            <a:avLst/>
          </a:prstGeom>
        </p:spPr>
        <p:txBody>
          <a:bodyPr lIns="0" tIns="0" rIns="0" bIns="0" rtlCol="0" anchor="t">
            <a:spAutoFit/>
          </a:bodyPr>
          <a:lstStyle/>
          <a:p>
            <a:pPr algn="l">
              <a:lnSpc>
                <a:spcPts val="9265"/>
              </a:lnSpc>
              <a:spcBef>
                <a:spcPct val="0"/>
              </a:spcBef>
            </a:pPr>
            <a:r>
              <a:rPr lang="en-US" sz="662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OTA AN TOÀN</a:t>
            </a:r>
            <a:endParaRPr lang="en-US" sz="662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44" name="TextBox 44"/>
          <p:cNvSpPr txBox="1"/>
          <p:nvPr/>
        </p:nvSpPr>
        <p:spPr>
          <a:xfrm>
            <a:off x="1519577" y="4463699"/>
            <a:ext cx="70212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1. Thiết bị nhận gói firmwar</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e và manifest.</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45" name="TextBox 45"/>
          <p:cNvSpPr txBox="1"/>
          <p:nvPr/>
        </p:nvSpPr>
        <p:spPr>
          <a:xfrm>
            <a:off x="1519577" y="5358653"/>
            <a:ext cx="70212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2. Kiểm</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 tra cấu trúc, kích thước và thiết bị đích.</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46" name="TextBox 46"/>
          <p:cNvSpPr txBox="1"/>
          <p:nvPr/>
        </p:nvSpPr>
        <p:spPr>
          <a:xfrm>
            <a:off x="1519577" y="6253607"/>
            <a:ext cx="70212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3. Xác minh</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 chữ ký số của manifest.</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47" name="TextBox 47"/>
          <p:cNvSpPr txBox="1"/>
          <p:nvPr/>
        </p:nvSpPr>
        <p:spPr>
          <a:xfrm>
            <a:off x="1519577" y="7148562"/>
            <a:ext cx="70212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4. So</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 sánh sequence để chống rollback.</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48" name="TextBox 48"/>
          <p:cNvSpPr txBox="1"/>
          <p:nvPr/>
        </p:nvSpPr>
        <p:spPr>
          <a:xfrm>
            <a:off x="9933585" y="4454018"/>
            <a:ext cx="65132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6. Đối chiếu kích thước</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 và SHA-256.</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49" name="TextBox 49"/>
          <p:cNvSpPr txBox="1"/>
          <p:nvPr/>
        </p:nvSpPr>
        <p:spPr>
          <a:xfrm>
            <a:off x="9933585" y="5358623"/>
            <a:ext cx="65132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7. Ghi</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 firmware vào vùng staging.</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50" name="TextBox 50"/>
          <p:cNvSpPr txBox="1"/>
          <p:nvPr/>
        </p:nvSpPr>
        <p:spPr>
          <a:xfrm>
            <a:off x="9933585" y="6253535"/>
            <a:ext cx="65132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8. Khởi động và thự</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c hiện self-test.</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51" name="TextBox 51"/>
          <p:cNvSpPr txBox="1"/>
          <p:nvPr/>
        </p:nvSpPr>
        <p:spPr>
          <a:xfrm>
            <a:off x="9933585" y="7148490"/>
            <a:ext cx="65132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9. S</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elf-test đạt: kích hoạt phiên bản mới.</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52" name="TextBox 52"/>
          <p:cNvSpPr txBox="1"/>
          <p:nvPr/>
        </p:nvSpPr>
        <p:spPr>
          <a:xfrm>
            <a:off x="9735597" y="8039595"/>
            <a:ext cx="80293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10. Self-te</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st thất bại: giữ hoặc khôi phục firmware cũ.</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53" name="TextBox 53"/>
          <p:cNvSpPr txBox="1"/>
          <p:nvPr/>
        </p:nvSpPr>
        <p:spPr>
          <a:xfrm>
            <a:off x="1519577" y="8043444"/>
            <a:ext cx="7021288" cy="372845"/>
          </a:xfrm>
          <a:prstGeom prst="rect">
            <a:avLst/>
          </a:prstGeom>
        </p:spPr>
        <p:txBody>
          <a:bodyPr lIns="0" tIns="0" rIns="0" bIns="0" rtlCol="0" anchor="t">
            <a:spAutoFit/>
          </a:bodyPr>
          <a:lstStyle/>
          <a:p>
            <a:pPr algn="l">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5. Giải mã và</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 xác thực firmware bằng AES-GCM.</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54" name="TextBox 54"/>
          <p:cNvSpPr txBox="1"/>
          <p:nvPr/>
        </p:nvSpPr>
        <p:spPr>
          <a:xfrm>
            <a:off x="1324567" y="8918373"/>
            <a:ext cx="14877596" cy="465531"/>
          </a:xfrm>
          <a:prstGeom prst="rect">
            <a:avLst/>
          </a:prstGeom>
        </p:spPr>
        <p:txBody>
          <a:bodyPr lIns="0" tIns="0" rIns="0" bIns="0" rtlCol="0" anchor="t">
            <a:spAutoFit/>
          </a:bodyPr>
          <a:lstStyle/>
          <a:p>
            <a:pPr algn="l">
              <a:lnSpc>
                <a:spcPts val="3755"/>
              </a:lnSpc>
              <a:spcBef>
                <a:spcPct val="0"/>
              </a:spcBef>
            </a:pPr>
            <a:r>
              <a:rPr lang="en-US" sz="2680" b="1">
                <a:solidFill>
                  <a:srgbClr val="FFFFFF"/>
                </a:solidFill>
                <a:latin typeface="Montserrat Bold" panose="00000800000000000000"/>
                <a:ea typeface="Montserrat Bold" panose="00000800000000000000"/>
                <a:cs typeface="Montserrat Bold" panose="00000800000000000000"/>
                <a:sym typeface="Montserrat Bold" panose="00000800000000000000"/>
              </a:rPr>
              <a:t>Nguyên tắc: Chỉ cài đặt sau khi tất cả bước xác minh đều thành công.</a:t>
            </a:r>
            <a:endParaRPr lang="en-US" sz="268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grpSp>
        <p:nvGrpSpPr>
          <p:cNvPr id="3" name="Group 3"/>
          <p:cNvGrpSpPr/>
          <p:nvPr/>
        </p:nvGrpSpPr>
        <p:grpSpPr>
          <a:xfrm rot="0">
            <a:off x="1028700" y="5443906"/>
            <a:ext cx="4003288" cy="3374910"/>
            <a:chOff x="0" y="0"/>
            <a:chExt cx="390981" cy="329610"/>
          </a:xfrm>
        </p:grpSpPr>
        <p:sp>
          <p:nvSpPr>
            <p:cNvPr id="4" name="Freeform 4"/>
            <p:cNvSpPr/>
            <p:nvPr/>
          </p:nvSpPr>
          <p:spPr>
            <a:xfrm>
              <a:off x="0" y="0"/>
              <a:ext cx="390981" cy="329610"/>
            </a:xfrm>
            <a:custGeom>
              <a:avLst/>
              <a:gdLst/>
              <a:ahLst/>
              <a:cxnLst/>
              <a:rect l="l" t="t" r="r" b="b"/>
              <a:pathLst>
                <a:path w="390981" h="329610">
                  <a:moveTo>
                    <a:pt x="48347" y="0"/>
                  </a:moveTo>
                  <a:lnTo>
                    <a:pt x="342633" y="0"/>
                  </a:lnTo>
                  <a:cubicBezTo>
                    <a:pt x="369335" y="0"/>
                    <a:pt x="390981" y="21646"/>
                    <a:pt x="390981" y="48347"/>
                  </a:cubicBezTo>
                  <a:lnTo>
                    <a:pt x="390981" y="281263"/>
                  </a:lnTo>
                  <a:cubicBezTo>
                    <a:pt x="390981" y="294085"/>
                    <a:pt x="385887" y="306383"/>
                    <a:pt x="376820" y="315450"/>
                  </a:cubicBezTo>
                  <a:cubicBezTo>
                    <a:pt x="367753" y="324516"/>
                    <a:pt x="355456" y="329610"/>
                    <a:pt x="342633" y="329610"/>
                  </a:cubicBezTo>
                  <a:lnTo>
                    <a:pt x="48347" y="329610"/>
                  </a:lnTo>
                  <a:cubicBezTo>
                    <a:pt x="21646" y="329610"/>
                    <a:pt x="0" y="307964"/>
                    <a:pt x="0" y="281263"/>
                  </a:cubicBezTo>
                  <a:lnTo>
                    <a:pt x="0" y="48347"/>
                  </a:lnTo>
                  <a:cubicBezTo>
                    <a:pt x="0" y="21646"/>
                    <a:pt x="21646" y="0"/>
                    <a:pt x="48347" y="0"/>
                  </a:cubicBezTo>
                  <a:close/>
                </a:path>
              </a:pathLst>
            </a:custGeom>
            <a:gradFill rotWithShape="1">
              <a:gsLst>
                <a:gs pos="0">
                  <a:srgbClr val="31A1D4">
                    <a:alpha val="47000"/>
                  </a:srgbClr>
                </a:gs>
                <a:gs pos="100000">
                  <a:srgbClr val="035E8E">
                    <a:alpha val="0"/>
                  </a:srgbClr>
                </a:gs>
              </a:gsLst>
              <a:lin ang="2700000"/>
            </a:gradFill>
          </p:spPr>
        </p:sp>
        <p:sp>
          <p:nvSpPr>
            <p:cNvPr id="5" name="TextBox 5"/>
            <p:cNvSpPr txBox="1"/>
            <p:nvPr/>
          </p:nvSpPr>
          <p:spPr>
            <a:xfrm>
              <a:off x="0" y="-38100"/>
              <a:ext cx="390981" cy="367710"/>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6" name="Group 6"/>
          <p:cNvGrpSpPr/>
          <p:nvPr/>
        </p:nvGrpSpPr>
        <p:grpSpPr>
          <a:xfrm rot="0">
            <a:off x="5907411" y="5443906"/>
            <a:ext cx="4774405" cy="3374910"/>
            <a:chOff x="0" y="0"/>
            <a:chExt cx="466292" cy="329610"/>
          </a:xfrm>
        </p:grpSpPr>
        <p:sp>
          <p:nvSpPr>
            <p:cNvPr id="7" name="Freeform 7"/>
            <p:cNvSpPr/>
            <p:nvPr/>
          </p:nvSpPr>
          <p:spPr>
            <a:xfrm>
              <a:off x="0" y="0"/>
              <a:ext cx="466292" cy="329610"/>
            </a:xfrm>
            <a:custGeom>
              <a:avLst/>
              <a:gdLst/>
              <a:ahLst/>
              <a:cxnLst/>
              <a:rect l="l" t="t" r="r" b="b"/>
              <a:pathLst>
                <a:path w="466292" h="329610">
                  <a:moveTo>
                    <a:pt x="40539" y="0"/>
                  </a:moveTo>
                  <a:lnTo>
                    <a:pt x="425753" y="0"/>
                  </a:lnTo>
                  <a:cubicBezTo>
                    <a:pt x="448142" y="0"/>
                    <a:pt x="466292" y="18150"/>
                    <a:pt x="466292" y="40539"/>
                  </a:cubicBezTo>
                  <a:lnTo>
                    <a:pt x="466292" y="289072"/>
                  </a:lnTo>
                  <a:cubicBezTo>
                    <a:pt x="466292" y="299823"/>
                    <a:pt x="462021" y="310134"/>
                    <a:pt x="454418" y="317737"/>
                  </a:cubicBezTo>
                  <a:cubicBezTo>
                    <a:pt x="446816" y="325339"/>
                    <a:pt x="436505" y="329610"/>
                    <a:pt x="425753" y="329610"/>
                  </a:cubicBezTo>
                  <a:lnTo>
                    <a:pt x="40539" y="329610"/>
                  </a:lnTo>
                  <a:cubicBezTo>
                    <a:pt x="29787" y="329610"/>
                    <a:pt x="19476" y="325339"/>
                    <a:pt x="11873" y="317737"/>
                  </a:cubicBezTo>
                  <a:cubicBezTo>
                    <a:pt x="4271" y="310134"/>
                    <a:pt x="0" y="299823"/>
                    <a:pt x="0" y="289072"/>
                  </a:cubicBezTo>
                  <a:lnTo>
                    <a:pt x="0" y="40539"/>
                  </a:lnTo>
                  <a:cubicBezTo>
                    <a:pt x="0" y="29787"/>
                    <a:pt x="4271" y="19476"/>
                    <a:pt x="11873" y="11873"/>
                  </a:cubicBezTo>
                  <a:cubicBezTo>
                    <a:pt x="19476" y="4271"/>
                    <a:pt x="29787" y="0"/>
                    <a:pt x="40539" y="0"/>
                  </a:cubicBezTo>
                  <a:close/>
                </a:path>
              </a:pathLst>
            </a:custGeom>
            <a:gradFill rotWithShape="1">
              <a:gsLst>
                <a:gs pos="0">
                  <a:srgbClr val="31A1D4">
                    <a:alpha val="47000"/>
                  </a:srgbClr>
                </a:gs>
                <a:gs pos="100000">
                  <a:srgbClr val="035E8E">
                    <a:alpha val="0"/>
                  </a:srgbClr>
                </a:gs>
              </a:gsLst>
              <a:lin ang="2700000"/>
            </a:gradFill>
          </p:spPr>
        </p:sp>
        <p:sp>
          <p:nvSpPr>
            <p:cNvPr id="8" name="TextBox 8"/>
            <p:cNvSpPr txBox="1"/>
            <p:nvPr/>
          </p:nvSpPr>
          <p:spPr>
            <a:xfrm>
              <a:off x="0" y="-38100"/>
              <a:ext cx="466292" cy="367710"/>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9" name="Group 9"/>
          <p:cNvGrpSpPr/>
          <p:nvPr/>
        </p:nvGrpSpPr>
        <p:grpSpPr>
          <a:xfrm rot="0">
            <a:off x="12015415" y="2874842"/>
            <a:ext cx="4297788" cy="2937966"/>
            <a:chOff x="0" y="0"/>
            <a:chExt cx="482169" cy="329610"/>
          </a:xfrm>
        </p:grpSpPr>
        <p:sp>
          <p:nvSpPr>
            <p:cNvPr id="10" name="Freeform 10"/>
            <p:cNvSpPr/>
            <p:nvPr/>
          </p:nvSpPr>
          <p:spPr>
            <a:xfrm>
              <a:off x="0" y="0"/>
              <a:ext cx="482169" cy="329610"/>
            </a:xfrm>
            <a:custGeom>
              <a:avLst/>
              <a:gdLst/>
              <a:ahLst/>
              <a:cxnLst/>
              <a:rect l="l" t="t" r="r" b="b"/>
              <a:pathLst>
                <a:path w="482169" h="329610">
                  <a:moveTo>
                    <a:pt x="45034" y="0"/>
                  </a:moveTo>
                  <a:lnTo>
                    <a:pt x="437134" y="0"/>
                  </a:lnTo>
                  <a:cubicBezTo>
                    <a:pt x="462006" y="0"/>
                    <a:pt x="482169" y="20163"/>
                    <a:pt x="482169" y="45034"/>
                  </a:cubicBezTo>
                  <a:lnTo>
                    <a:pt x="482169" y="284576"/>
                  </a:lnTo>
                  <a:cubicBezTo>
                    <a:pt x="482169" y="309448"/>
                    <a:pt x="462006" y="329610"/>
                    <a:pt x="437134" y="329610"/>
                  </a:cubicBezTo>
                  <a:lnTo>
                    <a:pt x="45034" y="329610"/>
                  </a:lnTo>
                  <a:cubicBezTo>
                    <a:pt x="20163" y="329610"/>
                    <a:pt x="0" y="309448"/>
                    <a:pt x="0" y="284576"/>
                  </a:cubicBezTo>
                  <a:lnTo>
                    <a:pt x="0" y="45034"/>
                  </a:lnTo>
                  <a:cubicBezTo>
                    <a:pt x="0" y="20163"/>
                    <a:pt x="20163" y="0"/>
                    <a:pt x="45034" y="0"/>
                  </a:cubicBezTo>
                  <a:close/>
                </a:path>
              </a:pathLst>
            </a:custGeom>
            <a:gradFill rotWithShape="1">
              <a:gsLst>
                <a:gs pos="0">
                  <a:srgbClr val="31A1D4">
                    <a:alpha val="47000"/>
                  </a:srgbClr>
                </a:gs>
                <a:gs pos="100000">
                  <a:srgbClr val="035E8E">
                    <a:alpha val="0"/>
                  </a:srgbClr>
                </a:gs>
              </a:gsLst>
              <a:lin ang="2700000"/>
            </a:gradFill>
          </p:spPr>
        </p:sp>
        <p:sp>
          <p:nvSpPr>
            <p:cNvPr id="11" name="TextBox 11"/>
            <p:cNvSpPr txBox="1"/>
            <p:nvPr/>
          </p:nvSpPr>
          <p:spPr>
            <a:xfrm>
              <a:off x="0" y="-38100"/>
              <a:ext cx="482169" cy="367710"/>
            </a:xfrm>
            <a:prstGeom prst="rect">
              <a:avLst/>
            </a:prstGeom>
          </p:spPr>
          <p:txBody>
            <a:bodyPr lIns="50800" tIns="50800" rIns="50800" bIns="50800" rtlCol="0" anchor="ctr"/>
            <a:lstStyle/>
            <a:p>
              <a:pPr marL="0" lvl="0" indent="0" algn="ctr">
                <a:lnSpc>
                  <a:spcPts val="3355"/>
                </a:lnSpc>
                <a:spcBef>
                  <a:spcPct val="0"/>
                </a:spcBef>
              </a:pPr>
            </a:p>
          </p:txBody>
        </p:sp>
      </p:grpSp>
      <p:sp>
        <p:nvSpPr>
          <p:cNvPr id="12" name="Freeform 12"/>
          <p:cNvSpPr/>
          <p:nvPr/>
        </p:nvSpPr>
        <p:spPr>
          <a:xfrm>
            <a:off x="11129690" y="-4363431"/>
            <a:ext cx="9438577" cy="6748583"/>
          </a:xfrm>
          <a:custGeom>
            <a:avLst/>
            <a:gdLst/>
            <a:ahLst/>
            <a:cxnLst/>
            <a:rect l="l" t="t" r="r" b="b"/>
            <a:pathLst>
              <a:path w="9438577" h="6748583">
                <a:moveTo>
                  <a:pt x="0" y="0"/>
                </a:moveTo>
                <a:lnTo>
                  <a:pt x="9438577" y="0"/>
                </a:lnTo>
                <a:lnTo>
                  <a:pt x="9438577"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1520396" y="2533016"/>
            <a:ext cx="9651782" cy="1206239"/>
          </a:xfrm>
          <a:prstGeom prst="rect">
            <a:avLst/>
          </a:prstGeom>
        </p:spPr>
        <p:txBody>
          <a:bodyPr lIns="0" tIns="0" rIns="0" bIns="0" rtlCol="0" anchor="t">
            <a:spAutoFit/>
          </a:bodyPr>
          <a:lstStyle/>
          <a:p>
            <a:pPr algn="l">
              <a:lnSpc>
                <a:spcPts val="9880"/>
              </a:lnSpc>
              <a:spcBef>
                <a:spcPct val="0"/>
              </a:spcBef>
            </a:pPr>
            <a:r>
              <a:rPr lang="en-US" sz="705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KẾT QUẢ DEMO</a:t>
            </a:r>
            <a:endParaRPr lang="en-US" sz="705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14" name="TextBox 14"/>
          <p:cNvSpPr txBox="1"/>
          <p:nvPr/>
        </p:nvSpPr>
        <p:spPr>
          <a:xfrm>
            <a:off x="1524365" y="4767924"/>
            <a:ext cx="3011959" cy="432154"/>
          </a:xfrm>
          <a:prstGeom prst="rect">
            <a:avLst/>
          </a:prstGeom>
        </p:spPr>
        <p:txBody>
          <a:bodyPr lIns="0" tIns="0" rIns="0" bIns="0" rtlCol="0" anchor="t">
            <a:spAutoFit/>
          </a:bodyPr>
          <a:lstStyle/>
          <a:p>
            <a:pPr algn="ctr">
              <a:lnSpc>
                <a:spcPts val="3535"/>
              </a:lnSpc>
              <a:spcBef>
                <a:spcPct val="0"/>
              </a:spcBef>
            </a:pPr>
            <a:r>
              <a:rPr lang="en-US" sz="2525" b="1">
                <a:solidFill>
                  <a:srgbClr val="FFFFFF"/>
                </a:solidFill>
                <a:latin typeface="Montserrat Bold" panose="00000800000000000000"/>
                <a:ea typeface="Montserrat Bold" panose="00000800000000000000"/>
                <a:cs typeface="Montserrat Bold" panose="00000800000000000000"/>
                <a:sym typeface="Montserrat Bold" panose="00000800000000000000"/>
              </a:rPr>
              <a:t>Môi t</a:t>
            </a:r>
            <a:r>
              <a:rPr lang="en-US" sz="2525" b="1">
                <a:solidFill>
                  <a:srgbClr val="FFFFFF"/>
                </a:solidFill>
                <a:latin typeface="Montserrat Bold" panose="00000800000000000000"/>
                <a:ea typeface="Montserrat Bold" panose="00000800000000000000"/>
                <a:cs typeface="Montserrat Bold" panose="00000800000000000000"/>
                <a:sym typeface="Montserrat Bold" panose="00000800000000000000"/>
              </a:rPr>
              <a:t>rường</a:t>
            </a:r>
            <a:endParaRPr lang="en-US" sz="2525"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5" name="TextBox 15"/>
          <p:cNvSpPr txBox="1"/>
          <p:nvPr/>
        </p:nvSpPr>
        <p:spPr>
          <a:xfrm>
            <a:off x="6478521" y="4767924"/>
            <a:ext cx="3011959" cy="432154"/>
          </a:xfrm>
          <a:prstGeom prst="rect">
            <a:avLst/>
          </a:prstGeom>
        </p:spPr>
        <p:txBody>
          <a:bodyPr lIns="0" tIns="0" rIns="0" bIns="0" rtlCol="0" anchor="t">
            <a:spAutoFit/>
          </a:bodyPr>
          <a:lstStyle/>
          <a:p>
            <a:pPr algn="ctr">
              <a:lnSpc>
                <a:spcPts val="3535"/>
              </a:lnSpc>
              <a:spcBef>
                <a:spcPct val="0"/>
              </a:spcBef>
            </a:pPr>
            <a:r>
              <a:rPr lang="en-US" sz="2525" b="1">
                <a:solidFill>
                  <a:srgbClr val="FFFFFF"/>
                </a:solidFill>
                <a:latin typeface="Montserrat Bold" panose="00000800000000000000"/>
                <a:ea typeface="Montserrat Bold" panose="00000800000000000000"/>
                <a:cs typeface="Montserrat Bold" panose="00000800000000000000"/>
                <a:sym typeface="Montserrat Bold" panose="00000800000000000000"/>
              </a:rPr>
              <a:t>Kết q</a:t>
            </a:r>
            <a:r>
              <a:rPr lang="en-US" sz="2525" b="1">
                <a:solidFill>
                  <a:srgbClr val="FFFFFF"/>
                </a:solidFill>
                <a:latin typeface="Montserrat Bold" panose="00000800000000000000"/>
                <a:ea typeface="Montserrat Bold" panose="00000800000000000000"/>
                <a:cs typeface="Montserrat Bold" panose="00000800000000000000"/>
                <a:sym typeface="Montserrat Bold" panose="00000800000000000000"/>
              </a:rPr>
              <a:t>uả kiểm thử</a:t>
            </a:r>
            <a:endParaRPr lang="en-US" sz="2525"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6" name="TextBox 16"/>
          <p:cNvSpPr txBox="1"/>
          <p:nvPr/>
        </p:nvSpPr>
        <p:spPr>
          <a:xfrm>
            <a:off x="12830879" y="2347052"/>
            <a:ext cx="2622005" cy="372845"/>
          </a:xfrm>
          <a:prstGeom prst="rect">
            <a:avLst/>
          </a:prstGeom>
        </p:spPr>
        <p:txBody>
          <a:bodyPr lIns="0" tIns="0" rIns="0" bIns="0" rtlCol="0" anchor="t">
            <a:spAutoFit/>
          </a:bodyPr>
          <a:lstStyle/>
          <a:p>
            <a:pPr algn="ctr">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Minh </a:t>
            </a: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chứng</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17" name="Group 17"/>
          <p:cNvGrpSpPr/>
          <p:nvPr/>
        </p:nvGrpSpPr>
        <p:grpSpPr>
          <a:xfrm rot="0">
            <a:off x="16885087" y="-1481594"/>
            <a:ext cx="4155559" cy="3571183"/>
            <a:chOff x="0" y="0"/>
            <a:chExt cx="812800" cy="698500"/>
          </a:xfrm>
        </p:grpSpPr>
        <p:sp>
          <p:nvSpPr>
            <p:cNvPr id="18" name="Freeform 1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9" name="TextBox 19"/>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20" name="TextBox 20"/>
          <p:cNvSpPr txBox="1"/>
          <p:nvPr/>
        </p:nvSpPr>
        <p:spPr>
          <a:xfrm>
            <a:off x="1293081" y="5923512"/>
            <a:ext cx="3474526" cy="2350921"/>
          </a:xfrm>
          <a:prstGeom prst="rect">
            <a:avLst/>
          </a:prstGeom>
        </p:spPr>
        <p:txBody>
          <a:bodyPr lIns="0" tIns="0" rIns="0" bIns="0" rtlCol="0" anchor="t">
            <a:spAutoFit/>
          </a:bodyPr>
          <a:lstStyle/>
          <a:p>
            <a:pPr algn="l">
              <a:lnSpc>
                <a:spcPts val="3210"/>
              </a:lnSpc>
            </a:pPr>
            <a:r>
              <a:rPr lang="en-US" sz="2295">
                <a:solidFill>
                  <a:srgbClr val="C6C6C6"/>
                </a:solidFill>
                <a:latin typeface="Montserrat Light" panose="00000400000000000000"/>
                <a:ea typeface="Montserrat Light" panose="00000400000000000000"/>
                <a:cs typeface="Montserrat Light" panose="00000400000000000000"/>
                <a:sym typeface="Montserrat Light" panose="00000400000000000000"/>
              </a:rPr>
              <a:t>- Python 3.11+</a:t>
            </a:r>
            <a:endParaRPr lang="en-US" sz="229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210"/>
              </a:lnSpc>
            </a:pPr>
            <a:r>
              <a:rPr lang="en-US" sz="2295">
                <a:solidFill>
                  <a:srgbClr val="C6C6C6"/>
                </a:solidFill>
                <a:latin typeface="Montserrat Light" panose="00000400000000000000"/>
                <a:ea typeface="Montserrat Light" panose="00000400000000000000"/>
                <a:cs typeface="Montserrat Light" panose="00000400000000000000"/>
                <a:sym typeface="Montserrat Light" panose="00000400000000000000"/>
              </a:rPr>
              <a:t>- Thư viện cryptography</a:t>
            </a:r>
            <a:endParaRPr lang="en-US" sz="229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210"/>
              </a:lnSpc>
              <a:spcBef>
                <a:spcPct val="0"/>
              </a:spcBef>
            </a:pPr>
            <a:r>
              <a:rPr lang="en-US" sz="2295">
                <a:solidFill>
                  <a:srgbClr val="C6C6C6"/>
                </a:solidFill>
                <a:latin typeface="Montserrat Light" panose="00000400000000000000"/>
                <a:ea typeface="Montserrat Light" panose="00000400000000000000"/>
                <a:cs typeface="Montserrat Light" panose="00000400000000000000"/>
                <a:sym typeface="Montserrat Light" panose="00000400000000000000"/>
              </a:rPr>
              <a:t>- Firmware và dữ liệu hoàn toàn giả lập</a:t>
            </a:r>
            <a:endParaRPr lang="en-US" sz="229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210"/>
              </a:lnSpc>
              <a:spcBef>
                <a:spcPct val="0"/>
              </a:spcBef>
            </a:pPr>
            <a:r>
              <a:rPr lang="en-US" sz="2295">
                <a:solidFill>
                  <a:srgbClr val="C6C6C6"/>
                </a:solidFill>
                <a:latin typeface="Montserrat Light" panose="00000400000000000000"/>
                <a:ea typeface="Montserrat Light" panose="00000400000000000000"/>
                <a:cs typeface="Montserrat Light" panose="00000400000000000000"/>
                <a:sym typeface="Montserrat Light" panose="00000400000000000000"/>
              </a:rPr>
              <a:t>- Chạy cục bộ trên máy cá nhân</a:t>
            </a:r>
            <a:endParaRPr lang="en-US" sz="229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sp>
        <p:nvSpPr>
          <p:cNvPr id="21" name="TextBox 21"/>
          <p:cNvSpPr txBox="1"/>
          <p:nvPr/>
        </p:nvSpPr>
        <p:spPr>
          <a:xfrm>
            <a:off x="6045858" y="5774708"/>
            <a:ext cx="4539572" cy="2522198"/>
          </a:xfrm>
          <a:prstGeom prst="rect">
            <a:avLst/>
          </a:prstGeom>
        </p:spPr>
        <p:txBody>
          <a:bodyPr lIns="0" tIns="0" rIns="0" bIns="0" rtlCol="0" anchor="t">
            <a:spAutoFit/>
          </a:bodyPr>
          <a:lstStyle/>
          <a:p>
            <a:pPr algn="l">
              <a:lnSpc>
                <a:spcPts val="2955"/>
              </a:lnSpc>
            </a:pPr>
            <a:r>
              <a:rPr lang="en-US" sz="2110">
                <a:solidFill>
                  <a:srgbClr val="C6C6C6"/>
                </a:solidFill>
                <a:latin typeface="Montserrat Light" panose="00000400000000000000"/>
                <a:ea typeface="Montserrat Light" panose="00000400000000000000"/>
                <a:cs typeface="Montserrat Light" panose="00000400000000000000"/>
                <a:sym typeface="Montserrat Light" panose="00000400000000000000"/>
              </a:rPr>
              <a:t>- Bản v2 hợp lệ → ACCEPT — PASS</a:t>
            </a:r>
            <a:endParaRPr lang="en-US" sz="211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2955"/>
              </a:lnSpc>
            </a:pPr>
            <a:r>
              <a:rPr lang="en-US" sz="2110">
                <a:solidFill>
                  <a:srgbClr val="C6C6C6"/>
                </a:solidFill>
                <a:latin typeface="Montserrat Light" panose="00000400000000000000"/>
                <a:ea typeface="Montserrat Light" panose="00000400000000000000"/>
                <a:cs typeface="Montserrat Light" panose="00000400000000000000"/>
                <a:sym typeface="Montserrat Light" panose="00000400000000000000"/>
              </a:rPr>
              <a:t>- Payload bị sửa 1 bit → REJECT — PASS</a:t>
            </a:r>
            <a:endParaRPr lang="en-US" sz="211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2955"/>
              </a:lnSpc>
              <a:spcBef>
                <a:spcPct val="0"/>
              </a:spcBef>
            </a:pPr>
            <a:r>
              <a:rPr lang="en-US" sz="2110">
                <a:solidFill>
                  <a:srgbClr val="C6C6C6"/>
                </a:solidFill>
                <a:latin typeface="Montserrat Light" panose="00000400000000000000"/>
                <a:ea typeface="Montserrat Light" panose="00000400000000000000"/>
                <a:cs typeface="Montserrat Light" panose="00000400000000000000"/>
                <a:sym typeface="Montserrat Light" panose="00000400000000000000"/>
              </a:rPr>
              <a:t>- Bản v1 có sequence cũ → REJECT — PASS</a:t>
            </a:r>
            <a:endParaRPr lang="en-US" sz="211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2955"/>
              </a:lnSpc>
              <a:spcBef>
                <a:spcPct val="0"/>
              </a:spcBef>
            </a:pPr>
            <a:r>
              <a:rPr lang="en-US" sz="2110">
                <a:solidFill>
                  <a:srgbClr val="C6C6C6"/>
                </a:solidFill>
                <a:latin typeface="Montserrat Light" panose="00000400000000000000"/>
                <a:ea typeface="Montserrat Light" panose="00000400000000000000"/>
                <a:cs typeface="Montserrat Light" panose="00000400000000000000"/>
                <a:sym typeface="Montserrat Light" panose="00000400000000000000"/>
              </a:rPr>
              <a:t>- Bản v3 lỗi self-test → REJECT và rollback — PASS</a:t>
            </a:r>
            <a:endParaRPr lang="en-US" sz="211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sp>
        <p:nvSpPr>
          <p:cNvPr id="22" name="TextBox 22"/>
          <p:cNvSpPr txBox="1"/>
          <p:nvPr/>
        </p:nvSpPr>
        <p:spPr>
          <a:xfrm>
            <a:off x="12529732" y="6482227"/>
            <a:ext cx="5183013" cy="1154014"/>
          </a:xfrm>
          <a:prstGeom prst="rect">
            <a:avLst/>
          </a:prstGeom>
        </p:spPr>
        <p:txBody>
          <a:bodyPr lIns="0" tIns="0" rIns="0" bIns="0" rtlCol="0" anchor="t">
            <a:spAutoFit/>
          </a:bodyPr>
          <a:lstStyle/>
          <a:p>
            <a:pPr algn="just">
              <a:lnSpc>
                <a:spcPts val="3075"/>
              </a:lnSpc>
              <a:spcBef>
                <a:spcPct val="0"/>
              </a:spcBef>
            </a:pPr>
          </a:p>
          <a:p>
            <a:pPr algn="just">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Kết quả tổng hợp: 4/4 ca kiểm thử đạt kỳ vọng.</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3" name="TextBox 23"/>
          <p:cNvSpPr txBox="1"/>
          <p:nvPr/>
        </p:nvSpPr>
        <p:spPr>
          <a:xfrm>
            <a:off x="12274908" y="3209475"/>
            <a:ext cx="3733948" cy="2221074"/>
          </a:xfrm>
          <a:prstGeom prst="rect">
            <a:avLst/>
          </a:prstGeom>
        </p:spPr>
        <p:txBody>
          <a:bodyPr lIns="0" tIns="0" rIns="0" bIns="0" rtlCol="0" anchor="t">
            <a:spAutoFit/>
          </a:bodyPr>
          <a:lstStyle/>
          <a:p>
            <a:pPr algn="l">
              <a:lnSpc>
                <a:spcPts val="3030"/>
              </a:lnSpc>
            </a:pPr>
            <a:r>
              <a:rPr lang="en-US" sz="2165">
                <a:solidFill>
                  <a:srgbClr val="C6C6C6"/>
                </a:solidFill>
                <a:latin typeface="Montserrat Light" panose="00000400000000000000"/>
                <a:ea typeface="Montserrat Light" panose="00000400000000000000"/>
                <a:cs typeface="Montserrat Light" panose="00000400000000000000"/>
                <a:sym typeface="Montserrat Light" panose="00000400000000000000"/>
              </a:rPr>
              <a:t>esults/test_matrix.csv</a:t>
            </a:r>
            <a:endParaRPr lang="en-US" sz="216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030"/>
              </a:lnSpc>
            </a:pPr>
            <a:r>
              <a:rPr lang="en-US" sz="2165">
                <a:solidFill>
                  <a:srgbClr val="C6C6C6"/>
                </a:solidFill>
                <a:latin typeface="Montserrat Light" panose="00000400000000000000"/>
                <a:ea typeface="Montserrat Light" panose="00000400000000000000"/>
                <a:cs typeface="Montserrat Light" panose="00000400000000000000"/>
                <a:sym typeface="Montserrat Light" panose="00000400000000000000"/>
              </a:rPr>
              <a:t> results/logs/secure_update_demo.log</a:t>
            </a:r>
            <a:endParaRPr lang="en-US" sz="216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030"/>
              </a:lnSpc>
              <a:spcBef>
                <a:spcPct val="0"/>
              </a:spcBef>
            </a:pPr>
          </a:p>
          <a:p>
            <a:pPr algn="l">
              <a:lnSpc>
                <a:spcPts val="3030"/>
              </a:lnSpc>
              <a:spcBef>
                <a:spcPct val="0"/>
              </a:spcBef>
            </a:pPr>
            <a:r>
              <a:rPr lang="en-US" sz="2165">
                <a:solidFill>
                  <a:srgbClr val="C6C6C6"/>
                </a:solidFill>
                <a:latin typeface="Montserrat Light" panose="00000400000000000000"/>
                <a:ea typeface="Montserrat Light" panose="00000400000000000000"/>
                <a:cs typeface="Montserrat Light" panose="00000400000000000000"/>
                <a:sym typeface="Montserrat Light" panose="00000400000000000000"/>
              </a:rPr>
              <a:t> results/manifest_v2.json</a:t>
            </a:r>
            <a:endParaRPr lang="en-US" sz="216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sp>
        <p:nvSpPr>
          <p:cNvPr id="24" name="TextBox 24"/>
          <p:cNvSpPr txBox="1"/>
          <p:nvPr/>
        </p:nvSpPr>
        <p:spPr>
          <a:xfrm>
            <a:off x="11129690" y="6328786"/>
            <a:ext cx="3629601" cy="1346596"/>
          </a:xfrm>
          <a:prstGeom prst="rect">
            <a:avLst/>
          </a:prstGeom>
        </p:spPr>
        <p:txBody>
          <a:bodyPr lIns="0" tIns="0" rIns="0" bIns="0" rtlCol="0" anchor="t">
            <a:spAutoFit/>
          </a:bodyPr>
          <a:lstStyle/>
          <a:p>
            <a:pPr algn="just">
              <a:lnSpc>
                <a:spcPts val="10980"/>
              </a:lnSpc>
              <a:spcBef>
                <a:spcPct val="0"/>
              </a:spcBef>
            </a:pPr>
            <a:r>
              <a:rPr lang="en-US" sz="7840">
                <a:solidFill>
                  <a:srgbClr val="FFFFFF"/>
                </a:solidFill>
                <a:latin typeface="Montserrat" panose="00000500000000000000"/>
                <a:ea typeface="Montserrat" panose="00000500000000000000"/>
                <a:cs typeface="Montserrat" panose="00000500000000000000"/>
                <a:sym typeface="Montserrat" panose="00000500000000000000"/>
              </a:rPr>
              <a:t>-&gt;</a:t>
            </a:r>
            <a:endParaRPr lang="en-US" sz="7840">
              <a:solidFill>
                <a:srgbClr val="FFFFFF"/>
              </a:solidFill>
              <a:latin typeface="Montserrat" panose="00000500000000000000"/>
              <a:ea typeface="Montserrat" panose="00000500000000000000"/>
              <a:cs typeface="Montserrat" panose="00000500000000000000"/>
              <a:sym typeface="Montserrat" panose="000005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sp>
        <p:nvSpPr>
          <p:cNvPr id="3" name="TextBox 3"/>
          <p:cNvSpPr txBox="1"/>
          <p:nvPr/>
        </p:nvSpPr>
        <p:spPr>
          <a:xfrm>
            <a:off x="1028700" y="920783"/>
            <a:ext cx="10299735" cy="2053639"/>
          </a:xfrm>
          <a:prstGeom prst="rect">
            <a:avLst/>
          </a:prstGeom>
        </p:spPr>
        <p:txBody>
          <a:bodyPr lIns="0" tIns="0" rIns="0" bIns="0" rtlCol="0" anchor="t">
            <a:spAutoFit/>
          </a:bodyPr>
          <a:lstStyle/>
          <a:p>
            <a:pPr algn="l">
              <a:lnSpc>
                <a:spcPts val="8240"/>
              </a:lnSpc>
              <a:spcBef>
                <a:spcPct val="0"/>
              </a:spcBef>
            </a:pPr>
            <a:r>
              <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RỦI RO VÀ BIỆN PHÁP GIẢM THIỂU</a:t>
            </a:r>
            <a:endPar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grpSp>
        <p:nvGrpSpPr>
          <p:cNvPr id="4" name="Group 4"/>
          <p:cNvGrpSpPr/>
          <p:nvPr/>
        </p:nvGrpSpPr>
        <p:grpSpPr>
          <a:xfrm rot="0">
            <a:off x="1028700" y="4642071"/>
            <a:ext cx="8564110" cy="2318856"/>
            <a:chOff x="0" y="0"/>
            <a:chExt cx="960807" cy="260152"/>
          </a:xfrm>
        </p:grpSpPr>
        <p:sp>
          <p:nvSpPr>
            <p:cNvPr id="5" name="Freeform 5"/>
            <p:cNvSpPr/>
            <p:nvPr/>
          </p:nvSpPr>
          <p:spPr>
            <a:xfrm>
              <a:off x="0" y="0"/>
              <a:ext cx="960807" cy="260152"/>
            </a:xfrm>
            <a:custGeom>
              <a:avLst/>
              <a:gdLst/>
              <a:ahLst/>
              <a:cxnLst/>
              <a:rect l="l" t="t" r="r" b="b"/>
              <a:pathLst>
                <a:path w="960807" h="260152">
                  <a:moveTo>
                    <a:pt x="22600" y="0"/>
                  </a:moveTo>
                  <a:lnTo>
                    <a:pt x="938207" y="0"/>
                  </a:lnTo>
                  <a:cubicBezTo>
                    <a:pt x="944201" y="0"/>
                    <a:pt x="949949" y="2381"/>
                    <a:pt x="954188" y="6619"/>
                  </a:cubicBezTo>
                  <a:cubicBezTo>
                    <a:pt x="958426" y="10858"/>
                    <a:pt x="960807" y="16606"/>
                    <a:pt x="960807" y="22600"/>
                  </a:cubicBezTo>
                  <a:lnTo>
                    <a:pt x="960807" y="237552"/>
                  </a:lnTo>
                  <a:cubicBezTo>
                    <a:pt x="960807" y="243546"/>
                    <a:pt x="958426" y="249295"/>
                    <a:pt x="954188" y="253533"/>
                  </a:cubicBezTo>
                  <a:cubicBezTo>
                    <a:pt x="949949" y="257771"/>
                    <a:pt x="944201" y="260152"/>
                    <a:pt x="938207" y="260152"/>
                  </a:cubicBezTo>
                  <a:lnTo>
                    <a:pt x="22600" y="260152"/>
                  </a:lnTo>
                  <a:cubicBezTo>
                    <a:pt x="16606" y="260152"/>
                    <a:pt x="10858" y="257771"/>
                    <a:pt x="6619" y="253533"/>
                  </a:cubicBezTo>
                  <a:cubicBezTo>
                    <a:pt x="2381" y="249295"/>
                    <a:pt x="0" y="243546"/>
                    <a:pt x="0" y="237552"/>
                  </a:cubicBezTo>
                  <a:lnTo>
                    <a:pt x="0" y="22600"/>
                  </a:lnTo>
                  <a:cubicBezTo>
                    <a:pt x="0" y="16606"/>
                    <a:pt x="2381" y="10858"/>
                    <a:pt x="6619" y="6619"/>
                  </a:cubicBezTo>
                  <a:cubicBezTo>
                    <a:pt x="10858" y="2381"/>
                    <a:pt x="16606" y="0"/>
                    <a:pt x="22600" y="0"/>
                  </a:cubicBezTo>
                  <a:close/>
                </a:path>
              </a:pathLst>
            </a:custGeom>
            <a:gradFill rotWithShape="1">
              <a:gsLst>
                <a:gs pos="0">
                  <a:srgbClr val="31A1D4">
                    <a:alpha val="47000"/>
                  </a:srgbClr>
                </a:gs>
                <a:gs pos="100000">
                  <a:srgbClr val="035E8E">
                    <a:alpha val="0"/>
                  </a:srgbClr>
                </a:gs>
              </a:gsLst>
              <a:lin ang="2700000"/>
            </a:gradFill>
          </p:spPr>
        </p:sp>
        <p:sp>
          <p:nvSpPr>
            <p:cNvPr id="6" name="TextBox 6"/>
            <p:cNvSpPr txBox="1"/>
            <p:nvPr/>
          </p:nvSpPr>
          <p:spPr>
            <a:xfrm>
              <a:off x="0" y="-38100"/>
              <a:ext cx="960807" cy="298252"/>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7" name="Group 7"/>
          <p:cNvGrpSpPr/>
          <p:nvPr/>
        </p:nvGrpSpPr>
        <p:grpSpPr>
          <a:xfrm rot="0">
            <a:off x="9592810" y="3369076"/>
            <a:ext cx="9329646" cy="2318856"/>
            <a:chOff x="0" y="0"/>
            <a:chExt cx="1046692" cy="260152"/>
          </a:xfrm>
        </p:grpSpPr>
        <p:sp>
          <p:nvSpPr>
            <p:cNvPr id="8" name="Freeform 8"/>
            <p:cNvSpPr/>
            <p:nvPr/>
          </p:nvSpPr>
          <p:spPr>
            <a:xfrm>
              <a:off x="0" y="0"/>
              <a:ext cx="1046692" cy="260152"/>
            </a:xfrm>
            <a:custGeom>
              <a:avLst/>
              <a:gdLst/>
              <a:ahLst/>
              <a:cxnLst/>
              <a:rect l="l" t="t" r="r" b="b"/>
              <a:pathLst>
                <a:path w="1046692" h="260152">
                  <a:moveTo>
                    <a:pt x="20745" y="0"/>
                  </a:moveTo>
                  <a:lnTo>
                    <a:pt x="1025947" y="0"/>
                  </a:lnTo>
                  <a:cubicBezTo>
                    <a:pt x="1037404" y="0"/>
                    <a:pt x="1046692" y="9288"/>
                    <a:pt x="1046692" y="20745"/>
                  </a:cubicBezTo>
                  <a:lnTo>
                    <a:pt x="1046692" y="239407"/>
                  </a:lnTo>
                  <a:cubicBezTo>
                    <a:pt x="1046692" y="250864"/>
                    <a:pt x="1037404" y="260152"/>
                    <a:pt x="1025947" y="260152"/>
                  </a:cubicBezTo>
                  <a:lnTo>
                    <a:pt x="20745" y="260152"/>
                  </a:lnTo>
                  <a:cubicBezTo>
                    <a:pt x="9288" y="260152"/>
                    <a:pt x="0" y="250864"/>
                    <a:pt x="0" y="239407"/>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9" name="TextBox 9"/>
            <p:cNvSpPr txBox="1"/>
            <p:nvPr/>
          </p:nvSpPr>
          <p:spPr>
            <a:xfrm>
              <a:off x="0" y="-38100"/>
              <a:ext cx="1046692" cy="298252"/>
            </a:xfrm>
            <a:prstGeom prst="rect">
              <a:avLst/>
            </a:prstGeom>
          </p:spPr>
          <p:txBody>
            <a:bodyPr lIns="50800" tIns="50800" rIns="50800" bIns="50800" rtlCol="0" anchor="ctr"/>
            <a:lstStyle/>
            <a:p>
              <a:pPr marL="0" lvl="0" indent="0" algn="ctr">
                <a:lnSpc>
                  <a:spcPts val="3355"/>
                </a:lnSpc>
                <a:spcBef>
                  <a:spcPct val="0"/>
                </a:spcBef>
              </a:pPr>
            </a:p>
          </p:txBody>
        </p:sp>
      </p:grpSp>
      <p:sp>
        <p:nvSpPr>
          <p:cNvPr id="10" name="TextBox 10"/>
          <p:cNvSpPr txBox="1"/>
          <p:nvPr/>
        </p:nvSpPr>
        <p:spPr>
          <a:xfrm>
            <a:off x="1507444" y="5512550"/>
            <a:ext cx="7648285" cy="1105292"/>
          </a:xfrm>
          <a:prstGeom prst="rect">
            <a:avLst/>
          </a:prstGeom>
        </p:spPr>
        <p:txBody>
          <a:bodyPr lIns="0" tIns="0" rIns="0" bIns="0" rtlCol="0" anchor="t">
            <a:spAutoFit/>
          </a:bodyPr>
          <a:lstStyle/>
          <a:p>
            <a:pPr algn="l">
              <a:lnSpc>
                <a:spcPts val="3050"/>
              </a:lnSpc>
            </a:pPr>
            <a:r>
              <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rPr>
              <a:t> Hậu quả: thiết bị thực thi mã độc.</a:t>
            </a:r>
            <a:endPar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050"/>
              </a:lnSpc>
              <a:spcBef>
                <a:spcPct val="0"/>
              </a:spcBef>
            </a:pPr>
            <a:r>
              <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rPr>
              <a:t>- Giảm thiểu: ký manifest bằng RSA-PSS và neo khóa công khai tin cậy.</a:t>
            </a:r>
            <a:endPar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sp>
        <p:nvSpPr>
          <p:cNvPr id="11" name="TextBox 11"/>
          <p:cNvSpPr txBox="1"/>
          <p:nvPr/>
        </p:nvSpPr>
        <p:spPr>
          <a:xfrm>
            <a:off x="2546553" y="4885155"/>
            <a:ext cx="6609175" cy="478032"/>
          </a:xfrm>
          <a:prstGeom prst="rect">
            <a:avLst/>
          </a:prstGeom>
        </p:spPr>
        <p:txBody>
          <a:bodyPr lIns="0" tIns="0" rIns="0" bIns="0" rtlCol="0" anchor="t">
            <a:spAutoFit/>
          </a:bodyPr>
          <a:lstStyle/>
          <a:p>
            <a:pPr algn="l">
              <a:lnSpc>
                <a:spcPts val="3870"/>
              </a:lnSpc>
              <a:spcBef>
                <a:spcPct val="0"/>
              </a:spcBef>
            </a:pPr>
            <a:r>
              <a:rPr lang="en-US" sz="2765" b="1">
                <a:solidFill>
                  <a:srgbClr val="FFFFFF"/>
                </a:solidFill>
                <a:latin typeface="Montserrat Bold" panose="00000800000000000000"/>
                <a:ea typeface="Montserrat Bold" panose="00000800000000000000"/>
                <a:cs typeface="Montserrat Bold" panose="00000800000000000000"/>
                <a:sym typeface="Montserrat Bold" panose="00000800000000000000"/>
              </a:rPr>
              <a:t>Giả</a:t>
            </a:r>
            <a:r>
              <a:rPr lang="en-US" sz="2765" b="1">
                <a:solidFill>
                  <a:srgbClr val="FFFFFF"/>
                </a:solidFill>
                <a:latin typeface="Montserrat Bold" panose="00000800000000000000"/>
                <a:ea typeface="Montserrat Bold" panose="00000800000000000000"/>
                <a:cs typeface="Montserrat Bold" panose="00000800000000000000"/>
                <a:sym typeface="Montserrat Bold" panose="00000800000000000000"/>
              </a:rPr>
              <a:t> mạo firmware</a:t>
            </a:r>
            <a:endParaRPr lang="en-US" sz="2765"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2" name="TextBox 12"/>
          <p:cNvSpPr txBox="1"/>
          <p:nvPr/>
        </p:nvSpPr>
        <p:spPr>
          <a:xfrm>
            <a:off x="1507444" y="4903351"/>
            <a:ext cx="1039109" cy="477957"/>
          </a:xfrm>
          <a:prstGeom prst="rect">
            <a:avLst/>
          </a:prstGeom>
        </p:spPr>
        <p:txBody>
          <a:bodyPr lIns="0" tIns="0" rIns="0" bIns="0" rtlCol="0" anchor="t">
            <a:spAutoFit/>
          </a:bodyPr>
          <a:lstStyle/>
          <a:p>
            <a:pPr algn="l">
              <a:lnSpc>
                <a:spcPts val="3870"/>
              </a:lnSpc>
              <a:spcBef>
                <a:spcPct val="0"/>
              </a:spcBef>
            </a:pPr>
            <a:r>
              <a:rPr lang="en-US" sz="2765" b="1">
                <a:solidFill>
                  <a:srgbClr val="FFFFFF"/>
                </a:solidFill>
                <a:latin typeface="Montserrat Bold" panose="00000800000000000000"/>
                <a:ea typeface="Montserrat Bold" panose="00000800000000000000"/>
                <a:cs typeface="Montserrat Bold" panose="00000800000000000000"/>
                <a:sym typeface="Montserrat Bold" panose="00000800000000000000"/>
              </a:rPr>
              <a:t>01</a:t>
            </a:r>
            <a:endParaRPr lang="en-US" sz="2765"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3" name="TextBox 13"/>
          <p:cNvSpPr txBox="1"/>
          <p:nvPr/>
        </p:nvSpPr>
        <p:spPr>
          <a:xfrm>
            <a:off x="10071554" y="3610938"/>
            <a:ext cx="1022862" cy="471378"/>
          </a:xfrm>
          <a:prstGeom prst="rect">
            <a:avLst/>
          </a:prstGeom>
        </p:spPr>
        <p:txBody>
          <a:bodyPr lIns="0" tIns="0" rIns="0" bIns="0" rtlCol="0" anchor="t">
            <a:spAutoFit/>
          </a:bodyPr>
          <a:lstStyle/>
          <a:p>
            <a:pPr algn="l">
              <a:lnSpc>
                <a:spcPts val="3810"/>
              </a:lnSpc>
              <a:spcBef>
                <a:spcPct val="0"/>
              </a:spcBef>
            </a:pPr>
            <a:r>
              <a:rPr lang="en-US" sz="2720" b="1">
                <a:solidFill>
                  <a:srgbClr val="FFFFFF"/>
                </a:solidFill>
                <a:latin typeface="Montserrat Bold" panose="00000800000000000000"/>
                <a:ea typeface="Montserrat Bold" panose="00000800000000000000"/>
                <a:cs typeface="Montserrat Bold" panose="00000800000000000000"/>
                <a:sym typeface="Montserrat Bold" panose="00000800000000000000"/>
              </a:rPr>
              <a:t>02</a:t>
            </a:r>
            <a:endParaRPr lang="en-US" sz="272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4" name="TextBox 14"/>
          <p:cNvSpPr txBox="1"/>
          <p:nvPr/>
        </p:nvSpPr>
        <p:spPr>
          <a:xfrm>
            <a:off x="11094416" y="3610938"/>
            <a:ext cx="6505834" cy="471451"/>
          </a:xfrm>
          <a:prstGeom prst="rect">
            <a:avLst/>
          </a:prstGeom>
        </p:spPr>
        <p:txBody>
          <a:bodyPr lIns="0" tIns="0" rIns="0" bIns="0" rtlCol="0" anchor="t">
            <a:spAutoFit/>
          </a:bodyPr>
          <a:lstStyle/>
          <a:p>
            <a:pPr algn="l">
              <a:lnSpc>
                <a:spcPts val="3810"/>
              </a:lnSpc>
              <a:spcBef>
                <a:spcPct val="0"/>
              </a:spcBef>
            </a:pPr>
            <a:r>
              <a:rPr lang="en-US" sz="2720" b="1">
                <a:solidFill>
                  <a:srgbClr val="FFFFFF"/>
                </a:solidFill>
                <a:latin typeface="Montserrat Bold" panose="00000800000000000000"/>
                <a:ea typeface="Montserrat Bold" panose="00000800000000000000"/>
                <a:cs typeface="Montserrat Bold" panose="00000800000000000000"/>
                <a:sym typeface="Montserrat Bold" panose="00000800000000000000"/>
              </a:rPr>
              <a:t>Sửa</a:t>
            </a:r>
            <a:r>
              <a:rPr lang="en-US" sz="2720" b="1">
                <a:solidFill>
                  <a:srgbClr val="FFFFFF"/>
                </a:solidFill>
                <a:latin typeface="Montserrat Bold" panose="00000800000000000000"/>
                <a:ea typeface="Montserrat Bold" panose="00000800000000000000"/>
                <a:cs typeface="Montserrat Bold" panose="00000800000000000000"/>
                <a:sym typeface="Montserrat Bold" panose="00000800000000000000"/>
              </a:rPr>
              <a:t> đổi firmware</a:t>
            </a:r>
            <a:endParaRPr lang="en-US" sz="272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15" name="Group 15"/>
          <p:cNvGrpSpPr/>
          <p:nvPr/>
        </p:nvGrpSpPr>
        <p:grpSpPr>
          <a:xfrm rot="0">
            <a:off x="9592810" y="6135409"/>
            <a:ext cx="9329646" cy="2318856"/>
            <a:chOff x="0" y="0"/>
            <a:chExt cx="1046692" cy="260152"/>
          </a:xfrm>
        </p:grpSpPr>
        <p:sp>
          <p:nvSpPr>
            <p:cNvPr id="16" name="Freeform 16"/>
            <p:cNvSpPr/>
            <p:nvPr/>
          </p:nvSpPr>
          <p:spPr>
            <a:xfrm>
              <a:off x="0" y="0"/>
              <a:ext cx="1046692" cy="260152"/>
            </a:xfrm>
            <a:custGeom>
              <a:avLst/>
              <a:gdLst/>
              <a:ahLst/>
              <a:cxnLst/>
              <a:rect l="l" t="t" r="r" b="b"/>
              <a:pathLst>
                <a:path w="1046692" h="260152">
                  <a:moveTo>
                    <a:pt x="20745" y="0"/>
                  </a:moveTo>
                  <a:lnTo>
                    <a:pt x="1025947" y="0"/>
                  </a:lnTo>
                  <a:cubicBezTo>
                    <a:pt x="1037404" y="0"/>
                    <a:pt x="1046692" y="9288"/>
                    <a:pt x="1046692" y="20745"/>
                  </a:cubicBezTo>
                  <a:lnTo>
                    <a:pt x="1046692" y="239407"/>
                  </a:lnTo>
                  <a:cubicBezTo>
                    <a:pt x="1046692" y="250864"/>
                    <a:pt x="1037404" y="260152"/>
                    <a:pt x="1025947" y="260152"/>
                  </a:cubicBezTo>
                  <a:lnTo>
                    <a:pt x="20745" y="260152"/>
                  </a:lnTo>
                  <a:cubicBezTo>
                    <a:pt x="9288" y="260152"/>
                    <a:pt x="0" y="250864"/>
                    <a:pt x="0" y="239407"/>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17" name="TextBox 17"/>
            <p:cNvSpPr txBox="1"/>
            <p:nvPr/>
          </p:nvSpPr>
          <p:spPr>
            <a:xfrm>
              <a:off x="0" y="-38100"/>
              <a:ext cx="1046692" cy="298252"/>
            </a:xfrm>
            <a:prstGeom prst="rect">
              <a:avLst/>
            </a:prstGeom>
          </p:spPr>
          <p:txBody>
            <a:bodyPr lIns="50800" tIns="50800" rIns="50800" bIns="50800" rtlCol="0" anchor="ctr"/>
            <a:lstStyle/>
            <a:p>
              <a:pPr marL="0" lvl="0" indent="0" algn="ctr">
                <a:lnSpc>
                  <a:spcPts val="3355"/>
                </a:lnSpc>
                <a:spcBef>
                  <a:spcPct val="0"/>
                </a:spcBef>
              </a:pPr>
            </a:p>
          </p:txBody>
        </p:sp>
      </p:grpSp>
      <p:sp>
        <p:nvSpPr>
          <p:cNvPr id="18" name="TextBox 18"/>
          <p:cNvSpPr txBox="1"/>
          <p:nvPr/>
        </p:nvSpPr>
        <p:spPr>
          <a:xfrm>
            <a:off x="11074697" y="6373731"/>
            <a:ext cx="6380410" cy="463464"/>
          </a:xfrm>
          <a:prstGeom prst="rect">
            <a:avLst/>
          </a:prstGeom>
        </p:spPr>
        <p:txBody>
          <a:bodyPr lIns="0" tIns="0" rIns="0" bIns="0" rtlCol="0" anchor="t">
            <a:spAutoFit/>
          </a:bodyPr>
          <a:lstStyle/>
          <a:p>
            <a:pPr algn="l">
              <a:lnSpc>
                <a:spcPts val="3735"/>
              </a:lnSpc>
              <a:spcBef>
                <a:spcPct val="0"/>
              </a:spcBef>
            </a:pPr>
            <a:r>
              <a:rPr lang="en-US" sz="2670" b="1">
                <a:solidFill>
                  <a:srgbClr val="FFFFFF"/>
                </a:solidFill>
                <a:latin typeface="Montserrat Bold" panose="00000800000000000000"/>
                <a:ea typeface="Montserrat Bold" panose="00000800000000000000"/>
                <a:cs typeface="Montserrat Bold" panose="00000800000000000000"/>
                <a:sym typeface="Montserrat Bold" panose="00000800000000000000"/>
              </a:rPr>
              <a:t>Phát lại</a:t>
            </a:r>
            <a:r>
              <a:rPr lang="en-US" sz="2670" b="1">
                <a:solidFill>
                  <a:srgbClr val="FFFFFF"/>
                </a:solidFill>
                <a:latin typeface="Montserrat Bold" panose="00000800000000000000"/>
                <a:ea typeface="Montserrat Bold" panose="00000800000000000000"/>
                <a:cs typeface="Montserrat Bold" panose="00000800000000000000"/>
                <a:sym typeface="Montserrat Bold" panose="00000800000000000000"/>
              </a:rPr>
              <a:t> phiên bản cũ</a:t>
            </a:r>
            <a:endParaRPr lang="en-US" sz="267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9" name="TextBox 19"/>
          <p:cNvSpPr txBox="1"/>
          <p:nvPr/>
        </p:nvSpPr>
        <p:spPr>
          <a:xfrm>
            <a:off x="10071554" y="6373731"/>
            <a:ext cx="1003142" cy="463392"/>
          </a:xfrm>
          <a:prstGeom prst="rect">
            <a:avLst/>
          </a:prstGeom>
        </p:spPr>
        <p:txBody>
          <a:bodyPr lIns="0" tIns="0" rIns="0" bIns="0" rtlCol="0" anchor="t">
            <a:spAutoFit/>
          </a:bodyPr>
          <a:lstStyle/>
          <a:p>
            <a:pPr algn="l">
              <a:lnSpc>
                <a:spcPts val="3735"/>
              </a:lnSpc>
              <a:spcBef>
                <a:spcPct val="0"/>
              </a:spcBef>
            </a:pPr>
            <a:r>
              <a:rPr lang="en-US" sz="2670" b="1">
                <a:solidFill>
                  <a:srgbClr val="FFFFFF"/>
                </a:solidFill>
                <a:latin typeface="Montserrat Bold" panose="00000800000000000000"/>
                <a:ea typeface="Montserrat Bold" panose="00000800000000000000"/>
                <a:cs typeface="Montserrat Bold" panose="00000800000000000000"/>
                <a:sym typeface="Montserrat Bold" panose="00000800000000000000"/>
              </a:rPr>
              <a:t>03</a:t>
            </a:r>
            <a:endParaRPr lang="en-US" sz="267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0" name="Freeform 20"/>
          <p:cNvSpPr/>
          <p:nvPr/>
        </p:nvSpPr>
        <p:spPr>
          <a:xfrm>
            <a:off x="-2108849" y="7310674"/>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21" name="Group 21"/>
          <p:cNvGrpSpPr/>
          <p:nvPr/>
        </p:nvGrpSpPr>
        <p:grpSpPr>
          <a:xfrm rot="0">
            <a:off x="1028700" y="8848918"/>
            <a:ext cx="4155559" cy="3571183"/>
            <a:chOff x="0" y="0"/>
            <a:chExt cx="812800" cy="698500"/>
          </a:xfrm>
        </p:grpSpPr>
        <p:sp>
          <p:nvSpPr>
            <p:cNvPr id="22" name="Freeform 22"/>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23" name="TextBox 23"/>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24" name="Group 24"/>
          <p:cNvGrpSpPr/>
          <p:nvPr/>
        </p:nvGrpSpPr>
        <p:grpSpPr>
          <a:xfrm rot="0">
            <a:off x="3746822" y="8848918"/>
            <a:ext cx="1510485" cy="1298073"/>
            <a:chOff x="0" y="0"/>
            <a:chExt cx="812800" cy="698500"/>
          </a:xfrm>
        </p:grpSpPr>
        <p:sp>
          <p:nvSpPr>
            <p:cNvPr id="25" name="Freeform 2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47000"/>
                  </a:srgbClr>
                </a:gs>
                <a:gs pos="100000">
                  <a:srgbClr val="035E8E">
                    <a:alpha val="0"/>
                  </a:srgbClr>
                </a:gs>
              </a:gsLst>
              <a:lin ang="0"/>
            </a:gradFill>
          </p:spPr>
        </p:sp>
        <p:sp>
          <p:nvSpPr>
            <p:cNvPr id="26" name="TextBox 26"/>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27" name="TextBox 27"/>
          <p:cNvSpPr txBox="1"/>
          <p:nvPr/>
        </p:nvSpPr>
        <p:spPr>
          <a:xfrm>
            <a:off x="10071554" y="4276016"/>
            <a:ext cx="7648285" cy="1105292"/>
          </a:xfrm>
          <a:prstGeom prst="rect">
            <a:avLst/>
          </a:prstGeom>
        </p:spPr>
        <p:txBody>
          <a:bodyPr lIns="0" tIns="0" rIns="0" bIns="0" rtlCol="0" anchor="t">
            <a:spAutoFit/>
          </a:bodyPr>
          <a:lstStyle/>
          <a:p>
            <a:pPr algn="l">
              <a:lnSpc>
                <a:spcPts val="3050"/>
              </a:lnSpc>
            </a:pPr>
            <a:r>
              <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rPr>
              <a:t> Hậu quả: thay đổi chức năng hoặc làm hỏng thiết bị.</a:t>
            </a:r>
            <a:endPar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050"/>
              </a:lnSpc>
              <a:spcBef>
                <a:spcPct val="0"/>
              </a:spcBef>
            </a:pPr>
            <a:r>
              <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rPr>
              <a:t>- Giảm thiểu: AES-GCM kết hợp SHA-256.</a:t>
            </a:r>
            <a:endPar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050"/>
              </a:lnSpc>
              <a:spcBef>
                <a:spcPct val="0"/>
              </a:spcBef>
            </a:pPr>
          </a:p>
        </p:txBody>
      </p:sp>
      <p:sp>
        <p:nvSpPr>
          <p:cNvPr id="28" name="TextBox 28"/>
          <p:cNvSpPr txBox="1"/>
          <p:nvPr/>
        </p:nvSpPr>
        <p:spPr>
          <a:xfrm>
            <a:off x="10071554" y="7128629"/>
            <a:ext cx="7648285" cy="1105292"/>
          </a:xfrm>
          <a:prstGeom prst="rect">
            <a:avLst/>
          </a:prstGeom>
        </p:spPr>
        <p:txBody>
          <a:bodyPr lIns="0" tIns="0" rIns="0" bIns="0" rtlCol="0" anchor="t">
            <a:spAutoFit/>
          </a:bodyPr>
          <a:lstStyle/>
          <a:p>
            <a:pPr algn="l">
              <a:lnSpc>
                <a:spcPts val="3050"/>
              </a:lnSpc>
            </a:pPr>
            <a:r>
              <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rPr>
              <a:t> Hậu quả: khôi phục lỗ hổng đã được sửa.</a:t>
            </a:r>
            <a:endPar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050"/>
              </a:lnSpc>
              <a:spcBef>
                <a:spcPct val="0"/>
              </a:spcBef>
            </a:pPr>
            <a:r>
              <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rPr>
              <a:t>- Giảm thiểu: sequence tăng đơn điệu và anti-rollback.</a:t>
            </a:r>
            <a:endParaRPr lang="en-US" sz="218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050"/>
              </a:lnSpc>
              <a:spcBef>
                <a:spcPct val="0"/>
              </a:spcBef>
            </a:p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sp>
        <p:nvSpPr>
          <p:cNvPr id="3" name="TextBox 3"/>
          <p:cNvSpPr txBox="1"/>
          <p:nvPr/>
        </p:nvSpPr>
        <p:spPr>
          <a:xfrm>
            <a:off x="1028700" y="878511"/>
            <a:ext cx="10181165" cy="2053639"/>
          </a:xfrm>
          <a:prstGeom prst="rect">
            <a:avLst/>
          </a:prstGeom>
        </p:spPr>
        <p:txBody>
          <a:bodyPr lIns="0" tIns="0" rIns="0" bIns="0" rtlCol="0" anchor="t">
            <a:spAutoFit/>
          </a:bodyPr>
          <a:lstStyle/>
          <a:p>
            <a:pPr algn="l">
              <a:lnSpc>
                <a:spcPts val="8240"/>
              </a:lnSpc>
              <a:spcBef>
                <a:spcPct val="0"/>
              </a:spcBef>
            </a:pPr>
            <a:r>
              <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RỦI RO VÀ BIỆN PHÁP GIẢM THIỂU</a:t>
            </a:r>
            <a:endPar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grpSp>
        <p:nvGrpSpPr>
          <p:cNvPr id="4" name="Group 4"/>
          <p:cNvGrpSpPr/>
          <p:nvPr/>
        </p:nvGrpSpPr>
        <p:grpSpPr>
          <a:xfrm rot="0">
            <a:off x="1485874" y="3425829"/>
            <a:ext cx="9329646" cy="2318856"/>
            <a:chOff x="0" y="0"/>
            <a:chExt cx="1046692" cy="260152"/>
          </a:xfrm>
        </p:grpSpPr>
        <p:sp>
          <p:nvSpPr>
            <p:cNvPr id="5" name="Freeform 5"/>
            <p:cNvSpPr/>
            <p:nvPr/>
          </p:nvSpPr>
          <p:spPr>
            <a:xfrm>
              <a:off x="0" y="0"/>
              <a:ext cx="1046692" cy="260152"/>
            </a:xfrm>
            <a:custGeom>
              <a:avLst/>
              <a:gdLst/>
              <a:ahLst/>
              <a:cxnLst/>
              <a:rect l="l" t="t" r="r" b="b"/>
              <a:pathLst>
                <a:path w="1046692" h="260152">
                  <a:moveTo>
                    <a:pt x="20745" y="0"/>
                  </a:moveTo>
                  <a:lnTo>
                    <a:pt x="1025947" y="0"/>
                  </a:lnTo>
                  <a:cubicBezTo>
                    <a:pt x="1037404" y="0"/>
                    <a:pt x="1046692" y="9288"/>
                    <a:pt x="1046692" y="20745"/>
                  </a:cubicBezTo>
                  <a:lnTo>
                    <a:pt x="1046692" y="239407"/>
                  </a:lnTo>
                  <a:cubicBezTo>
                    <a:pt x="1046692" y="250864"/>
                    <a:pt x="1037404" y="260152"/>
                    <a:pt x="1025947" y="260152"/>
                  </a:cubicBezTo>
                  <a:lnTo>
                    <a:pt x="20745" y="260152"/>
                  </a:lnTo>
                  <a:cubicBezTo>
                    <a:pt x="9288" y="260152"/>
                    <a:pt x="0" y="250864"/>
                    <a:pt x="0" y="239407"/>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6" name="TextBox 6"/>
            <p:cNvSpPr txBox="1"/>
            <p:nvPr/>
          </p:nvSpPr>
          <p:spPr>
            <a:xfrm>
              <a:off x="0" y="-38100"/>
              <a:ext cx="1046692" cy="298252"/>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7" name="Group 7"/>
          <p:cNvGrpSpPr/>
          <p:nvPr/>
        </p:nvGrpSpPr>
        <p:grpSpPr>
          <a:xfrm rot="0">
            <a:off x="8568846" y="6128198"/>
            <a:ext cx="9329646" cy="2318856"/>
            <a:chOff x="0" y="0"/>
            <a:chExt cx="1046692" cy="260152"/>
          </a:xfrm>
        </p:grpSpPr>
        <p:sp>
          <p:nvSpPr>
            <p:cNvPr id="8" name="Freeform 8"/>
            <p:cNvSpPr/>
            <p:nvPr/>
          </p:nvSpPr>
          <p:spPr>
            <a:xfrm>
              <a:off x="0" y="0"/>
              <a:ext cx="1046692" cy="260152"/>
            </a:xfrm>
            <a:custGeom>
              <a:avLst/>
              <a:gdLst/>
              <a:ahLst/>
              <a:cxnLst/>
              <a:rect l="l" t="t" r="r" b="b"/>
              <a:pathLst>
                <a:path w="1046692" h="260152">
                  <a:moveTo>
                    <a:pt x="20745" y="0"/>
                  </a:moveTo>
                  <a:lnTo>
                    <a:pt x="1025947" y="0"/>
                  </a:lnTo>
                  <a:cubicBezTo>
                    <a:pt x="1037404" y="0"/>
                    <a:pt x="1046692" y="9288"/>
                    <a:pt x="1046692" y="20745"/>
                  </a:cubicBezTo>
                  <a:lnTo>
                    <a:pt x="1046692" y="239407"/>
                  </a:lnTo>
                  <a:cubicBezTo>
                    <a:pt x="1046692" y="250864"/>
                    <a:pt x="1037404" y="260152"/>
                    <a:pt x="1025947" y="260152"/>
                  </a:cubicBezTo>
                  <a:lnTo>
                    <a:pt x="20745" y="260152"/>
                  </a:lnTo>
                  <a:cubicBezTo>
                    <a:pt x="9288" y="260152"/>
                    <a:pt x="0" y="250864"/>
                    <a:pt x="0" y="239407"/>
                  </a:cubicBezTo>
                  <a:lnTo>
                    <a:pt x="0" y="20745"/>
                  </a:lnTo>
                  <a:cubicBezTo>
                    <a:pt x="0" y="9288"/>
                    <a:pt x="9288" y="0"/>
                    <a:pt x="20745" y="0"/>
                  </a:cubicBezTo>
                  <a:close/>
                </a:path>
              </a:pathLst>
            </a:custGeom>
            <a:gradFill rotWithShape="1">
              <a:gsLst>
                <a:gs pos="0">
                  <a:srgbClr val="31A1D4">
                    <a:alpha val="47000"/>
                  </a:srgbClr>
                </a:gs>
                <a:gs pos="100000">
                  <a:srgbClr val="035E8E">
                    <a:alpha val="0"/>
                  </a:srgbClr>
                </a:gs>
              </a:gsLst>
              <a:lin ang="2700000"/>
            </a:gradFill>
          </p:spPr>
        </p:sp>
        <p:sp>
          <p:nvSpPr>
            <p:cNvPr id="9" name="TextBox 9"/>
            <p:cNvSpPr txBox="1"/>
            <p:nvPr/>
          </p:nvSpPr>
          <p:spPr>
            <a:xfrm>
              <a:off x="0" y="-38100"/>
              <a:ext cx="1046692" cy="298252"/>
            </a:xfrm>
            <a:prstGeom prst="rect">
              <a:avLst/>
            </a:prstGeom>
          </p:spPr>
          <p:txBody>
            <a:bodyPr lIns="50800" tIns="50800" rIns="50800" bIns="50800" rtlCol="0" anchor="ctr"/>
            <a:lstStyle/>
            <a:p>
              <a:pPr marL="0" lvl="0" indent="0" algn="ctr">
                <a:lnSpc>
                  <a:spcPts val="3355"/>
                </a:lnSpc>
                <a:spcBef>
                  <a:spcPct val="0"/>
                </a:spcBef>
              </a:pPr>
            </a:p>
          </p:txBody>
        </p:sp>
      </p:grpSp>
      <p:sp>
        <p:nvSpPr>
          <p:cNvPr id="10" name="TextBox 10"/>
          <p:cNvSpPr txBox="1"/>
          <p:nvPr/>
        </p:nvSpPr>
        <p:spPr>
          <a:xfrm>
            <a:off x="2215709" y="4376758"/>
            <a:ext cx="7390247" cy="1069288"/>
          </a:xfrm>
          <a:prstGeom prst="rect">
            <a:avLst/>
          </a:prstGeom>
        </p:spPr>
        <p:txBody>
          <a:bodyPr lIns="0" tIns="0" rIns="0" bIns="0" rtlCol="0" anchor="t">
            <a:spAutoFit/>
          </a:bodyPr>
          <a:lstStyle/>
          <a:p>
            <a:pPr algn="l">
              <a:lnSpc>
                <a:spcPts val="2950"/>
              </a:lnSpc>
            </a:pPr>
            <a:r>
              <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rPr>
              <a:t> Hậu quả: kẻ tấn công tạo firmware có chữ ký hợp lệ.</a:t>
            </a:r>
            <a:endPar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2950"/>
              </a:lnSpc>
              <a:spcBef>
                <a:spcPct val="0"/>
              </a:spcBef>
            </a:pPr>
            <a:r>
              <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rPr>
              <a:t>- Giảm thiểu: lưu khóa trong HSM, phân quyền và luân chuyển khóa.</a:t>
            </a:r>
            <a:endPar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sp>
        <p:nvSpPr>
          <p:cNvPr id="11" name="TextBox 11"/>
          <p:cNvSpPr txBox="1"/>
          <p:nvPr/>
        </p:nvSpPr>
        <p:spPr>
          <a:xfrm>
            <a:off x="3128207" y="3628878"/>
            <a:ext cx="6477749" cy="941463"/>
          </a:xfrm>
          <a:prstGeom prst="rect">
            <a:avLst/>
          </a:prstGeom>
        </p:spPr>
        <p:txBody>
          <a:bodyPr lIns="0" tIns="0" rIns="0" bIns="0" rtlCol="0" anchor="t">
            <a:spAutoFit/>
          </a:bodyPr>
          <a:lstStyle/>
          <a:p>
            <a:pPr algn="l">
              <a:lnSpc>
                <a:spcPts val="3790"/>
              </a:lnSpc>
            </a:pPr>
            <a:r>
              <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rPr>
              <a:t>Lộ</a:t>
            </a:r>
            <a:r>
              <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rPr>
              <a:t> khóa ký</a:t>
            </a:r>
            <a:endPar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a:p>
            <a:pPr algn="l">
              <a:lnSpc>
                <a:spcPts val="3790"/>
              </a:lnSpc>
              <a:spcBef>
                <a:spcPct val="0"/>
              </a:spcBef>
            </a:pPr>
          </a:p>
        </p:txBody>
      </p:sp>
      <p:sp>
        <p:nvSpPr>
          <p:cNvPr id="12" name="TextBox 12"/>
          <p:cNvSpPr txBox="1"/>
          <p:nvPr/>
        </p:nvSpPr>
        <p:spPr>
          <a:xfrm>
            <a:off x="2109761" y="3628878"/>
            <a:ext cx="1018446" cy="460138"/>
          </a:xfrm>
          <a:prstGeom prst="rect">
            <a:avLst/>
          </a:prstGeom>
        </p:spPr>
        <p:txBody>
          <a:bodyPr lIns="0" tIns="0" rIns="0" bIns="0" rtlCol="0" anchor="t">
            <a:spAutoFit/>
          </a:bodyPr>
          <a:lstStyle/>
          <a:p>
            <a:pPr algn="l">
              <a:lnSpc>
                <a:spcPts val="3790"/>
              </a:lnSpc>
              <a:spcBef>
                <a:spcPct val="0"/>
              </a:spcBef>
            </a:pPr>
            <a:r>
              <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rPr>
              <a:t>04</a:t>
            </a:r>
            <a:endPar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3" name="TextBox 13"/>
          <p:cNvSpPr txBox="1"/>
          <p:nvPr/>
        </p:nvSpPr>
        <p:spPr>
          <a:xfrm>
            <a:off x="9109479" y="6451802"/>
            <a:ext cx="1019165" cy="460429"/>
          </a:xfrm>
          <a:prstGeom prst="rect">
            <a:avLst/>
          </a:prstGeom>
        </p:spPr>
        <p:txBody>
          <a:bodyPr lIns="0" tIns="0" rIns="0" bIns="0" rtlCol="0" anchor="t">
            <a:spAutoFit/>
          </a:bodyPr>
          <a:lstStyle/>
          <a:p>
            <a:pPr algn="l">
              <a:lnSpc>
                <a:spcPts val="3795"/>
              </a:lnSpc>
              <a:spcBef>
                <a:spcPct val="0"/>
              </a:spcBef>
            </a:pPr>
            <a:r>
              <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rPr>
              <a:t>05</a:t>
            </a:r>
            <a:endPar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4" name="TextBox 14"/>
          <p:cNvSpPr txBox="1"/>
          <p:nvPr/>
        </p:nvSpPr>
        <p:spPr>
          <a:xfrm>
            <a:off x="10128644" y="6451802"/>
            <a:ext cx="6482319" cy="460429"/>
          </a:xfrm>
          <a:prstGeom prst="rect">
            <a:avLst/>
          </a:prstGeom>
        </p:spPr>
        <p:txBody>
          <a:bodyPr lIns="0" tIns="0" rIns="0" bIns="0" rtlCol="0" anchor="t">
            <a:spAutoFit/>
          </a:bodyPr>
          <a:lstStyle/>
          <a:p>
            <a:pPr algn="l">
              <a:lnSpc>
                <a:spcPts val="3795"/>
              </a:lnSpc>
              <a:spcBef>
                <a:spcPct val="0"/>
              </a:spcBef>
            </a:pPr>
            <a:r>
              <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rPr>
              <a:t>Cập</a:t>
            </a:r>
            <a:r>
              <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rPr>
              <a:t> nhật thất bại</a:t>
            </a:r>
            <a:endParaRPr lang="en-US" sz="271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15" name="Freeform 15"/>
          <p:cNvSpPr/>
          <p:nvPr/>
        </p:nvSpPr>
        <p:spPr>
          <a:xfrm>
            <a:off x="-2143370" y="6499427"/>
            <a:ext cx="9438577" cy="6748583"/>
          </a:xfrm>
          <a:custGeom>
            <a:avLst/>
            <a:gdLst/>
            <a:ahLst/>
            <a:cxnLst/>
            <a:rect l="l" t="t" r="r" b="b"/>
            <a:pathLst>
              <a:path w="9438577" h="6748583">
                <a:moveTo>
                  <a:pt x="0" y="0"/>
                </a:moveTo>
                <a:lnTo>
                  <a:pt x="9438577" y="0"/>
                </a:lnTo>
                <a:lnTo>
                  <a:pt x="9438577"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6" name="Group 16"/>
          <p:cNvGrpSpPr/>
          <p:nvPr/>
        </p:nvGrpSpPr>
        <p:grpSpPr>
          <a:xfrm rot="0">
            <a:off x="994179" y="8037671"/>
            <a:ext cx="4155559" cy="3571183"/>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9" name="Group 19"/>
          <p:cNvGrpSpPr/>
          <p:nvPr/>
        </p:nvGrpSpPr>
        <p:grpSpPr>
          <a:xfrm rot="0">
            <a:off x="3712301" y="8037671"/>
            <a:ext cx="1510485" cy="1298073"/>
            <a:chOff x="0" y="0"/>
            <a:chExt cx="812800" cy="698500"/>
          </a:xfrm>
        </p:grpSpPr>
        <p:sp>
          <p:nvSpPr>
            <p:cNvPr id="20" name="Freeform 2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47000"/>
                  </a:srgbClr>
                </a:gs>
                <a:gs pos="100000">
                  <a:srgbClr val="035E8E">
                    <a:alpha val="0"/>
                  </a:srgbClr>
                </a:gs>
              </a:gsLst>
              <a:lin ang="0"/>
            </a:gradFill>
          </p:spPr>
        </p:sp>
        <p:sp>
          <p:nvSpPr>
            <p:cNvPr id="21" name="TextBox 21"/>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22" name="TextBox 22"/>
          <p:cNvSpPr txBox="1"/>
          <p:nvPr/>
        </p:nvSpPr>
        <p:spPr>
          <a:xfrm>
            <a:off x="9109479" y="7016200"/>
            <a:ext cx="7390247" cy="1430853"/>
          </a:xfrm>
          <a:prstGeom prst="rect">
            <a:avLst/>
          </a:prstGeom>
        </p:spPr>
        <p:txBody>
          <a:bodyPr lIns="0" tIns="0" rIns="0" bIns="0" rtlCol="0" anchor="t">
            <a:spAutoFit/>
          </a:bodyPr>
          <a:lstStyle/>
          <a:p>
            <a:pPr algn="l">
              <a:lnSpc>
                <a:spcPts val="2950"/>
              </a:lnSpc>
            </a:pPr>
            <a:r>
              <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rPr>
              <a:t> Hậu quả: thiết bị không thể khởi động.</a:t>
            </a:r>
            <a:endPar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2950"/>
              </a:lnSpc>
              <a:spcBef>
                <a:spcPct val="0"/>
              </a:spcBef>
            </a:pPr>
            <a:r>
              <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rPr>
              <a:t>- Giảm thiểu: phân vùng A/B, staging, self-test và rollback.</a:t>
            </a:r>
            <a:endParaRPr lang="en-US" sz="210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2950"/>
              </a:lnSpc>
              <a:spcBef>
                <a:spcPct val="0"/>
              </a:spcBef>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grpSp>
        <p:nvGrpSpPr>
          <p:cNvPr id="3" name="Group 3"/>
          <p:cNvGrpSpPr/>
          <p:nvPr/>
        </p:nvGrpSpPr>
        <p:grpSpPr>
          <a:xfrm rot="0">
            <a:off x="1520396" y="4144605"/>
            <a:ext cx="4742670" cy="4676574"/>
            <a:chOff x="0" y="0"/>
            <a:chExt cx="532080" cy="524665"/>
          </a:xfrm>
        </p:grpSpPr>
        <p:sp>
          <p:nvSpPr>
            <p:cNvPr id="4" name="Freeform 4"/>
            <p:cNvSpPr/>
            <p:nvPr/>
          </p:nvSpPr>
          <p:spPr>
            <a:xfrm>
              <a:off x="0" y="0"/>
              <a:ext cx="532080" cy="524665"/>
            </a:xfrm>
            <a:custGeom>
              <a:avLst/>
              <a:gdLst/>
              <a:ahLst/>
              <a:cxnLst/>
              <a:rect l="l" t="t" r="r" b="b"/>
              <a:pathLst>
                <a:path w="532080" h="524665">
                  <a:moveTo>
                    <a:pt x="40810" y="0"/>
                  </a:moveTo>
                  <a:lnTo>
                    <a:pt x="491270" y="0"/>
                  </a:lnTo>
                  <a:cubicBezTo>
                    <a:pt x="513809" y="0"/>
                    <a:pt x="532080" y="18271"/>
                    <a:pt x="532080" y="40810"/>
                  </a:cubicBezTo>
                  <a:lnTo>
                    <a:pt x="532080" y="483855"/>
                  </a:lnTo>
                  <a:cubicBezTo>
                    <a:pt x="532080" y="506393"/>
                    <a:pt x="513809" y="524665"/>
                    <a:pt x="491270" y="524665"/>
                  </a:cubicBezTo>
                  <a:lnTo>
                    <a:pt x="40810" y="524665"/>
                  </a:lnTo>
                  <a:cubicBezTo>
                    <a:pt x="18271" y="524665"/>
                    <a:pt x="0" y="506393"/>
                    <a:pt x="0" y="483855"/>
                  </a:cubicBezTo>
                  <a:lnTo>
                    <a:pt x="0" y="40810"/>
                  </a:lnTo>
                  <a:cubicBezTo>
                    <a:pt x="0" y="18271"/>
                    <a:pt x="18271" y="0"/>
                    <a:pt x="40810" y="0"/>
                  </a:cubicBezTo>
                  <a:close/>
                </a:path>
              </a:pathLst>
            </a:custGeom>
            <a:gradFill rotWithShape="1">
              <a:gsLst>
                <a:gs pos="0">
                  <a:srgbClr val="31A1D4">
                    <a:alpha val="100000"/>
                  </a:srgbClr>
                </a:gs>
                <a:gs pos="100000">
                  <a:srgbClr val="001C37">
                    <a:alpha val="100000"/>
                  </a:srgbClr>
                </a:gs>
              </a:gsLst>
              <a:lin ang="2700000"/>
            </a:gradFill>
          </p:spPr>
        </p:sp>
        <p:sp>
          <p:nvSpPr>
            <p:cNvPr id="5" name="TextBox 5"/>
            <p:cNvSpPr txBox="1"/>
            <p:nvPr/>
          </p:nvSpPr>
          <p:spPr>
            <a:xfrm>
              <a:off x="0" y="-38100"/>
              <a:ext cx="532080" cy="562765"/>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6" name="Group 6"/>
          <p:cNvGrpSpPr/>
          <p:nvPr/>
        </p:nvGrpSpPr>
        <p:grpSpPr>
          <a:xfrm rot="0">
            <a:off x="12024934" y="4144605"/>
            <a:ext cx="4742670" cy="4676574"/>
            <a:chOff x="0" y="0"/>
            <a:chExt cx="532080" cy="524665"/>
          </a:xfrm>
        </p:grpSpPr>
        <p:sp>
          <p:nvSpPr>
            <p:cNvPr id="7" name="Freeform 7"/>
            <p:cNvSpPr/>
            <p:nvPr/>
          </p:nvSpPr>
          <p:spPr>
            <a:xfrm>
              <a:off x="0" y="0"/>
              <a:ext cx="532080" cy="524665"/>
            </a:xfrm>
            <a:custGeom>
              <a:avLst/>
              <a:gdLst/>
              <a:ahLst/>
              <a:cxnLst/>
              <a:rect l="l" t="t" r="r" b="b"/>
              <a:pathLst>
                <a:path w="532080" h="524665">
                  <a:moveTo>
                    <a:pt x="40810" y="0"/>
                  </a:moveTo>
                  <a:lnTo>
                    <a:pt x="491270" y="0"/>
                  </a:lnTo>
                  <a:cubicBezTo>
                    <a:pt x="513809" y="0"/>
                    <a:pt x="532080" y="18271"/>
                    <a:pt x="532080" y="40810"/>
                  </a:cubicBezTo>
                  <a:lnTo>
                    <a:pt x="532080" y="483855"/>
                  </a:lnTo>
                  <a:cubicBezTo>
                    <a:pt x="532080" y="506393"/>
                    <a:pt x="513809" y="524665"/>
                    <a:pt x="491270" y="524665"/>
                  </a:cubicBezTo>
                  <a:lnTo>
                    <a:pt x="40810" y="524665"/>
                  </a:lnTo>
                  <a:cubicBezTo>
                    <a:pt x="18271" y="524665"/>
                    <a:pt x="0" y="506393"/>
                    <a:pt x="0" y="483855"/>
                  </a:cubicBezTo>
                  <a:lnTo>
                    <a:pt x="0" y="40810"/>
                  </a:lnTo>
                  <a:cubicBezTo>
                    <a:pt x="0" y="18271"/>
                    <a:pt x="18271" y="0"/>
                    <a:pt x="40810" y="0"/>
                  </a:cubicBezTo>
                  <a:close/>
                </a:path>
              </a:pathLst>
            </a:custGeom>
            <a:gradFill rotWithShape="1">
              <a:gsLst>
                <a:gs pos="0">
                  <a:srgbClr val="31A1D4">
                    <a:alpha val="100000"/>
                  </a:srgbClr>
                </a:gs>
                <a:gs pos="100000">
                  <a:srgbClr val="001C37">
                    <a:alpha val="100000"/>
                  </a:srgbClr>
                </a:gs>
              </a:gsLst>
              <a:lin ang="2700000"/>
            </a:gradFill>
          </p:spPr>
        </p:sp>
        <p:sp>
          <p:nvSpPr>
            <p:cNvPr id="8" name="TextBox 8"/>
            <p:cNvSpPr txBox="1"/>
            <p:nvPr/>
          </p:nvSpPr>
          <p:spPr>
            <a:xfrm>
              <a:off x="0" y="-38100"/>
              <a:ext cx="532080" cy="562765"/>
            </a:xfrm>
            <a:prstGeom prst="rect">
              <a:avLst/>
            </a:prstGeom>
          </p:spPr>
          <p:txBody>
            <a:bodyPr lIns="50800" tIns="50800" rIns="50800" bIns="50800" rtlCol="0" anchor="ctr"/>
            <a:lstStyle/>
            <a:p>
              <a:pPr marL="0" lvl="0" indent="0" algn="ctr">
                <a:lnSpc>
                  <a:spcPts val="3355"/>
                </a:lnSpc>
                <a:spcBef>
                  <a:spcPct val="0"/>
                </a:spcBef>
              </a:pPr>
            </a:p>
          </p:txBody>
        </p:sp>
      </p:grpSp>
      <p:sp>
        <p:nvSpPr>
          <p:cNvPr id="9" name="Freeform 9"/>
          <p:cNvSpPr/>
          <p:nvPr/>
        </p:nvSpPr>
        <p:spPr>
          <a:xfrm>
            <a:off x="13568711" y="-3962307"/>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rot="0">
            <a:off x="16128358" y="-502202"/>
            <a:ext cx="4155559" cy="3571183"/>
            <a:chOff x="0" y="0"/>
            <a:chExt cx="812800" cy="698500"/>
          </a:xfrm>
        </p:grpSpPr>
        <p:sp>
          <p:nvSpPr>
            <p:cNvPr id="11" name="Freeform 1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2" name="TextBox 12"/>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3" name="Group 13"/>
          <p:cNvGrpSpPr/>
          <p:nvPr/>
        </p:nvGrpSpPr>
        <p:grpSpPr>
          <a:xfrm rot="0">
            <a:off x="15234643" y="515353"/>
            <a:ext cx="1787431" cy="1536073"/>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16" name="TextBox 16"/>
          <p:cNvSpPr txBox="1"/>
          <p:nvPr/>
        </p:nvSpPr>
        <p:spPr>
          <a:xfrm>
            <a:off x="3079042" y="1472186"/>
            <a:ext cx="11690650" cy="2041246"/>
          </a:xfrm>
          <a:prstGeom prst="rect">
            <a:avLst/>
          </a:prstGeom>
        </p:spPr>
        <p:txBody>
          <a:bodyPr lIns="0" tIns="0" rIns="0" bIns="0" rtlCol="0" anchor="t">
            <a:spAutoFit/>
          </a:bodyPr>
          <a:lstStyle/>
          <a:p>
            <a:pPr algn="ctr">
              <a:lnSpc>
                <a:spcPts val="8240"/>
              </a:lnSpc>
              <a:spcBef>
                <a:spcPct val="0"/>
              </a:spcBef>
            </a:pPr>
            <a:r>
              <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ĐÁNH GIÁ, HẠ</a:t>
            </a:r>
            <a:r>
              <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N CHẾ VÀ HƯỚNG PHÁT TRIỂN</a:t>
            </a:r>
            <a:endPar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
        <p:nvSpPr>
          <p:cNvPr id="17" name="TextBox 17"/>
          <p:cNvSpPr txBox="1"/>
          <p:nvPr/>
        </p:nvSpPr>
        <p:spPr>
          <a:xfrm>
            <a:off x="1791336" y="4770215"/>
            <a:ext cx="4192179" cy="3897163"/>
          </a:xfrm>
          <a:prstGeom prst="rect">
            <a:avLst/>
          </a:prstGeom>
        </p:spPr>
        <p:txBody>
          <a:bodyPr lIns="0" tIns="0" rIns="0" bIns="0" rtlCol="0" anchor="t">
            <a:spAutoFit/>
          </a:bodyPr>
          <a:lstStyle/>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Xác thực</a:t>
            </a: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nguồn phát hành bằng chữ ký số.</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Phát hiện firmware bị thay đổi.</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Chống cài đặt phiên bản cũ.</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Phục hồi khi bản cập nhật không vượt qua self-test.</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spcBef>
                <a:spcPct val="0"/>
              </a:spcBef>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Có code, manifest, log và ma trận kiểm thử.</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spcBef>
                <a:spcPct val="0"/>
              </a:spcBef>
            </a:pPr>
          </a:p>
        </p:txBody>
      </p:sp>
      <p:sp>
        <p:nvSpPr>
          <p:cNvPr id="18" name="TextBox 18"/>
          <p:cNvSpPr txBox="1"/>
          <p:nvPr/>
        </p:nvSpPr>
        <p:spPr>
          <a:xfrm>
            <a:off x="12541425" y="4770215"/>
            <a:ext cx="3955238" cy="3897163"/>
          </a:xfrm>
          <a:prstGeom prst="rect">
            <a:avLst/>
          </a:prstGeom>
        </p:spPr>
        <p:txBody>
          <a:bodyPr lIns="0" tIns="0" rIns="0" bIns="0" rtlCol="0" anchor="t">
            <a:spAutoFit/>
          </a:bodyPr>
          <a:lstStyle/>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Triển khai bằng ESP-IDF và esp_https_ota.</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Bổ sung Secure Boot, Flash Encryption và eFuse.</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Sử dụng HSM, key rotation và revocation.</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spcBef>
                <a:spcPct val="0"/>
              </a:spcBef>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Thử nghiệm phân vùng A/B và cập nhật theo từng nhóm thiết bị.</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spcBef>
                <a:spcPct val="0"/>
              </a:spcBef>
            </a:pPr>
          </a:p>
        </p:txBody>
      </p:sp>
      <p:sp>
        <p:nvSpPr>
          <p:cNvPr id="19" name="TextBox 19"/>
          <p:cNvSpPr txBox="1"/>
          <p:nvPr/>
        </p:nvSpPr>
        <p:spPr>
          <a:xfrm>
            <a:off x="2593532" y="4325706"/>
            <a:ext cx="2717163" cy="372845"/>
          </a:xfrm>
          <a:prstGeom prst="rect">
            <a:avLst/>
          </a:prstGeom>
        </p:spPr>
        <p:txBody>
          <a:bodyPr lIns="0" tIns="0" rIns="0" bIns="0" rtlCol="0" anchor="t">
            <a:spAutoFit/>
          </a:bodyPr>
          <a:lstStyle/>
          <a:p>
            <a:pPr algn="ctr">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Kết quả đạt được</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0" name="TextBox 20"/>
          <p:cNvSpPr txBox="1"/>
          <p:nvPr/>
        </p:nvSpPr>
        <p:spPr>
          <a:xfrm>
            <a:off x="13098071" y="4325706"/>
            <a:ext cx="2717163" cy="372845"/>
          </a:xfrm>
          <a:prstGeom prst="rect">
            <a:avLst/>
          </a:prstGeom>
        </p:spPr>
        <p:txBody>
          <a:bodyPr lIns="0" tIns="0" rIns="0" bIns="0" rtlCol="0" anchor="t">
            <a:spAutoFit/>
          </a:bodyPr>
          <a:lstStyle/>
          <a:p>
            <a:pPr algn="ctr">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Hướng phát triển</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grpSp>
        <p:nvGrpSpPr>
          <p:cNvPr id="21" name="Group 21"/>
          <p:cNvGrpSpPr/>
          <p:nvPr/>
        </p:nvGrpSpPr>
        <p:grpSpPr>
          <a:xfrm rot="0">
            <a:off x="6772665" y="4144605"/>
            <a:ext cx="4742670" cy="4676574"/>
            <a:chOff x="0" y="0"/>
            <a:chExt cx="532080" cy="524665"/>
          </a:xfrm>
        </p:grpSpPr>
        <p:sp>
          <p:nvSpPr>
            <p:cNvPr id="22" name="Freeform 22"/>
            <p:cNvSpPr/>
            <p:nvPr/>
          </p:nvSpPr>
          <p:spPr>
            <a:xfrm>
              <a:off x="0" y="0"/>
              <a:ext cx="532080" cy="524665"/>
            </a:xfrm>
            <a:custGeom>
              <a:avLst/>
              <a:gdLst/>
              <a:ahLst/>
              <a:cxnLst/>
              <a:rect l="l" t="t" r="r" b="b"/>
              <a:pathLst>
                <a:path w="532080" h="524665">
                  <a:moveTo>
                    <a:pt x="40810" y="0"/>
                  </a:moveTo>
                  <a:lnTo>
                    <a:pt x="491270" y="0"/>
                  </a:lnTo>
                  <a:cubicBezTo>
                    <a:pt x="513809" y="0"/>
                    <a:pt x="532080" y="18271"/>
                    <a:pt x="532080" y="40810"/>
                  </a:cubicBezTo>
                  <a:lnTo>
                    <a:pt x="532080" y="483855"/>
                  </a:lnTo>
                  <a:cubicBezTo>
                    <a:pt x="532080" y="506393"/>
                    <a:pt x="513809" y="524665"/>
                    <a:pt x="491270" y="524665"/>
                  </a:cubicBezTo>
                  <a:lnTo>
                    <a:pt x="40810" y="524665"/>
                  </a:lnTo>
                  <a:cubicBezTo>
                    <a:pt x="18271" y="524665"/>
                    <a:pt x="0" y="506393"/>
                    <a:pt x="0" y="483855"/>
                  </a:cubicBezTo>
                  <a:lnTo>
                    <a:pt x="0" y="40810"/>
                  </a:lnTo>
                  <a:cubicBezTo>
                    <a:pt x="0" y="18271"/>
                    <a:pt x="18271" y="0"/>
                    <a:pt x="40810" y="0"/>
                  </a:cubicBezTo>
                  <a:close/>
                </a:path>
              </a:pathLst>
            </a:custGeom>
            <a:gradFill rotWithShape="1">
              <a:gsLst>
                <a:gs pos="0">
                  <a:srgbClr val="31A1D4">
                    <a:alpha val="100000"/>
                  </a:srgbClr>
                </a:gs>
                <a:gs pos="100000">
                  <a:srgbClr val="001C37">
                    <a:alpha val="100000"/>
                  </a:srgbClr>
                </a:gs>
              </a:gsLst>
              <a:lin ang="2700000"/>
            </a:gradFill>
          </p:spPr>
        </p:sp>
        <p:sp>
          <p:nvSpPr>
            <p:cNvPr id="23" name="TextBox 23"/>
            <p:cNvSpPr txBox="1"/>
            <p:nvPr/>
          </p:nvSpPr>
          <p:spPr>
            <a:xfrm>
              <a:off x="0" y="-38100"/>
              <a:ext cx="532080" cy="562765"/>
            </a:xfrm>
            <a:prstGeom prst="rect">
              <a:avLst/>
            </a:prstGeom>
          </p:spPr>
          <p:txBody>
            <a:bodyPr lIns="50800" tIns="50800" rIns="50800" bIns="50800" rtlCol="0" anchor="ctr"/>
            <a:lstStyle/>
            <a:p>
              <a:pPr marL="0" lvl="0" indent="0" algn="ctr">
                <a:lnSpc>
                  <a:spcPts val="3355"/>
                </a:lnSpc>
                <a:spcBef>
                  <a:spcPct val="0"/>
                </a:spcBef>
              </a:pPr>
            </a:p>
          </p:txBody>
        </p:sp>
      </p:grpSp>
      <p:sp>
        <p:nvSpPr>
          <p:cNvPr id="24" name="TextBox 24"/>
          <p:cNvSpPr txBox="1"/>
          <p:nvPr/>
        </p:nvSpPr>
        <p:spPr>
          <a:xfrm>
            <a:off x="7845801" y="4325706"/>
            <a:ext cx="2717163" cy="372845"/>
          </a:xfrm>
          <a:prstGeom prst="rect">
            <a:avLst/>
          </a:prstGeom>
        </p:spPr>
        <p:txBody>
          <a:bodyPr lIns="0" tIns="0" rIns="0" bIns="0" rtlCol="0" anchor="t">
            <a:spAutoFit/>
          </a:bodyPr>
          <a:lstStyle/>
          <a:p>
            <a:pPr algn="ctr">
              <a:lnSpc>
                <a:spcPts val="3075"/>
              </a:lnSpc>
              <a:spcBef>
                <a:spcPct val="0"/>
              </a:spcBef>
            </a:pPr>
            <a:r>
              <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rPr>
              <a:t>Hạn chế</a:t>
            </a:r>
            <a:endParaRPr lang="en-US" sz="2200" b="1">
              <a:solidFill>
                <a:srgbClr val="FFFFFF"/>
              </a:solidFill>
              <a:latin typeface="Montserrat Bold" panose="00000800000000000000"/>
              <a:ea typeface="Montserrat Bold" panose="00000800000000000000"/>
              <a:cs typeface="Montserrat Bold" panose="00000800000000000000"/>
              <a:sym typeface="Montserrat Bold" panose="00000800000000000000"/>
            </a:endParaRPr>
          </a:p>
        </p:txBody>
      </p:sp>
      <p:sp>
        <p:nvSpPr>
          <p:cNvPr id="25" name="TextBox 25"/>
          <p:cNvSpPr txBox="1"/>
          <p:nvPr/>
        </p:nvSpPr>
        <p:spPr>
          <a:xfrm>
            <a:off x="7226764" y="4960451"/>
            <a:ext cx="3955238" cy="3506578"/>
          </a:xfrm>
          <a:prstGeom prst="rect">
            <a:avLst/>
          </a:prstGeom>
        </p:spPr>
        <p:txBody>
          <a:bodyPr lIns="0" tIns="0" rIns="0" bIns="0" rtlCol="0" anchor="t">
            <a:spAutoFit/>
          </a:bodyPr>
          <a:lstStyle/>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a:t>
            </a: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Chưa chạy trên thiết bị IoT hoặc bootloader thật.</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Chưa triển khai HTTPS/mTLS và quản lý vòng đời khóa.</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Chưa kiểm thử mất điện trong quá trình ghi flash.</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l">
              <a:lnSpc>
                <a:spcPts val="3105"/>
              </a:lnSpc>
              <a:spcBef>
                <a:spcPct val="0"/>
              </a:spcBef>
            </a:pPr>
            <a:r>
              <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rPr>
              <a:t>- Firmware giả lập có kích thước nhỏ.</a:t>
            </a:r>
            <a:endParaRPr lang="en-US" sz="2215">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18288000" cy="10287000"/>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1"/>
            <a:stretch>
              <a:fillRect t="-124631" r="-124631"/>
            </a:stretch>
          </a:blipFill>
        </p:spPr>
      </p:sp>
      <p:sp>
        <p:nvSpPr>
          <p:cNvPr id="3" name="Freeform 3"/>
          <p:cNvSpPr/>
          <p:nvPr/>
        </p:nvSpPr>
        <p:spPr>
          <a:xfrm>
            <a:off x="13568711" y="-3962307"/>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rot="0">
            <a:off x="16128358" y="-502202"/>
            <a:ext cx="4155559" cy="3571183"/>
            <a:chOff x="0" y="0"/>
            <a:chExt cx="812800" cy="698500"/>
          </a:xfrm>
        </p:grpSpPr>
        <p:sp>
          <p:nvSpPr>
            <p:cNvPr id="5" name="Freeform 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6" name="TextBox 6"/>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7" name="Group 7"/>
          <p:cNvGrpSpPr/>
          <p:nvPr/>
        </p:nvGrpSpPr>
        <p:grpSpPr>
          <a:xfrm rot="0">
            <a:off x="15234643" y="515353"/>
            <a:ext cx="1787431" cy="1536073"/>
            <a:chOff x="0" y="0"/>
            <a:chExt cx="812800" cy="698500"/>
          </a:xfrm>
        </p:grpSpPr>
        <p:sp>
          <p:nvSpPr>
            <p:cNvPr id="8" name="Freeform 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9" name="TextBox 9"/>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10" name="TextBox 10"/>
          <p:cNvSpPr txBox="1"/>
          <p:nvPr/>
        </p:nvSpPr>
        <p:spPr>
          <a:xfrm>
            <a:off x="3079042" y="914400"/>
            <a:ext cx="11690650" cy="1002961"/>
          </a:xfrm>
          <a:prstGeom prst="rect">
            <a:avLst/>
          </a:prstGeom>
        </p:spPr>
        <p:txBody>
          <a:bodyPr lIns="0" tIns="0" rIns="0" bIns="0" rtlCol="0" anchor="t">
            <a:spAutoFit/>
          </a:bodyPr>
          <a:lstStyle/>
          <a:p>
            <a:pPr algn="ctr">
              <a:lnSpc>
                <a:spcPts val="8240"/>
              </a:lnSpc>
              <a:spcBef>
                <a:spcPct val="0"/>
              </a:spcBef>
            </a:pPr>
            <a:r>
              <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K</a:t>
            </a:r>
            <a:r>
              <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ẾT LUẬN</a:t>
            </a:r>
            <a:endParaRPr lang="en-US" sz="588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grpSp>
        <p:nvGrpSpPr>
          <p:cNvPr id="11" name="Group 11"/>
          <p:cNvGrpSpPr/>
          <p:nvPr/>
        </p:nvGrpSpPr>
        <p:grpSpPr>
          <a:xfrm rot="0">
            <a:off x="1474720" y="2297694"/>
            <a:ext cx="15338561" cy="7082772"/>
            <a:chOff x="0" y="0"/>
            <a:chExt cx="1720832" cy="794616"/>
          </a:xfrm>
        </p:grpSpPr>
        <p:sp>
          <p:nvSpPr>
            <p:cNvPr id="12" name="Freeform 12"/>
            <p:cNvSpPr/>
            <p:nvPr/>
          </p:nvSpPr>
          <p:spPr>
            <a:xfrm>
              <a:off x="0" y="0"/>
              <a:ext cx="1720832" cy="794616"/>
            </a:xfrm>
            <a:custGeom>
              <a:avLst/>
              <a:gdLst/>
              <a:ahLst/>
              <a:cxnLst/>
              <a:rect l="l" t="t" r="r" b="b"/>
              <a:pathLst>
                <a:path w="1720832" h="794616">
                  <a:moveTo>
                    <a:pt x="12618" y="0"/>
                  </a:moveTo>
                  <a:lnTo>
                    <a:pt x="1708214" y="0"/>
                  </a:lnTo>
                  <a:cubicBezTo>
                    <a:pt x="1715183" y="0"/>
                    <a:pt x="1720832" y="5649"/>
                    <a:pt x="1720832" y="12618"/>
                  </a:cubicBezTo>
                  <a:lnTo>
                    <a:pt x="1720832" y="781997"/>
                  </a:lnTo>
                  <a:cubicBezTo>
                    <a:pt x="1720832" y="785344"/>
                    <a:pt x="1719503" y="788553"/>
                    <a:pt x="1717136" y="790920"/>
                  </a:cubicBezTo>
                  <a:cubicBezTo>
                    <a:pt x="1714770" y="793286"/>
                    <a:pt x="1711560" y="794616"/>
                    <a:pt x="1708214" y="794616"/>
                  </a:cubicBezTo>
                  <a:lnTo>
                    <a:pt x="12618" y="794616"/>
                  </a:lnTo>
                  <a:cubicBezTo>
                    <a:pt x="5649" y="794616"/>
                    <a:pt x="0" y="788966"/>
                    <a:pt x="0" y="781997"/>
                  </a:cubicBezTo>
                  <a:lnTo>
                    <a:pt x="0" y="12618"/>
                  </a:lnTo>
                  <a:cubicBezTo>
                    <a:pt x="0" y="9272"/>
                    <a:pt x="1329" y="6062"/>
                    <a:pt x="3696" y="3696"/>
                  </a:cubicBezTo>
                  <a:cubicBezTo>
                    <a:pt x="6062" y="1329"/>
                    <a:pt x="9272" y="0"/>
                    <a:pt x="12618" y="0"/>
                  </a:cubicBezTo>
                  <a:close/>
                </a:path>
              </a:pathLst>
            </a:custGeom>
            <a:gradFill rotWithShape="1">
              <a:gsLst>
                <a:gs pos="0">
                  <a:srgbClr val="31A1D4">
                    <a:alpha val="47000"/>
                  </a:srgbClr>
                </a:gs>
                <a:gs pos="100000">
                  <a:srgbClr val="035E8E">
                    <a:alpha val="0"/>
                  </a:srgbClr>
                </a:gs>
              </a:gsLst>
              <a:lin ang="2700000"/>
            </a:gradFill>
          </p:spPr>
        </p:sp>
        <p:sp>
          <p:nvSpPr>
            <p:cNvPr id="13" name="TextBox 13"/>
            <p:cNvSpPr txBox="1"/>
            <p:nvPr/>
          </p:nvSpPr>
          <p:spPr>
            <a:xfrm>
              <a:off x="0" y="-38100"/>
              <a:ext cx="1720832" cy="832716"/>
            </a:xfrm>
            <a:prstGeom prst="rect">
              <a:avLst/>
            </a:prstGeom>
          </p:spPr>
          <p:txBody>
            <a:bodyPr lIns="50800" tIns="50800" rIns="50800" bIns="50800" rtlCol="0" anchor="ctr"/>
            <a:lstStyle/>
            <a:p>
              <a:pPr marL="0" lvl="0" indent="0" algn="ctr">
                <a:lnSpc>
                  <a:spcPts val="3355"/>
                </a:lnSpc>
                <a:spcBef>
                  <a:spcPct val="0"/>
                </a:spcBef>
              </a:pPr>
            </a:p>
          </p:txBody>
        </p:sp>
      </p:grpSp>
      <p:sp>
        <p:nvSpPr>
          <p:cNvPr id="14" name="TextBox 14"/>
          <p:cNvSpPr txBox="1"/>
          <p:nvPr/>
        </p:nvSpPr>
        <p:spPr>
          <a:xfrm>
            <a:off x="1952056" y="2618003"/>
            <a:ext cx="14383887" cy="1553662"/>
          </a:xfrm>
          <a:prstGeom prst="rect">
            <a:avLst/>
          </a:prstGeom>
        </p:spPr>
        <p:txBody>
          <a:bodyPr lIns="0" tIns="0" rIns="0" bIns="0" rtlCol="0" anchor="t">
            <a:spAutoFit/>
          </a:bodyPr>
          <a:lstStyle/>
          <a:p>
            <a:pPr algn="just">
              <a:lnSpc>
                <a:spcPts val="4130"/>
              </a:lnSpc>
              <a:spcBef>
                <a:spcPct val="0"/>
              </a:spcBef>
            </a:pP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Đề</a:t>
            </a: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tài đã xây dựng được mô hình cập nhật firmware an toàn có xác thực nguồn gốc, kiểm tra toàn vẹn, chống rollback và phục hồi khi cập nhật thất bại. Bốn ca kiểm thử đều đạt kết quả mong đợi.</a:t>
            </a:r>
            <a:endPar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grpSp>
        <p:nvGrpSpPr>
          <p:cNvPr id="15" name="Group 15"/>
          <p:cNvGrpSpPr/>
          <p:nvPr/>
        </p:nvGrpSpPr>
        <p:grpSpPr>
          <a:xfrm rot="0">
            <a:off x="-1325072" y="-1351287"/>
            <a:ext cx="4155559" cy="3571183"/>
            <a:chOff x="0" y="0"/>
            <a:chExt cx="812800" cy="698500"/>
          </a:xfrm>
        </p:grpSpPr>
        <p:sp>
          <p:nvSpPr>
            <p:cNvPr id="16" name="Freeform 16"/>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7" name="TextBox 17"/>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18" name="Freeform 18"/>
          <p:cNvSpPr/>
          <p:nvPr/>
        </p:nvSpPr>
        <p:spPr>
          <a:xfrm>
            <a:off x="-4958776" y="-3515644"/>
            <a:ext cx="9438577" cy="6748583"/>
          </a:xfrm>
          <a:custGeom>
            <a:avLst/>
            <a:gdLst/>
            <a:ahLst/>
            <a:cxnLst/>
            <a:rect l="l" t="t" r="r" b="b"/>
            <a:pathLst>
              <a:path w="9438577" h="6748583">
                <a:moveTo>
                  <a:pt x="0" y="0"/>
                </a:moveTo>
                <a:lnTo>
                  <a:pt x="9438577" y="0"/>
                </a:lnTo>
                <a:lnTo>
                  <a:pt x="9438577" y="6748582"/>
                </a:lnTo>
                <a:lnTo>
                  <a:pt x="0" y="67485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rot="0">
            <a:off x="-2077779" y="-141353"/>
            <a:ext cx="4155559" cy="3571183"/>
            <a:chOff x="0" y="0"/>
            <a:chExt cx="812800" cy="698500"/>
          </a:xfrm>
        </p:grpSpPr>
        <p:sp>
          <p:nvSpPr>
            <p:cNvPr id="20" name="Freeform 20"/>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21" name="TextBox 21"/>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22" name="TextBox 22"/>
          <p:cNvSpPr txBox="1"/>
          <p:nvPr/>
        </p:nvSpPr>
        <p:spPr>
          <a:xfrm>
            <a:off x="1952056" y="4562190"/>
            <a:ext cx="14383887" cy="2077478"/>
          </a:xfrm>
          <a:prstGeom prst="rect">
            <a:avLst/>
          </a:prstGeom>
        </p:spPr>
        <p:txBody>
          <a:bodyPr lIns="0" tIns="0" rIns="0" bIns="0" rtlCol="0" anchor="t">
            <a:spAutoFit/>
          </a:bodyPr>
          <a:lstStyle/>
          <a:p>
            <a:pPr algn="just">
              <a:lnSpc>
                <a:spcPts val="4130"/>
              </a:lnSpc>
            </a:pP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Ba điều học được:</a:t>
            </a:r>
            <a:endPar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just">
              <a:lnSpc>
                <a:spcPts val="4130"/>
              </a:lnSpc>
            </a:pP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1.</a:t>
            </a: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SHA-256 đơn lẻ không xác thực được nhà phát hành; cần có chữ ký số.</a:t>
            </a:r>
            <a:endPar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just">
              <a:lnSpc>
                <a:spcPts val="4130"/>
              </a:lnSpc>
            </a:pP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2. Rollback phục hồi và anti-rollback là hai cơ chế khác nhau.</a:t>
            </a:r>
            <a:endPar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just">
              <a:lnSpc>
                <a:spcPts val="4130"/>
              </a:lnSpc>
              <a:spcBef>
                <a:spcPct val="0"/>
              </a:spcBef>
            </a:pP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3. Firmware chỉ được kích hoạt sau khi xác minh và self-test thành công.</a:t>
            </a:r>
            <a:endPar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p:txBody>
      </p:sp>
      <p:sp>
        <p:nvSpPr>
          <p:cNvPr id="23" name="TextBox 23"/>
          <p:cNvSpPr txBox="1"/>
          <p:nvPr/>
        </p:nvSpPr>
        <p:spPr>
          <a:xfrm>
            <a:off x="1952056" y="7030193"/>
            <a:ext cx="14383887" cy="2077478"/>
          </a:xfrm>
          <a:prstGeom prst="rect">
            <a:avLst/>
          </a:prstGeom>
        </p:spPr>
        <p:txBody>
          <a:bodyPr lIns="0" tIns="0" rIns="0" bIns="0" rtlCol="0" anchor="t">
            <a:spAutoFit/>
          </a:bodyPr>
          <a:lstStyle/>
          <a:p>
            <a:pPr algn="just">
              <a:lnSpc>
                <a:spcPts val="4130"/>
              </a:lnSpc>
            </a:pP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Hai hạn chế chính:</a:t>
            </a:r>
            <a:endPar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just">
              <a:lnSpc>
                <a:spcPts val="4130"/>
              </a:lnSpc>
            </a:pP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1.</a:t>
            </a: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 Mô hình mới chạy bằng Python, chưa có phần cứng và bootloader thật.</a:t>
            </a:r>
            <a:endPar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just">
              <a:lnSpc>
                <a:spcPts val="4130"/>
              </a:lnSpc>
              <a:spcBef>
                <a:spcPct val="0"/>
              </a:spcBef>
            </a:pPr>
            <a:r>
              <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rPr>
              <a:t>2. Chưa triển khai HTTPS/mTLS và quản lý khóa ở mức sản xuất.</a:t>
            </a:r>
            <a:endParaRPr lang="en-US" sz="2950">
              <a:solidFill>
                <a:srgbClr val="C6C6C6"/>
              </a:solidFill>
              <a:latin typeface="Montserrat Light" panose="00000400000000000000"/>
              <a:ea typeface="Montserrat Light" panose="00000400000000000000"/>
              <a:cs typeface="Montserrat Light" panose="00000400000000000000"/>
              <a:sym typeface="Montserrat Light" panose="00000400000000000000"/>
            </a:endParaRPr>
          </a:p>
          <a:p>
            <a:pPr algn="just">
              <a:lnSpc>
                <a:spcPts val="4130"/>
              </a:lnSpc>
              <a:spcBef>
                <a:spcPct val="0"/>
              </a:spcBef>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65984" r="-65984"/>
            </a:stretch>
          </a:blipFill>
        </p:spPr>
      </p:sp>
      <p:sp>
        <p:nvSpPr>
          <p:cNvPr id="3" name="Freeform 3"/>
          <p:cNvSpPr/>
          <p:nvPr/>
        </p:nvSpPr>
        <p:spPr>
          <a:xfrm>
            <a:off x="-2108849" y="6034841"/>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rot="0">
            <a:off x="1028700" y="3820462"/>
            <a:ext cx="8115300" cy="969042"/>
            <a:chOff x="0" y="0"/>
            <a:chExt cx="5346361" cy="638405"/>
          </a:xfrm>
        </p:grpSpPr>
        <p:sp>
          <p:nvSpPr>
            <p:cNvPr id="5" name="Freeform 5"/>
            <p:cNvSpPr/>
            <p:nvPr/>
          </p:nvSpPr>
          <p:spPr>
            <a:xfrm>
              <a:off x="0" y="0"/>
              <a:ext cx="5346361" cy="638405"/>
            </a:xfrm>
            <a:custGeom>
              <a:avLst/>
              <a:gdLst/>
              <a:ahLst/>
              <a:cxnLst/>
              <a:rect l="l" t="t" r="r" b="b"/>
              <a:pathLst>
                <a:path w="5346361" h="638405">
                  <a:moveTo>
                    <a:pt x="5143161" y="0"/>
                  </a:moveTo>
                  <a:cubicBezTo>
                    <a:pt x="5255385" y="0"/>
                    <a:pt x="5346361" y="142912"/>
                    <a:pt x="5346361" y="319203"/>
                  </a:cubicBezTo>
                  <a:cubicBezTo>
                    <a:pt x="5346361" y="495493"/>
                    <a:pt x="5255385" y="638405"/>
                    <a:pt x="5143161" y="638405"/>
                  </a:cubicBezTo>
                  <a:lnTo>
                    <a:pt x="203200" y="638405"/>
                  </a:lnTo>
                  <a:cubicBezTo>
                    <a:pt x="90976" y="638405"/>
                    <a:pt x="0" y="495493"/>
                    <a:pt x="0" y="319203"/>
                  </a:cubicBezTo>
                  <a:cubicBezTo>
                    <a:pt x="0" y="142912"/>
                    <a:pt x="90976" y="0"/>
                    <a:pt x="203200" y="0"/>
                  </a:cubicBezTo>
                  <a:lnTo>
                    <a:pt x="5143161" y="0"/>
                  </a:lnTo>
                  <a:close/>
                </a:path>
              </a:pathLst>
            </a:custGeom>
            <a:gradFill rotWithShape="1">
              <a:gsLst>
                <a:gs pos="0">
                  <a:srgbClr val="31A1D4">
                    <a:alpha val="47000"/>
                  </a:srgbClr>
                </a:gs>
                <a:gs pos="100000">
                  <a:srgbClr val="035E8E">
                    <a:alpha val="0"/>
                  </a:srgbClr>
                </a:gs>
              </a:gsLst>
              <a:lin ang="2700000"/>
            </a:gradFill>
            <a:ln cap="rnd">
              <a:noFill/>
              <a:prstDash val="solid"/>
              <a:round/>
            </a:ln>
          </p:spPr>
        </p:sp>
        <p:sp>
          <p:nvSpPr>
            <p:cNvPr id="6" name="TextBox 6"/>
            <p:cNvSpPr txBox="1"/>
            <p:nvPr/>
          </p:nvSpPr>
          <p:spPr>
            <a:xfrm>
              <a:off x="0" y="-38100"/>
              <a:ext cx="5346361" cy="676505"/>
            </a:xfrm>
            <a:prstGeom prst="rect">
              <a:avLst/>
            </a:prstGeom>
          </p:spPr>
          <p:txBody>
            <a:bodyPr lIns="50800" tIns="50800" rIns="50800" bIns="50800" rtlCol="0" anchor="ctr"/>
            <a:lstStyle/>
            <a:p>
              <a:pPr marL="0" lvl="0" indent="0" algn="just">
                <a:lnSpc>
                  <a:spcPts val="3355"/>
                </a:lnSpc>
                <a:spcBef>
                  <a:spcPct val="0"/>
                </a:spcBef>
              </a:pPr>
            </a:p>
          </p:txBody>
        </p:sp>
      </p:grpSp>
      <p:grpSp>
        <p:nvGrpSpPr>
          <p:cNvPr id="7" name="Group 7"/>
          <p:cNvGrpSpPr/>
          <p:nvPr/>
        </p:nvGrpSpPr>
        <p:grpSpPr>
          <a:xfrm rot="0">
            <a:off x="-1482992" y="7162049"/>
            <a:ext cx="3636307" cy="3124951"/>
            <a:chOff x="0" y="0"/>
            <a:chExt cx="812800" cy="698500"/>
          </a:xfrm>
        </p:grpSpPr>
        <p:sp>
          <p:nvSpPr>
            <p:cNvPr id="8" name="Freeform 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9" name="TextBox 9"/>
            <p:cNvSpPr txBox="1"/>
            <p:nvPr/>
          </p:nvSpPr>
          <p:spPr>
            <a:xfrm>
              <a:off x="114300" y="-38100"/>
              <a:ext cx="584200" cy="736600"/>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10" name="Group 10"/>
          <p:cNvGrpSpPr/>
          <p:nvPr/>
        </p:nvGrpSpPr>
        <p:grpSpPr>
          <a:xfrm rot="0">
            <a:off x="1028700" y="8501408"/>
            <a:ext cx="4155559" cy="3571183"/>
            <a:chOff x="0" y="0"/>
            <a:chExt cx="812800" cy="698500"/>
          </a:xfrm>
        </p:grpSpPr>
        <p:sp>
          <p:nvSpPr>
            <p:cNvPr id="11" name="Freeform 1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2" name="TextBox 12"/>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3" name="Group 13"/>
          <p:cNvGrpSpPr/>
          <p:nvPr/>
        </p:nvGrpSpPr>
        <p:grpSpPr>
          <a:xfrm rot="0">
            <a:off x="335162" y="6342923"/>
            <a:ext cx="1906328" cy="1638251"/>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6" name="Group 16"/>
          <p:cNvGrpSpPr/>
          <p:nvPr/>
        </p:nvGrpSpPr>
        <p:grpSpPr>
          <a:xfrm rot="0">
            <a:off x="3746822" y="8501408"/>
            <a:ext cx="1510485" cy="1298073"/>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47000"/>
                  </a:srgbClr>
                </a:gs>
                <a:gs pos="100000">
                  <a:srgbClr val="035E8E">
                    <a:alpha val="0"/>
                  </a:srgbClr>
                </a:gs>
              </a:gsLst>
              <a:lin ang="0"/>
            </a:gradFill>
          </p:spPr>
        </p:sp>
        <p:sp>
          <p:nvSpPr>
            <p:cNvPr id="18" name="TextBox 18"/>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19" name="TextBox 19"/>
          <p:cNvSpPr txBox="1"/>
          <p:nvPr/>
        </p:nvSpPr>
        <p:spPr>
          <a:xfrm>
            <a:off x="1028700" y="772977"/>
            <a:ext cx="7980576" cy="2628527"/>
          </a:xfrm>
          <a:prstGeom prst="rect">
            <a:avLst/>
          </a:prstGeom>
        </p:spPr>
        <p:txBody>
          <a:bodyPr lIns="0" tIns="0" rIns="0" bIns="0" rtlCol="0" anchor="t">
            <a:spAutoFit/>
          </a:bodyPr>
          <a:lstStyle/>
          <a:p>
            <a:pPr algn="l">
              <a:lnSpc>
                <a:spcPts val="10525"/>
              </a:lnSpc>
              <a:spcBef>
                <a:spcPct val="0"/>
              </a:spcBef>
            </a:pPr>
            <a:r>
              <a:rPr lang="en-US" sz="752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TÀI LIỆU THAM KHẢO</a:t>
            </a:r>
            <a:endParaRPr lang="en-US" sz="7520"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grpSp>
        <p:nvGrpSpPr>
          <p:cNvPr id="20" name="Group 20"/>
          <p:cNvGrpSpPr/>
          <p:nvPr/>
        </p:nvGrpSpPr>
        <p:grpSpPr>
          <a:xfrm rot="0">
            <a:off x="1028700" y="5208634"/>
            <a:ext cx="8115300" cy="1388202"/>
            <a:chOff x="0" y="0"/>
            <a:chExt cx="5346361" cy="914547"/>
          </a:xfrm>
        </p:grpSpPr>
        <p:sp>
          <p:nvSpPr>
            <p:cNvPr id="21" name="Freeform 21"/>
            <p:cNvSpPr/>
            <p:nvPr/>
          </p:nvSpPr>
          <p:spPr>
            <a:xfrm>
              <a:off x="0" y="0"/>
              <a:ext cx="5346361" cy="914547"/>
            </a:xfrm>
            <a:custGeom>
              <a:avLst/>
              <a:gdLst/>
              <a:ahLst/>
              <a:cxnLst/>
              <a:rect l="l" t="t" r="r" b="b"/>
              <a:pathLst>
                <a:path w="5346361" h="914547">
                  <a:moveTo>
                    <a:pt x="5143161" y="0"/>
                  </a:moveTo>
                  <a:cubicBezTo>
                    <a:pt x="5255385" y="0"/>
                    <a:pt x="5346361" y="204728"/>
                    <a:pt x="5346361" y="457274"/>
                  </a:cubicBezTo>
                  <a:cubicBezTo>
                    <a:pt x="5346361" y="709819"/>
                    <a:pt x="5255385" y="914547"/>
                    <a:pt x="5143161" y="914547"/>
                  </a:cubicBezTo>
                  <a:lnTo>
                    <a:pt x="203200" y="914547"/>
                  </a:lnTo>
                  <a:cubicBezTo>
                    <a:pt x="90976" y="914547"/>
                    <a:pt x="0" y="709819"/>
                    <a:pt x="0" y="457274"/>
                  </a:cubicBezTo>
                  <a:cubicBezTo>
                    <a:pt x="0" y="204728"/>
                    <a:pt x="90976" y="0"/>
                    <a:pt x="203200" y="0"/>
                  </a:cubicBezTo>
                  <a:lnTo>
                    <a:pt x="5143161" y="0"/>
                  </a:lnTo>
                  <a:close/>
                </a:path>
              </a:pathLst>
            </a:custGeom>
            <a:gradFill rotWithShape="1">
              <a:gsLst>
                <a:gs pos="0">
                  <a:srgbClr val="31A1D4">
                    <a:alpha val="47000"/>
                  </a:srgbClr>
                </a:gs>
                <a:gs pos="100000">
                  <a:srgbClr val="035E8E">
                    <a:alpha val="0"/>
                  </a:srgbClr>
                </a:gs>
              </a:gsLst>
              <a:lin ang="2700000"/>
            </a:gradFill>
            <a:ln cap="rnd">
              <a:noFill/>
              <a:prstDash val="solid"/>
              <a:round/>
            </a:ln>
          </p:spPr>
        </p:sp>
        <p:sp>
          <p:nvSpPr>
            <p:cNvPr id="22" name="TextBox 22"/>
            <p:cNvSpPr txBox="1"/>
            <p:nvPr/>
          </p:nvSpPr>
          <p:spPr>
            <a:xfrm>
              <a:off x="0" y="-38100"/>
              <a:ext cx="5346361" cy="952647"/>
            </a:xfrm>
            <a:prstGeom prst="rect">
              <a:avLst/>
            </a:prstGeom>
          </p:spPr>
          <p:txBody>
            <a:bodyPr lIns="50800" tIns="50800" rIns="50800" bIns="50800" rtlCol="0" anchor="ctr"/>
            <a:lstStyle/>
            <a:p>
              <a:pPr marL="0" lvl="0" indent="0" algn="just">
                <a:lnSpc>
                  <a:spcPts val="3355"/>
                </a:lnSpc>
                <a:spcBef>
                  <a:spcPct val="0"/>
                </a:spcBef>
              </a:pPr>
            </a:p>
          </p:txBody>
        </p:sp>
      </p:grpSp>
      <p:grpSp>
        <p:nvGrpSpPr>
          <p:cNvPr id="23" name="Group 23"/>
          <p:cNvGrpSpPr/>
          <p:nvPr/>
        </p:nvGrpSpPr>
        <p:grpSpPr>
          <a:xfrm rot="0">
            <a:off x="1028700" y="7015965"/>
            <a:ext cx="8115300" cy="969042"/>
            <a:chOff x="0" y="0"/>
            <a:chExt cx="5346361" cy="638405"/>
          </a:xfrm>
        </p:grpSpPr>
        <p:sp>
          <p:nvSpPr>
            <p:cNvPr id="24" name="Freeform 24"/>
            <p:cNvSpPr/>
            <p:nvPr/>
          </p:nvSpPr>
          <p:spPr>
            <a:xfrm>
              <a:off x="0" y="0"/>
              <a:ext cx="5346361" cy="638405"/>
            </a:xfrm>
            <a:custGeom>
              <a:avLst/>
              <a:gdLst/>
              <a:ahLst/>
              <a:cxnLst/>
              <a:rect l="l" t="t" r="r" b="b"/>
              <a:pathLst>
                <a:path w="5346361" h="638405">
                  <a:moveTo>
                    <a:pt x="5143161" y="0"/>
                  </a:moveTo>
                  <a:cubicBezTo>
                    <a:pt x="5255385" y="0"/>
                    <a:pt x="5346361" y="142912"/>
                    <a:pt x="5346361" y="319203"/>
                  </a:cubicBezTo>
                  <a:cubicBezTo>
                    <a:pt x="5346361" y="495493"/>
                    <a:pt x="5255385" y="638405"/>
                    <a:pt x="5143161" y="638405"/>
                  </a:cubicBezTo>
                  <a:lnTo>
                    <a:pt x="203200" y="638405"/>
                  </a:lnTo>
                  <a:cubicBezTo>
                    <a:pt x="90976" y="638405"/>
                    <a:pt x="0" y="495493"/>
                    <a:pt x="0" y="319203"/>
                  </a:cubicBezTo>
                  <a:cubicBezTo>
                    <a:pt x="0" y="142912"/>
                    <a:pt x="90976" y="0"/>
                    <a:pt x="203200" y="0"/>
                  </a:cubicBezTo>
                  <a:lnTo>
                    <a:pt x="5143161" y="0"/>
                  </a:lnTo>
                  <a:close/>
                </a:path>
              </a:pathLst>
            </a:custGeom>
            <a:gradFill rotWithShape="1">
              <a:gsLst>
                <a:gs pos="0">
                  <a:srgbClr val="31A1D4">
                    <a:alpha val="47000"/>
                  </a:srgbClr>
                </a:gs>
                <a:gs pos="100000">
                  <a:srgbClr val="035E8E">
                    <a:alpha val="0"/>
                  </a:srgbClr>
                </a:gs>
              </a:gsLst>
              <a:lin ang="2700000"/>
            </a:gradFill>
            <a:ln cap="rnd">
              <a:noFill/>
              <a:prstDash val="solid"/>
              <a:round/>
            </a:ln>
          </p:spPr>
        </p:sp>
        <p:sp>
          <p:nvSpPr>
            <p:cNvPr id="25" name="TextBox 25"/>
            <p:cNvSpPr txBox="1"/>
            <p:nvPr/>
          </p:nvSpPr>
          <p:spPr>
            <a:xfrm>
              <a:off x="0" y="-38100"/>
              <a:ext cx="5346361" cy="676505"/>
            </a:xfrm>
            <a:prstGeom prst="rect">
              <a:avLst/>
            </a:prstGeom>
          </p:spPr>
          <p:txBody>
            <a:bodyPr lIns="50800" tIns="50800" rIns="50800" bIns="50800" rtlCol="0" anchor="ctr"/>
            <a:lstStyle/>
            <a:p>
              <a:pPr marL="0" lvl="0" indent="0" algn="l">
                <a:lnSpc>
                  <a:spcPts val="3355"/>
                </a:lnSpc>
                <a:spcBef>
                  <a:spcPct val="0"/>
                </a:spcBef>
              </a:pPr>
            </a:p>
          </p:txBody>
        </p:sp>
      </p:grpSp>
      <p:grpSp>
        <p:nvGrpSpPr>
          <p:cNvPr id="26" name="Group 26"/>
          <p:cNvGrpSpPr/>
          <p:nvPr/>
        </p:nvGrpSpPr>
        <p:grpSpPr>
          <a:xfrm rot="0">
            <a:off x="1028700" y="8404107"/>
            <a:ext cx="8115300" cy="969042"/>
            <a:chOff x="0" y="0"/>
            <a:chExt cx="5346361" cy="638405"/>
          </a:xfrm>
        </p:grpSpPr>
        <p:sp>
          <p:nvSpPr>
            <p:cNvPr id="27" name="Freeform 27"/>
            <p:cNvSpPr/>
            <p:nvPr/>
          </p:nvSpPr>
          <p:spPr>
            <a:xfrm>
              <a:off x="0" y="0"/>
              <a:ext cx="5346361" cy="638405"/>
            </a:xfrm>
            <a:custGeom>
              <a:avLst/>
              <a:gdLst/>
              <a:ahLst/>
              <a:cxnLst/>
              <a:rect l="l" t="t" r="r" b="b"/>
              <a:pathLst>
                <a:path w="5346361" h="638405">
                  <a:moveTo>
                    <a:pt x="5143161" y="0"/>
                  </a:moveTo>
                  <a:cubicBezTo>
                    <a:pt x="5255385" y="0"/>
                    <a:pt x="5346361" y="142912"/>
                    <a:pt x="5346361" y="319203"/>
                  </a:cubicBezTo>
                  <a:cubicBezTo>
                    <a:pt x="5346361" y="495493"/>
                    <a:pt x="5255385" y="638405"/>
                    <a:pt x="5143161" y="638405"/>
                  </a:cubicBezTo>
                  <a:lnTo>
                    <a:pt x="203200" y="638405"/>
                  </a:lnTo>
                  <a:cubicBezTo>
                    <a:pt x="90976" y="638405"/>
                    <a:pt x="0" y="495493"/>
                    <a:pt x="0" y="319203"/>
                  </a:cubicBezTo>
                  <a:cubicBezTo>
                    <a:pt x="0" y="142912"/>
                    <a:pt x="90976" y="0"/>
                    <a:pt x="203200" y="0"/>
                  </a:cubicBezTo>
                  <a:lnTo>
                    <a:pt x="5143161" y="0"/>
                  </a:lnTo>
                  <a:close/>
                </a:path>
              </a:pathLst>
            </a:custGeom>
            <a:gradFill rotWithShape="1">
              <a:gsLst>
                <a:gs pos="0">
                  <a:srgbClr val="31A1D4">
                    <a:alpha val="47000"/>
                  </a:srgbClr>
                </a:gs>
                <a:gs pos="100000">
                  <a:srgbClr val="035E8E">
                    <a:alpha val="0"/>
                  </a:srgbClr>
                </a:gs>
              </a:gsLst>
              <a:lin ang="2700000"/>
            </a:gradFill>
            <a:ln cap="rnd">
              <a:noFill/>
              <a:prstDash val="solid"/>
              <a:round/>
            </a:ln>
          </p:spPr>
        </p:sp>
        <p:sp>
          <p:nvSpPr>
            <p:cNvPr id="28" name="TextBox 28"/>
            <p:cNvSpPr txBox="1"/>
            <p:nvPr/>
          </p:nvSpPr>
          <p:spPr>
            <a:xfrm>
              <a:off x="0" y="-38100"/>
              <a:ext cx="5346361" cy="676505"/>
            </a:xfrm>
            <a:prstGeom prst="rect">
              <a:avLst/>
            </a:prstGeom>
          </p:spPr>
          <p:txBody>
            <a:bodyPr lIns="50800" tIns="50800" rIns="50800" bIns="50800" rtlCol="0" anchor="ctr"/>
            <a:lstStyle/>
            <a:p>
              <a:pPr marL="0" lvl="0" indent="0" algn="l">
                <a:lnSpc>
                  <a:spcPts val="3355"/>
                </a:lnSpc>
                <a:spcBef>
                  <a:spcPct val="0"/>
                </a:spcBef>
              </a:pPr>
            </a:p>
          </p:txBody>
        </p:sp>
      </p:grpSp>
      <p:grpSp>
        <p:nvGrpSpPr>
          <p:cNvPr id="29" name="Group 29"/>
          <p:cNvGrpSpPr/>
          <p:nvPr/>
        </p:nvGrpSpPr>
        <p:grpSpPr>
          <a:xfrm rot="0">
            <a:off x="9328087" y="3820462"/>
            <a:ext cx="8115300" cy="969042"/>
            <a:chOff x="0" y="0"/>
            <a:chExt cx="5346361" cy="638405"/>
          </a:xfrm>
        </p:grpSpPr>
        <p:sp>
          <p:nvSpPr>
            <p:cNvPr id="30" name="Freeform 30"/>
            <p:cNvSpPr/>
            <p:nvPr/>
          </p:nvSpPr>
          <p:spPr>
            <a:xfrm>
              <a:off x="0" y="0"/>
              <a:ext cx="5346361" cy="638405"/>
            </a:xfrm>
            <a:custGeom>
              <a:avLst/>
              <a:gdLst/>
              <a:ahLst/>
              <a:cxnLst/>
              <a:rect l="l" t="t" r="r" b="b"/>
              <a:pathLst>
                <a:path w="5346361" h="638405">
                  <a:moveTo>
                    <a:pt x="5143161" y="0"/>
                  </a:moveTo>
                  <a:cubicBezTo>
                    <a:pt x="5255385" y="0"/>
                    <a:pt x="5346361" y="142912"/>
                    <a:pt x="5346361" y="319203"/>
                  </a:cubicBezTo>
                  <a:cubicBezTo>
                    <a:pt x="5346361" y="495493"/>
                    <a:pt x="5255385" y="638405"/>
                    <a:pt x="5143161" y="638405"/>
                  </a:cubicBezTo>
                  <a:lnTo>
                    <a:pt x="203200" y="638405"/>
                  </a:lnTo>
                  <a:cubicBezTo>
                    <a:pt x="90976" y="638405"/>
                    <a:pt x="0" y="495493"/>
                    <a:pt x="0" y="319203"/>
                  </a:cubicBezTo>
                  <a:cubicBezTo>
                    <a:pt x="0" y="142912"/>
                    <a:pt x="90976" y="0"/>
                    <a:pt x="203200" y="0"/>
                  </a:cubicBezTo>
                  <a:lnTo>
                    <a:pt x="5143161" y="0"/>
                  </a:lnTo>
                  <a:close/>
                </a:path>
              </a:pathLst>
            </a:custGeom>
            <a:gradFill rotWithShape="1">
              <a:gsLst>
                <a:gs pos="0">
                  <a:srgbClr val="31A1D4">
                    <a:alpha val="47000"/>
                  </a:srgbClr>
                </a:gs>
                <a:gs pos="100000">
                  <a:srgbClr val="035E8E">
                    <a:alpha val="0"/>
                  </a:srgbClr>
                </a:gs>
              </a:gsLst>
              <a:lin ang="2700000"/>
            </a:gradFill>
            <a:ln cap="rnd">
              <a:noFill/>
              <a:prstDash val="solid"/>
              <a:round/>
            </a:ln>
          </p:spPr>
        </p:sp>
        <p:sp>
          <p:nvSpPr>
            <p:cNvPr id="31" name="TextBox 31"/>
            <p:cNvSpPr txBox="1"/>
            <p:nvPr/>
          </p:nvSpPr>
          <p:spPr>
            <a:xfrm>
              <a:off x="0" y="-38100"/>
              <a:ext cx="5346361" cy="676505"/>
            </a:xfrm>
            <a:prstGeom prst="rect">
              <a:avLst/>
            </a:prstGeom>
          </p:spPr>
          <p:txBody>
            <a:bodyPr lIns="50800" tIns="50800" rIns="50800" bIns="50800" rtlCol="0" anchor="ctr"/>
            <a:lstStyle/>
            <a:p>
              <a:pPr marL="0" lvl="0" indent="0" algn="just">
                <a:lnSpc>
                  <a:spcPts val="3355"/>
                </a:lnSpc>
                <a:spcBef>
                  <a:spcPct val="0"/>
                </a:spcBef>
              </a:pPr>
            </a:p>
          </p:txBody>
        </p:sp>
      </p:grpSp>
      <p:grpSp>
        <p:nvGrpSpPr>
          <p:cNvPr id="32" name="Group 32"/>
          <p:cNvGrpSpPr/>
          <p:nvPr/>
        </p:nvGrpSpPr>
        <p:grpSpPr>
          <a:xfrm rot="0">
            <a:off x="9328087" y="5208634"/>
            <a:ext cx="8115300" cy="969042"/>
            <a:chOff x="0" y="0"/>
            <a:chExt cx="5346361" cy="638405"/>
          </a:xfrm>
        </p:grpSpPr>
        <p:sp>
          <p:nvSpPr>
            <p:cNvPr id="33" name="Freeform 33"/>
            <p:cNvSpPr/>
            <p:nvPr/>
          </p:nvSpPr>
          <p:spPr>
            <a:xfrm>
              <a:off x="0" y="0"/>
              <a:ext cx="5346361" cy="638405"/>
            </a:xfrm>
            <a:custGeom>
              <a:avLst/>
              <a:gdLst/>
              <a:ahLst/>
              <a:cxnLst/>
              <a:rect l="l" t="t" r="r" b="b"/>
              <a:pathLst>
                <a:path w="5346361" h="638405">
                  <a:moveTo>
                    <a:pt x="5143161" y="0"/>
                  </a:moveTo>
                  <a:cubicBezTo>
                    <a:pt x="5255385" y="0"/>
                    <a:pt x="5346361" y="142912"/>
                    <a:pt x="5346361" y="319203"/>
                  </a:cubicBezTo>
                  <a:cubicBezTo>
                    <a:pt x="5346361" y="495493"/>
                    <a:pt x="5255385" y="638405"/>
                    <a:pt x="5143161" y="638405"/>
                  </a:cubicBezTo>
                  <a:lnTo>
                    <a:pt x="203200" y="638405"/>
                  </a:lnTo>
                  <a:cubicBezTo>
                    <a:pt x="90976" y="638405"/>
                    <a:pt x="0" y="495493"/>
                    <a:pt x="0" y="319203"/>
                  </a:cubicBezTo>
                  <a:cubicBezTo>
                    <a:pt x="0" y="142912"/>
                    <a:pt x="90976" y="0"/>
                    <a:pt x="203200" y="0"/>
                  </a:cubicBezTo>
                  <a:lnTo>
                    <a:pt x="5143161" y="0"/>
                  </a:lnTo>
                  <a:close/>
                </a:path>
              </a:pathLst>
            </a:custGeom>
            <a:gradFill rotWithShape="1">
              <a:gsLst>
                <a:gs pos="0">
                  <a:srgbClr val="31A1D4">
                    <a:alpha val="47000"/>
                  </a:srgbClr>
                </a:gs>
                <a:gs pos="100000">
                  <a:srgbClr val="035E8E">
                    <a:alpha val="0"/>
                  </a:srgbClr>
                </a:gs>
              </a:gsLst>
              <a:lin ang="2700000"/>
            </a:gradFill>
            <a:ln cap="rnd">
              <a:noFill/>
              <a:prstDash val="solid"/>
              <a:round/>
            </a:ln>
          </p:spPr>
        </p:sp>
        <p:sp>
          <p:nvSpPr>
            <p:cNvPr id="34" name="TextBox 34"/>
            <p:cNvSpPr txBox="1"/>
            <p:nvPr/>
          </p:nvSpPr>
          <p:spPr>
            <a:xfrm>
              <a:off x="0" y="-38100"/>
              <a:ext cx="5346361" cy="676505"/>
            </a:xfrm>
            <a:prstGeom prst="rect">
              <a:avLst/>
            </a:prstGeom>
          </p:spPr>
          <p:txBody>
            <a:bodyPr lIns="50800" tIns="50800" rIns="50800" bIns="50800" rtlCol="0" anchor="ctr"/>
            <a:lstStyle/>
            <a:p>
              <a:pPr marL="0" lvl="0" indent="0" algn="just">
                <a:lnSpc>
                  <a:spcPts val="3355"/>
                </a:lnSpc>
                <a:spcBef>
                  <a:spcPct val="0"/>
                </a:spcBef>
              </a:pPr>
            </a:p>
          </p:txBody>
        </p:sp>
      </p:grpSp>
      <p:sp>
        <p:nvSpPr>
          <p:cNvPr id="35" name="TextBox 35"/>
          <p:cNvSpPr txBox="1"/>
          <p:nvPr/>
        </p:nvSpPr>
        <p:spPr>
          <a:xfrm>
            <a:off x="1271564" y="3860075"/>
            <a:ext cx="7872436" cy="890914"/>
          </a:xfrm>
          <a:prstGeom prst="rect">
            <a:avLst/>
          </a:prstGeom>
        </p:spPr>
        <p:txBody>
          <a:bodyPr lIns="0" tIns="0" rIns="0" bIns="0" rtlCol="0" anchor="t">
            <a:spAutoFit/>
          </a:bodyPr>
          <a:lstStyle/>
          <a:p>
            <a:pPr algn="just">
              <a:lnSpc>
                <a:spcPts val="3585"/>
              </a:lnSpc>
            </a:pPr>
            <a:r>
              <a:rPr lang="en-US" sz="2560">
                <a:solidFill>
                  <a:srgbClr val="FFFFFF"/>
                </a:solidFill>
                <a:latin typeface="Noto Sans" panose="020B0502040504020204"/>
                <a:ea typeface="Noto Sans" panose="020B0502040504020204"/>
                <a:cs typeface="Noto Sans" panose="020B0502040504020204"/>
                <a:sym typeface="Noto Sans" panose="020B0502040504020204"/>
              </a:rPr>
              <a:t>1] Espressif Systems, ESP-IDF Platform Repository</a:t>
            </a:r>
            <a:endParaRPr lang="en-US" sz="2560">
              <a:solidFill>
                <a:srgbClr val="FFFFFF"/>
              </a:solidFill>
              <a:latin typeface="Noto Sans" panose="020B0502040504020204"/>
              <a:ea typeface="Noto Sans" panose="020B0502040504020204"/>
              <a:cs typeface="Noto Sans" panose="020B0502040504020204"/>
              <a:sym typeface="Noto Sans" panose="020B0502040504020204"/>
            </a:endParaRPr>
          </a:p>
          <a:p>
            <a:pPr algn="just">
              <a:lnSpc>
                <a:spcPts val="3585"/>
              </a:lnSpc>
            </a:pPr>
            <a:r>
              <a:rPr lang="en-US" sz="2560" u="sng">
                <a:solidFill>
                  <a:srgbClr val="FFFFFF"/>
                </a:solidFill>
                <a:latin typeface="Noto Sans" panose="020B0502040504020204"/>
                <a:ea typeface="Noto Sans" panose="020B0502040504020204"/>
                <a:cs typeface="Noto Sans" panose="020B0502040504020204"/>
                <a:sym typeface="Noto Sans" panose="020B0502040504020204"/>
                <a:hlinkClick r:id="rId4" tooltip="https://github.com/espressif/esp-idf"/>
              </a:rPr>
              <a:t>https://github.com/espressif/esp-idf</a:t>
            </a:r>
            <a:endParaRPr lang="en-US" sz="2560" u="sng">
              <a:solidFill>
                <a:srgbClr val="FFFFFF"/>
              </a:solidFill>
              <a:latin typeface="Noto Sans" panose="020B0502040504020204"/>
              <a:ea typeface="Noto Sans" panose="020B0502040504020204"/>
              <a:cs typeface="Noto Sans" panose="020B0502040504020204"/>
              <a:sym typeface="Noto Sans" panose="020B0502040504020204"/>
              <a:hlinkClick r:id="rId4" tooltip="https://github.com/espressif/esp-idf"/>
            </a:endParaRPr>
          </a:p>
        </p:txBody>
      </p:sp>
      <p:sp>
        <p:nvSpPr>
          <p:cNvPr id="36" name="TextBox 36"/>
          <p:cNvSpPr txBox="1"/>
          <p:nvPr/>
        </p:nvSpPr>
        <p:spPr>
          <a:xfrm>
            <a:off x="1321089" y="5160979"/>
            <a:ext cx="7872436" cy="1345098"/>
          </a:xfrm>
          <a:prstGeom prst="rect">
            <a:avLst/>
          </a:prstGeom>
        </p:spPr>
        <p:txBody>
          <a:bodyPr lIns="0" tIns="0" rIns="0" bIns="0" rtlCol="0" anchor="t">
            <a:spAutoFit/>
          </a:bodyPr>
          <a:lstStyle/>
          <a:p>
            <a:pPr algn="just">
              <a:lnSpc>
                <a:spcPts val="3585"/>
              </a:lnSpc>
            </a:pPr>
            <a:r>
              <a:rPr lang="en-US" sz="2560">
                <a:solidFill>
                  <a:srgbClr val="FFFFFF"/>
                </a:solidFill>
                <a:latin typeface="Noto Sans" panose="020B0502040504020204"/>
                <a:ea typeface="Noto Sans" panose="020B0502040504020204"/>
                <a:cs typeface="Noto Sans" panose="020B0502040504020204"/>
                <a:sym typeface="Noto Sans" panose="020B0502040504020204"/>
              </a:rPr>
              <a:t>[2] OWASP, IoT Security Verification Standard</a:t>
            </a:r>
            <a:endParaRPr lang="en-US" sz="2560">
              <a:solidFill>
                <a:srgbClr val="FFFFFF"/>
              </a:solidFill>
              <a:latin typeface="Noto Sans" panose="020B0502040504020204"/>
              <a:ea typeface="Noto Sans" panose="020B0502040504020204"/>
              <a:cs typeface="Noto Sans" panose="020B0502040504020204"/>
              <a:sym typeface="Noto Sans" panose="020B0502040504020204"/>
            </a:endParaRPr>
          </a:p>
          <a:p>
            <a:pPr algn="just">
              <a:lnSpc>
                <a:spcPts val="3585"/>
              </a:lnSpc>
            </a:pPr>
            <a:r>
              <a:rPr lang="en-US" sz="2560" u="sng">
                <a:solidFill>
                  <a:srgbClr val="FFFFFF"/>
                </a:solidFill>
                <a:latin typeface="Noto Sans" panose="020B0502040504020204"/>
                <a:ea typeface="Noto Sans" panose="020B0502040504020204"/>
                <a:cs typeface="Noto Sans" panose="020B0502040504020204"/>
                <a:sym typeface="Noto Sans" panose="020B0502040504020204"/>
                <a:hlinkClick r:id="rId5" tooltip="https://github.com/OWASP/IoT-Security-Verification-Standard-ISVS"/>
              </a:rPr>
              <a:t>https://github.com/OWASP/IoT-Security-Verification-Standard-ISVS</a:t>
            </a:r>
            <a:endParaRPr lang="en-US" sz="2560" u="sng">
              <a:solidFill>
                <a:srgbClr val="FFFFFF"/>
              </a:solidFill>
              <a:latin typeface="Noto Sans" panose="020B0502040504020204"/>
              <a:ea typeface="Noto Sans" panose="020B0502040504020204"/>
              <a:cs typeface="Noto Sans" panose="020B0502040504020204"/>
              <a:sym typeface="Noto Sans" panose="020B0502040504020204"/>
              <a:hlinkClick r:id="rId5" tooltip="https://github.com/OWASP/IoT-Security-Verification-Standard-ISVS"/>
            </a:endParaRPr>
          </a:p>
        </p:txBody>
      </p:sp>
      <p:sp>
        <p:nvSpPr>
          <p:cNvPr id="37" name="TextBox 37"/>
          <p:cNvSpPr txBox="1"/>
          <p:nvPr/>
        </p:nvSpPr>
        <p:spPr>
          <a:xfrm>
            <a:off x="1247775" y="6968490"/>
            <a:ext cx="8288655" cy="1379220"/>
          </a:xfrm>
          <a:prstGeom prst="rect">
            <a:avLst/>
          </a:prstGeom>
        </p:spPr>
        <p:txBody>
          <a:bodyPr wrap="square" lIns="0" tIns="0" rIns="0" bIns="0" rtlCol="0" anchor="t">
            <a:spAutoFit/>
          </a:bodyPr>
          <a:lstStyle/>
          <a:p>
            <a:pPr algn="just">
              <a:lnSpc>
                <a:spcPts val="3585"/>
              </a:lnSpc>
            </a:pPr>
            <a:r>
              <a:rPr lang="en-US" sz="2560">
                <a:solidFill>
                  <a:srgbClr val="FFFFFF"/>
                </a:solidFill>
                <a:latin typeface="Noto Sans" panose="020B0502040504020204"/>
                <a:ea typeface="Noto Sans" panose="020B0502040504020204"/>
                <a:cs typeface="Noto Sans" panose="020B0502040504020204"/>
                <a:sym typeface="Noto Sans" panose="020B0502040504020204"/>
              </a:rPr>
              <a:t>[3] OWASP, Firmware Security Testing Methodology</a:t>
            </a:r>
            <a:endParaRPr lang="en-US" sz="2560">
              <a:solidFill>
                <a:srgbClr val="FFFFFF"/>
              </a:solidFill>
              <a:latin typeface="Noto Sans" panose="020B0502040504020204"/>
              <a:ea typeface="Noto Sans" panose="020B0502040504020204"/>
              <a:cs typeface="Noto Sans" panose="020B0502040504020204"/>
              <a:sym typeface="Noto Sans" panose="020B0502040504020204"/>
            </a:endParaRPr>
          </a:p>
          <a:p>
            <a:pPr algn="just">
              <a:lnSpc>
                <a:spcPts val="3585"/>
              </a:lnSpc>
            </a:pPr>
            <a:r>
              <a:rPr lang="en-US" sz="2560" u="sng">
                <a:solidFill>
                  <a:srgbClr val="FFFFFF"/>
                </a:solidFill>
                <a:latin typeface="Noto Sans" panose="020B0502040504020204"/>
                <a:ea typeface="Noto Sans" panose="020B0502040504020204"/>
                <a:cs typeface="Noto Sans" panose="020B0502040504020204"/>
                <a:sym typeface="Noto Sans" panose="020B0502040504020204"/>
                <a:hlinkClick r:id="rId6" tooltip="https://github.com/scriptingxss/owasp-fstm"/>
              </a:rPr>
              <a:t>https://github.com/scriptingxss/owasp-fstm</a:t>
            </a:r>
            <a:endParaRPr lang="en-US" sz="2560" u="sng">
              <a:solidFill>
                <a:srgbClr val="FFFFFF"/>
              </a:solidFill>
              <a:latin typeface="Noto Sans" panose="020B0502040504020204"/>
              <a:ea typeface="Noto Sans" panose="020B0502040504020204"/>
              <a:cs typeface="Noto Sans" panose="020B0502040504020204"/>
              <a:sym typeface="Noto Sans" panose="020B0502040504020204"/>
            </a:endParaRPr>
          </a:p>
          <a:p>
            <a:pPr algn="just">
              <a:lnSpc>
                <a:spcPts val="3585"/>
              </a:lnSpc>
            </a:pPr>
          </a:p>
        </p:txBody>
      </p:sp>
      <p:sp>
        <p:nvSpPr>
          <p:cNvPr id="38" name="TextBox 38"/>
          <p:cNvSpPr txBox="1"/>
          <p:nvPr/>
        </p:nvSpPr>
        <p:spPr>
          <a:xfrm>
            <a:off x="1321089" y="8356482"/>
            <a:ext cx="7872436" cy="1345098"/>
          </a:xfrm>
          <a:prstGeom prst="rect">
            <a:avLst/>
          </a:prstGeom>
        </p:spPr>
        <p:txBody>
          <a:bodyPr lIns="0" tIns="0" rIns="0" bIns="0" rtlCol="0" anchor="t">
            <a:spAutoFit/>
          </a:bodyPr>
          <a:lstStyle/>
          <a:p>
            <a:pPr algn="just">
              <a:lnSpc>
                <a:spcPts val="3585"/>
              </a:lnSpc>
            </a:pPr>
            <a:r>
              <a:rPr lang="en-US" sz="2560">
                <a:solidFill>
                  <a:srgbClr val="FFFFFF"/>
                </a:solidFill>
                <a:latin typeface="Noto Sans" panose="020B0502040504020204"/>
                <a:ea typeface="Noto Sans" panose="020B0502040504020204"/>
                <a:cs typeface="Noto Sans" panose="020B0502040504020204"/>
                <a:sym typeface="Noto Sans" panose="020B0502040504020204"/>
              </a:rPr>
              <a:t>[4] OWASP, IoTGoat</a:t>
            </a:r>
            <a:endParaRPr lang="en-US" sz="2560">
              <a:solidFill>
                <a:srgbClr val="FFFFFF"/>
              </a:solidFill>
              <a:latin typeface="Noto Sans" panose="020B0502040504020204"/>
              <a:ea typeface="Noto Sans" panose="020B0502040504020204"/>
              <a:cs typeface="Noto Sans" panose="020B0502040504020204"/>
              <a:sym typeface="Noto Sans" panose="020B0502040504020204"/>
            </a:endParaRPr>
          </a:p>
          <a:p>
            <a:pPr algn="just">
              <a:lnSpc>
                <a:spcPts val="3585"/>
              </a:lnSpc>
            </a:pPr>
            <a:r>
              <a:rPr lang="en-US" sz="2560" u="sng">
                <a:solidFill>
                  <a:srgbClr val="FFFFFF"/>
                </a:solidFill>
                <a:latin typeface="Noto Sans" panose="020B0502040504020204"/>
                <a:ea typeface="Noto Sans" panose="020B0502040504020204"/>
                <a:cs typeface="Noto Sans" panose="020B0502040504020204"/>
                <a:sym typeface="Noto Sans" panose="020B0502040504020204"/>
                <a:hlinkClick r:id="rId7" tooltip="https://github.com/OWASP/IoTGoat"/>
              </a:rPr>
              <a:t>https://github.com/OWASP/IoTGoat</a:t>
            </a:r>
            <a:endParaRPr lang="en-US" sz="2560" u="sng">
              <a:solidFill>
                <a:srgbClr val="FFFFFF"/>
              </a:solidFill>
              <a:latin typeface="Noto Sans" panose="020B0502040504020204"/>
              <a:ea typeface="Noto Sans" panose="020B0502040504020204"/>
              <a:cs typeface="Noto Sans" panose="020B0502040504020204"/>
              <a:sym typeface="Noto Sans" panose="020B0502040504020204"/>
            </a:endParaRPr>
          </a:p>
          <a:p>
            <a:pPr algn="just">
              <a:lnSpc>
                <a:spcPts val="3585"/>
              </a:lnSpc>
            </a:pPr>
          </a:p>
        </p:txBody>
      </p:sp>
      <p:sp>
        <p:nvSpPr>
          <p:cNvPr id="39" name="TextBox 39"/>
          <p:cNvSpPr txBox="1"/>
          <p:nvPr/>
        </p:nvSpPr>
        <p:spPr>
          <a:xfrm>
            <a:off x="9570951" y="3835713"/>
            <a:ext cx="7872436" cy="890914"/>
          </a:xfrm>
          <a:prstGeom prst="rect">
            <a:avLst/>
          </a:prstGeom>
        </p:spPr>
        <p:txBody>
          <a:bodyPr lIns="0" tIns="0" rIns="0" bIns="0" rtlCol="0" anchor="t">
            <a:spAutoFit/>
          </a:bodyPr>
          <a:lstStyle/>
          <a:p>
            <a:pPr algn="just">
              <a:lnSpc>
                <a:spcPts val="3585"/>
              </a:lnSpc>
            </a:pPr>
            <a:r>
              <a:rPr lang="en-US" sz="2560">
                <a:solidFill>
                  <a:srgbClr val="FFFFFF"/>
                </a:solidFill>
                <a:latin typeface="Noto Sans" panose="020B0502040504020204"/>
                <a:ea typeface="Noto Sans" panose="020B0502040504020204"/>
                <a:cs typeface="Noto Sans" panose="020B0502040504020204"/>
                <a:sym typeface="Noto Sans" panose="020B0502040504020204"/>
              </a:rPr>
              <a:t>[5] RFC 9019 — A Firmware Update Architecture for IoT</a:t>
            </a:r>
            <a:endParaRPr lang="en-US" sz="2560">
              <a:solidFill>
                <a:srgbClr val="FFFFFF"/>
              </a:solidFill>
              <a:latin typeface="Noto Sans" panose="020B0502040504020204"/>
              <a:ea typeface="Noto Sans" panose="020B0502040504020204"/>
              <a:cs typeface="Noto Sans" panose="020B0502040504020204"/>
              <a:sym typeface="Noto Sans" panose="020B0502040504020204"/>
            </a:endParaRPr>
          </a:p>
        </p:txBody>
      </p:sp>
      <p:sp>
        <p:nvSpPr>
          <p:cNvPr id="40" name="TextBox 40"/>
          <p:cNvSpPr txBox="1"/>
          <p:nvPr/>
        </p:nvSpPr>
        <p:spPr>
          <a:xfrm>
            <a:off x="9570951" y="5223885"/>
            <a:ext cx="7872436" cy="890914"/>
          </a:xfrm>
          <a:prstGeom prst="rect">
            <a:avLst/>
          </a:prstGeom>
        </p:spPr>
        <p:txBody>
          <a:bodyPr lIns="0" tIns="0" rIns="0" bIns="0" rtlCol="0" anchor="t">
            <a:spAutoFit/>
          </a:bodyPr>
          <a:lstStyle/>
          <a:p>
            <a:pPr algn="just">
              <a:lnSpc>
                <a:spcPts val="3585"/>
              </a:lnSpc>
            </a:pPr>
            <a:r>
              <a:rPr lang="en-US" sz="2560">
                <a:solidFill>
                  <a:srgbClr val="FFFFFF"/>
                </a:solidFill>
                <a:latin typeface="Noto Sans" panose="020B0502040504020204"/>
                <a:ea typeface="Noto Sans" panose="020B0502040504020204"/>
                <a:cs typeface="Noto Sans" panose="020B0502040504020204"/>
                <a:sym typeface="Noto Sans" panose="020B0502040504020204"/>
              </a:rPr>
              <a:t>[6] RFC 9124 — Manifest Information Model for Firmware Updates</a:t>
            </a:r>
            <a:endParaRPr lang="en-US" sz="2560">
              <a:solidFill>
                <a:srgbClr val="FFFFFF"/>
              </a:solidFill>
              <a:latin typeface="Noto Sans" panose="020B0502040504020204"/>
              <a:ea typeface="Noto Sans" panose="020B0502040504020204"/>
              <a:cs typeface="Noto Sans" panose="020B0502040504020204"/>
              <a:sym typeface="Noto Sans" panose="020B0502040504020204"/>
            </a:endParaRPr>
          </a:p>
        </p:txBody>
      </p:sp>
      <p:grpSp>
        <p:nvGrpSpPr>
          <p:cNvPr id="41" name="Group 41"/>
          <p:cNvGrpSpPr/>
          <p:nvPr/>
        </p:nvGrpSpPr>
        <p:grpSpPr>
          <a:xfrm rot="0">
            <a:off x="9570951" y="6983872"/>
            <a:ext cx="7872436" cy="1994605"/>
            <a:chOff x="0" y="0"/>
            <a:chExt cx="883208" cy="223775"/>
          </a:xfrm>
        </p:grpSpPr>
        <p:sp>
          <p:nvSpPr>
            <p:cNvPr id="42" name="Freeform 42"/>
            <p:cNvSpPr/>
            <p:nvPr/>
          </p:nvSpPr>
          <p:spPr>
            <a:xfrm>
              <a:off x="0" y="0"/>
              <a:ext cx="883208" cy="223775"/>
            </a:xfrm>
            <a:custGeom>
              <a:avLst/>
              <a:gdLst/>
              <a:ahLst/>
              <a:cxnLst/>
              <a:rect l="l" t="t" r="r" b="b"/>
              <a:pathLst>
                <a:path w="883208" h="223775">
                  <a:moveTo>
                    <a:pt x="24586" y="0"/>
                  </a:moveTo>
                  <a:lnTo>
                    <a:pt x="858623" y="0"/>
                  </a:lnTo>
                  <a:cubicBezTo>
                    <a:pt x="872201" y="0"/>
                    <a:pt x="883208" y="11007"/>
                    <a:pt x="883208" y="24586"/>
                  </a:cubicBezTo>
                  <a:lnTo>
                    <a:pt x="883208" y="199189"/>
                  </a:lnTo>
                  <a:cubicBezTo>
                    <a:pt x="883208" y="205710"/>
                    <a:pt x="880618" y="211963"/>
                    <a:pt x="876007" y="216574"/>
                  </a:cubicBezTo>
                  <a:cubicBezTo>
                    <a:pt x="871397" y="221184"/>
                    <a:pt x="865143" y="223775"/>
                    <a:pt x="858623" y="223775"/>
                  </a:cubicBezTo>
                  <a:lnTo>
                    <a:pt x="24586" y="223775"/>
                  </a:lnTo>
                  <a:cubicBezTo>
                    <a:pt x="18065" y="223775"/>
                    <a:pt x="11812" y="221184"/>
                    <a:pt x="7201" y="216574"/>
                  </a:cubicBezTo>
                  <a:cubicBezTo>
                    <a:pt x="2590" y="211963"/>
                    <a:pt x="0" y="205710"/>
                    <a:pt x="0" y="199189"/>
                  </a:cubicBezTo>
                  <a:lnTo>
                    <a:pt x="0" y="24586"/>
                  </a:lnTo>
                  <a:cubicBezTo>
                    <a:pt x="0" y="18065"/>
                    <a:pt x="2590" y="11812"/>
                    <a:pt x="7201" y="7201"/>
                  </a:cubicBezTo>
                  <a:cubicBezTo>
                    <a:pt x="11812" y="2590"/>
                    <a:pt x="18065" y="0"/>
                    <a:pt x="24586" y="0"/>
                  </a:cubicBezTo>
                  <a:close/>
                </a:path>
              </a:pathLst>
            </a:custGeom>
            <a:gradFill rotWithShape="1">
              <a:gsLst>
                <a:gs pos="0">
                  <a:srgbClr val="31A1D4">
                    <a:alpha val="100000"/>
                  </a:srgbClr>
                </a:gs>
                <a:gs pos="100000">
                  <a:srgbClr val="001C37">
                    <a:alpha val="100000"/>
                  </a:srgbClr>
                </a:gs>
              </a:gsLst>
              <a:lin ang="2700000"/>
            </a:gradFill>
          </p:spPr>
        </p:sp>
        <p:sp>
          <p:nvSpPr>
            <p:cNvPr id="43" name="TextBox 43"/>
            <p:cNvSpPr txBox="1"/>
            <p:nvPr/>
          </p:nvSpPr>
          <p:spPr>
            <a:xfrm>
              <a:off x="0" y="-38100"/>
              <a:ext cx="883208" cy="261875"/>
            </a:xfrm>
            <a:prstGeom prst="rect">
              <a:avLst/>
            </a:prstGeom>
          </p:spPr>
          <p:txBody>
            <a:bodyPr lIns="50800" tIns="50800" rIns="50800" bIns="50800" rtlCol="0" anchor="ctr"/>
            <a:lstStyle/>
            <a:p>
              <a:pPr marL="0" lvl="0" indent="0" algn="ctr">
                <a:lnSpc>
                  <a:spcPts val="3355"/>
                </a:lnSpc>
                <a:spcBef>
                  <a:spcPct val="0"/>
                </a:spcBef>
              </a:pPr>
            </a:p>
          </p:txBody>
        </p:sp>
      </p:grpSp>
      <p:sp>
        <p:nvSpPr>
          <p:cNvPr id="44" name="TextBox 44"/>
          <p:cNvSpPr txBox="1"/>
          <p:nvPr/>
        </p:nvSpPr>
        <p:spPr>
          <a:xfrm>
            <a:off x="9690351" y="7272876"/>
            <a:ext cx="7633637" cy="1376638"/>
          </a:xfrm>
          <a:prstGeom prst="rect">
            <a:avLst/>
          </a:prstGeom>
        </p:spPr>
        <p:txBody>
          <a:bodyPr lIns="0" tIns="0" rIns="0" bIns="0" rtlCol="0" anchor="t">
            <a:spAutoFit/>
          </a:bodyPr>
          <a:lstStyle/>
          <a:p>
            <a:pPr algn="just">
              <a:lnSpc>
                <a:spcPts val="3675"/>
              </a:lnSpc>
            </a:pPr>
            <a:r>
              <a:rPr lang="en-US" sz="2625">
                <a:solidFill>
                  <a:srgbClr val="FFFFFF"/>
                </a:solidFill>
                <a:latin typeface="Noto Sans" panose="020B0502040504020204"/>
                <a:ea typeface="Noto Sans" panose="020B0502040504020204"/>
                <a:cs typeface="Noto Sans" panose="020B0502040504020204"/>
                <a:sym typeface="Noto Sans" panose="020B0502040504020204"/>
              </a:rPr>
              <a:t>Repository đề tài: </a:t>
            </a:r>
            <a:endParaRPr lang="en-US" sz="2625">
              <a:solidFill>
                <a:srgbClr val="FFFFFF"/>
              </a:solidFill>
              <a:latin typeface="Noto Sans" panose="020B0502040504020204"/>
              <a:ea typeface="Noto Sans" panose="020B0502040504020204"/>
              <a:cs typeface="Noto Sans" panose="020B0502040504020204"/>
              <a:sym typeface="Noto Sans" panose="020B0502040504020204"/>
            </a:endParaRPr>
          </a:p>
          <a:p>
            <a:pPr algn="just">
              <a:lnSpc>
                <a:spcPts val="3675"/>
              </a:lnSpc>
            </a:pPr>
            <a:r>
              <a:rPr lang="en-US" sz="2625" u="sng">
                <a:solidFill>
                  <a:srgbClr val="FFFFFF"/>
                </a:solidFill>
                <a:latin typeface="Noto Sans" panose="020B0502040504020204"/>
                <a:ea typeface="Noto Sans" panose="020B0502040504020204"/>
                <a:cs typeface="Noto Sans" panose="020B0502040504020204"/>
                <a:sym typeface="Noto Sans" panose="020B0502040504020204"/>
                <a:hlinkClick r:id="rId8" tooltip="https://github.com/hv6z/n20-secure-firmware-update-iot"/>
              </a:rPr>
              <a:t>https://github.com/hv6z/n20-secure-firmware-update-iot</a:t>
            </a:r>
            <a:endParaRPr lang="en-US" sz="2625" u="sng">
              <a:solidFill>
                <a:srgbClr val="FFFFFF"/>
              </a:solidFill>
              <a:latin typeface="Noto Sans" panose="020B0502040504020204"/>
              <a:ea typeface="Noto Sans" panose="020B0502040504020204"/>
              <a:cs typeface="Noto Sans" panose="020B0502040504020204"/>
              <a:sym typeface="Noto Sans" panose="020B0502040504020204"/>
              <a:hlinkClick r:id="rId8" tooltip="https://github.com/hv6z/n20-secure-firmware-update-io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65984" r="-65984"/>
            </a:stretch>
          </a:blipFill>
        </p:spPr>
      </p:sp>
      <p:sp>
        <p:nvSpPr>
          <p:cNvPr id="3" name="Freeform 3"/>
          <p:cNvSpPr/>
          <p:nvPr/>
        </p:nvSpPr>
        <p:spPr>
          <a:xfrm>
            <a:off x="-2108849" y="6034841"/>
            <a:ext cx="9438577" cy="6748583"/>
          </a:xfrm>
          <a:custGeom>
            <a:avLst/>
            <a:gdLst/>
            <a:ahLst/>
            <a:cxnLst/>
            <a:rect l="l" t="t" r="r" b="b"/>
            <a:pathLst>
              <a:path w="9438577" h="6748583">
                <a:moveTo>
                  <a:pt x="0" y="0"/>
                </a:moveTo>
                <a:lnTo>
                  <a:pt x="9438578" y="0"/>
                </a:lnTo>
                <a:lnTo>
                  <a:pt x="9438578" y="6748583"/>
                </a:lnTo>
                <a:lnTo>
                  <a:pt x="0" y="6748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rot="0">
            <a:off x="-1482992" y="7162049"/>
            <a:ext cx="3636307" cy="3124951"/>
            <a:chOff x="0" y="0"/>
            <a:chExt cx="812800" cy="698500"/>
          </a:xfrm>
        </p:grpSpPr>
        <p:sp>
          <p:nvSpPr>
            <p:cNvPr id="5" name="Freeform 5"/>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6" name="TextBox 6"/>
            <p:cNvSpPr txBox="1"/>
            <p:nvPr/>
          </p:nvSpPr>
          <p:spPr>
            <a:xfrm>
              <a:off x="114300" y="-38100"/>
              <a:ext cx="584200" cy="736600"/>
            </a:xfrm>
            <a:prstGeom prst="rect">
              <a:avLst/>
            </a:prstGeom>
          </p:spPr>
          <p:txBody>
            <a:bodyPr lIns="50800" tIns="50800" rIns="50800" bIns="50800" rtlCol="0" anchor="ctr"/>
            <a:lstStyle/>
            <a:p>
              <a:pPr marL="0" lvl="0" indent="0" algn="ctr">
                <a:lnSpc>
                  <a:spcPts val="3355"/>
                </a:lnSpc>
                <a:spcBef>
                  <a:spcPct val="0"/>
                </a:spcBef>
              </a:pPr>
            </a:p>
          </p:txBody>
        </p:sp>
      </p:grpSp>
      <p:grpSp>
        <p:nvGrpSpPr>
          <p:cNvPr id="7" name="Group 7"/>
          <p:cNvGrpSpPr/>
          <p:nvPr/>
        </p:nvGrpSpPr>
        <p:grpSpPr>
          <a:xfrm rot="0">
            <a:off x="1028700" y="8501408"/>
            <a:ext cx="4155559" cy="3571183"/>
            <a:chOff x="0" y="0"/>
            <a:chExt cx="812800" cy="698500"/>
          </a:xfrm>
        </p:grpSpPr>
        <p:sp>
          <p:nvSpPr>
            <p:cNvPr id="8" name="Freeform 8"/>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9" name="TextBox 9"/>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0" name="Group 10"/>
          <p:cNvGrpSpPr/>
          <p:nvPr/>
        </p:nvGrpSpPr>
        <p:grpSpPr>
          <a:xfrm rot="0">
            <a:off x="335162" y="6342923"/>
            <a:ext cx="1906328" cy="1638251"/>
            <a:chOff x="0" y="0"/>
            <a:chExt cx="812800" cy="698500"/>
          </a:xfrm>
        </p:grpSpPr>
        <p:sp>
          <p:nvSpPr>
            <p:cNvPr id="11" name="Freeform 1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35000"/>
                  </a:srgbClr>
                </a:gs>
                <a:gs pos="100000">
                  <a:srgbClr val="035E8E">
                    <a:alpha val="0"/>
                  </a:srgbClr>
                </a:gs>
              </a:gsLst>
              <a:lin ang="0"/>
            </a:gradFill>
          </p:spPr>
        </p:sp>
        <p:sp>
          <p:nvSpPr>
            <p:cNvPr id="12" name="TextBox 12"/>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grpSp>
        <p:nvGrpSpPr>
          <p:cNvPr id="13" name="Group 13"/>
          <p:cNvGrpSpPr/>
          <p:nvPr/>
        </p:nvGrpSpPr>
        <p:grpSpPr>
          <a:xfrm rot="0">
            <a:off x="3746822" y="8501408"/>
            <a:ext cx="1510485" cy="1298073"/>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gradFill rotWithShape="1">
              <a:gsLst>
                <a:gs pos="0">
                  <a:srgbClr val="31A1D4">
                    <a:alpha val="47000"/>
                  </a:srgbClr>
                </a:gs>
                <a:gs pos="100000">
                  <a:srgbClr val="035E8E">
                    <a:alpha val="0"/>
                  </a:srgbClr>
                </a:gs>
              </a:gsLst>
              <a:lin ang="0"/>
            </a:gradFill>
          </p:spPr>
        </p:sp>
        <p:sp>
          <p:nvSpPr>
            <p:cNvPr id="15" name="TextBox 15"/>
            <p:cNvSpPr txBox="1"/>
            <p:nvPr/>
          </p:nvSpPr>
          <p:spPr>
            <a:xfrm>
              <a:off x="114300" y="-38100"/>
              <a:ext cx="584200" cy="736600"/>
            </a:xfrm>
            <a:prstGeom prst="rect">
              <a:avLst/>
            </a:prstGeom>
          </p:spPr>
          <p:txBody>
            <a:bodyPr lIns="50800" tIns="50800" rIns="50800" bIns="50800" rtlCol="0" anchor="ctr"/>
            <a:lstStyle/>
            <a:p>
              <a:pPr algn="ctr">
                <a:lnSpc>
                  <a:spcPts val="3355"/>
                </a:lnSpc>
              </a:pPr>
            </a:p>
          </p:txBody>
        </p:sp>
      </p:grpSp>
      <p:sp>
        <p:nvSpPr>
          <p:cNvPr id="16" name="TextBox 16"/>
          <p:cNvSpPr txBox="1"/>
          <p:nvPr/>
        </p:nvSpPr>
        <p:spPr>
          <a:xfrm>
            <a:off x="639617" y="3723060"/>
            <a:ext cx="17008767" cy="2198992"/>
          </a:xfrm>
          <a:prstGeom prst="rect">
            <a:avLst/>
          </a:prstGeom>
        </p:spPr>
        <p:txBody>
          <a:bodyPr lIns="0" tIns="0" rIns="0" bIns="0" rtlCol="0" anchor="t">
            <a:spAutoFit/>
          </a:bodyPr>
          <a:lstStyle/>
          <a:p>
            <a:pPr algn="ctr">
              <a:lnSpc>
                <a:spcPts val="17965"/>
              </a:lnSpc>
              <a:spcBef>
                <a:spcPct val="0"/>
              </a:spcBef>
            </a:pPr>
            <a:r>
              <a:rPr lang="en-US" sz="1283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rPr>
              <a:t>THANK YOU</a:t>
            </a:r>
            <a:endParaRPr lang="en-US" sz="12835" b="1">
              <a:solidFill>
                <a:srgbClr val="FFFFFF"/>
              </a:solidFill>
              <a:latin typeface="TT Lakes Neue Extended Bold" panose="02010001040000080307"/>
              <a:ea typeface="TT Lakes Neue Extended Bold" panose="02010001040000080307"/>
              <a:cs typeface="TT Lakes Neue Extended Bold" panose="02010001040000080307"/>
              <a:sym typeface="TT Lakes Neue Extended Bold" panose="0201000104000008030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5190</Words>
  <Application>WPS Presentation</Application>
  <PresentationFormat>On-screen Show (4:3)</PresentationFormat>
  <Paragraphs>283</Paragraphs>
  <Slides>13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13</vt:i4>
      </vt:variant>
    </vt:vector>
  </HeadingPairs>
  <TitlesOfParts>
    <vt:vector size="26" baseType="lpstr">
      <vt:lpstr>Arial</vt:lpstr>
      <vt:lpstr>SimSun</vt:lpstr>
      <vt:lpstr>Wingdings</vt:lpstr>
      <vt:lpstr>TT Lakes Neue Extended Bold</vt:lpstr>
      <vt:lpstr>TT Lakes Neue Extended</vt:lpstr>
      <vt:lpstr>Montserrat Light</vt:lpstr>
      <vt:lpstr>Montserrat Bold</vt:lpstr>
      <vt:lpstr>Montserrat</vt:lpstr>
      <vt:lpstr>Noto Sans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Technology Company Presentation</dc:title>
  <dc:creator/>
  <cp:lastModifiedBy>Kemm</cp:lastModifiedBy>
  <cp:revision>2</cp:revision>
  <dcterms:created xsi:type="dcterms:W3CDTF">2006-08-16T00:00:00Z</dcterms:created>
  <dcterms:modified xsi:type="dcterms:W3CDTF">2026-07-16T09:04:51Z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5698651005B84CC7B41D0203074EAFB5_12</vt:lpwstr>
  </property>
  <property fmtid="{D5CDD505-2E9C-101B-9397-08002B2CF9AE}" pid="3" name="KSOProductBuildVer">
    <vt:lpwstr>1033-12.1.0.26880</vt:lpwstr>
  </property>
</Properties>
</file>