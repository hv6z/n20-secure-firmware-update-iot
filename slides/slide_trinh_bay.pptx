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svg" ContentType="image/svg+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aa53a2cb004a4f" /><Relationship Type="http://schemas.openxmlformats.org/officeDocument/2006/relationships/extended-properties" Target="/docProps/app.xml" Id="R7d69cb0f1aa646ae" /><Relationship Type="http://schemas.openxmlformats.org/officeDocument/2006/relationships/officeDocument" Target="/ppt/presentation.xml" Id="Rc29f8a756dd34096" /></Relationships>
</file>

<file path=ppt/presentation.xml><?xml version="1.0" encoding="utf-8"?>
<p:presentation xmlns:p="http://schemas.openxmlformats.org/presentationml/2006/main" embedTrueTypeFonts="1" saveSubsetFonts="1">
  <p:sldMasterIdLst>
    <p:sldMasterId xmlns:r="http://schemas.openxmlformats.org/officeDocument/2006/relationships" id="2147483648" r:id="R388feabf9b73446d"/>
  </p:sldMasterIdLst>
  <p:notesMasterIdLst>
    <p:notesMasterId xmlns:r="http://schemas.openxmlformats.org/officeDocument/2006/relationships" r:id="R15f950ad85914f30"/>
  </p:notesMasterIdLst>
  <p:sldIdLst>
    <p:sldId xmlns:r="http://schemas.openxmlformats.org/officeDocument/2006/relationships" id="256" r:id="Rc2a636c17a994824"/>
    <p:sldId xmlns:r="http://schemas.openxmlformats.org/officeDocument/2006/relationships" id="257" r:id="R37adb3a9ddd241a2"/>
    <p:sldId xmlns:r="http://schemas.openxmlformats.org/officeDocument/2006/relationships" id="258" r:id="R7c337c7ae8d8451d"/>
    <p:sldId xmlns:r="http://schemas.openxmlformats.org/officeDocument/2006/relationships" id="259" r:id="R0605944a6eeb4005"/>
    <p:sldId xmlns:r="http://schemas.openxmlformats.org/officeDocument/2006/relationships" id="260" r:id="R12e9d47e369544b9"/>
    <p:sldId xmlns:r="http://schemas.openxmlformats.org/officeDocument/2006/relationships" id="261" r:id="R95c3f6f4a47e4f86"/>
    <p:sldId xmlns:r="http://schemas.openxmlformats.org/officeDocument/2006/relationships" id="262" r:id="R4ba1260bdb85482f"/>
    <p:sldId xmlns:r="http://schemas.openxmlformats.org/officeDocument/2006/relationships" id="263" r:id="R3e3f8581c8634863"/>
    <p:sldId xmlns:r="http://schemas.openxmlformats.org/officeDocument/2006/relationships" id="264" r:id="Rd80ea99a765248c7"/>
    <p:sldId xmlns:r="http://schemas.openxmlformats.org/officeDocument/2006/relationships" id="265" r:id="Rb8395d7620374d45"/>
    <p:sldId xmlns:r="http://schemas.openxmlformats.org/officeDocument/2006/relationships" id="266" r:id="R3841a73a65e140bf"/>
    <p:sldId xmlns:r="http://schemas.openxmlformats.org/officeDocument/2006/relationships" id="267" r:id="Redfc5f6ca99445cb"/>
  </p:sldIdLst>
  <p:sldSz cx="18288000" cy="10287000"/>
  <p:notesSz cx="6858000" cy="9144000"/>
  <p:embeddedFontLst>
    <p:embeddedFont>
      <p:font typeface="TT Lakes Neue Extended Bold"/>
      <p:bold xmlns:r="http://schemas.openxmlformats.org/officeDocument/2006/relationships" r:id="R0aad69a54305480a"/>
    </p:embeddedFont>
    <p:embeddedFont>
      <p:font typeface="TT Lakes Neue Extended"/>
      <p:regular xmlns:r="http://schemas.openxmlformats.org/officeDocument/2006/relationships" r:id="Rc8e2df82e5fc41d6"/>
    </p:embeddedFont>
    <p:embeddedFont>
      <p:font typeface="Montserrat Light"/>
      <p:regular xmlns:r="http://schemas.openxmlformats.org/officeDocument/2006/relationships" r:id="Rcc68e09d4bdf49b6"/>
    </p:embeddedFont>
    <p:embeddedFont>
      <p:font typeface="Montserrat Bold"/>
      <p:bold xmlns:r="http://schemas.openxmlformats.org/officeDocument/2006/relationships" r:id="R615ac66b29e24cec"/>
    </p:embeddedFont>
    <p:embeddedFont>
      <p:font typeface="Montserrat"/>
      <p:regular xmlns:r="http://schemas.openxmlformats.org/officeDocument/2006/relationships" r:id="R324205e10af84b3b"/>
    </p:embeddedFont>
    <p:embeddedFont>
      <p:font typeface="Noto Sans"/>
      <p:regular xmlns:r="http://schemas.openxmlformats.org/officeDocument/2006/relationships" r:id="R3f19ce5022b24883"/>
    </p:embeddedFont>
    <p:embeddedFont>
      <p:font typeface="Calibri"/>
      <p:regular xmlns:r="http://schemas.openxmlformats.org/officeDocument/2006/relationships" r:id="R482a491f94be4e71"/>
      <p:bold xmlns:r="http://schemas.openxmlformats.org/officeDocument/2006/relationships" r:id="R48b2caf7a390465e"/>
      <p:italic xmlns:r="http://schemas.openxmlformats.org/officeDocument/2006/relationships" r:id="R36a1cc2f8a7b4412"/>
      <p:boldItalic xmlns:r="http://schemas.openxmlformats.org/officeDocument/2006/relationships" r:id="R115c9d44cd074e2d"/>
    </p:embeddedFont>
  </p:embeddedFontLst>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22034a52a9e4bfe" /><Relationship Type="http://schemas.openxmlformats.org/officeDocument/2006/relationships/slideMaster" Target="/ppt/slideMasters/slideMaster1.xml" Id="R388feabf9b73446d" /><Relationship Type="http://schemas.openxmlformats.org/officeDocument/2006/relationships/notesMaster" Target="/ppt/notesMasters/notesMaster1.xml" Id="R15f950ad85914f30" /><Relationship Type="http://schemas.openxmlformats.org/officeDocument/2006/relationships/presProps" Target="/ppt/presProps.xml" Id="R441c73fc12e643af" /><Relationship Type="http://schemas.openxmlformats.org/officeDocument/2006/relationships/viewProps" Target="/ppt/viewProps.xml" Id="R73323898d36f4187" /><Relationship Type="http://schemas.openxmlformats.org/officeDocument/2006/relationships/tableStyles" Target="/ppt/tableStyles.xml" Id="R65bb359f15c4445d" /><Relationship Type="http://schemas.openxmlformats.org/officeDocument/2006/relationships/font" Target="/ppt/fonts/font.dat" Id="R0aad69a54305480a" /><Relationship Type="http://schemas.openxmlformats.org/officeDocument/2006/relationships/font" Target="/ppt/fonts/font2.dat" Id="Rc8e2df82e5fc41d6" /><Relationship Type="http://schemas.openxmlformats.org/officeDocument/2006/relationships/font" Target="/ppt/fonts/font3.dat" Id="Rcc68e09d4bdf49b6" /><Relationship Type="http://schemas.openxmlformats.org/officeDocument/2006/relationships/font" Target="/ppt/fonts/font4.dat" Id="R615ac66b29e24cec" /><Relationship Type="http://schemas.openxmlformats.org/officeDocument/2006/relationships/font" Target="/ppt/fonts/font5.dat" Id="R324205e10af84b3b" /><Relationship Type="http://schemas.openxmlformats.org/officeDocument/2006/relationships/font" Target="/ppt/fonts/font6.dat" Id="R3f19ce5022b24883" /><Relationship Type="http://schemas.openxmlformats.org/officeDocument/2006/relationships/font" Target="/ppt/fonts/font7.dat" Id="R482a491f94be4e71" /><Relationship Type="http://schemas.openxmlformats.org/officeDocument/2006/relationships/font" Target="/ppt/fonts/font8.dat" Id="R48b2caf7a390465e" /><Relationship Type="http://schemas.openxmlformats.org/officeDocument/2006/relationships/font" Target="/ppt/fonts/font9.dat" Id="R36a1cc2f8a7b4412" /><Relationship Type="http://schemas.openxmlformats.org/officeDocument/2006/relationships/font" Target="/ppt/fonts/font10.dat" Id="R115c9d44cd074e2d" /><Relationship Type="http://schemas.openxmlformats.org/officeDocument/2006/relationships/slide" Target="/ppt/slides/slide1.xml" Id="Rc2a636c17a994824" /><Relationship Type="http://schemas.openxmlformats.org/officeDocument/2006/relationships/slide" Target="/ppt/slides/slide2.xml" Id="R37adb3a9ddd241a2" /><Relationship Type="http://schemas.openxmlformats.org/officeDocument/2006/relationships/slide" Target="/ppt/slides/slide3.xml" Id="R7c337c7ae8d8451d" /><Relationship Type="http://schemas.openxmlformats.org/officeDocument/2006/relationships/slide" Target="/ppt/slides/slide4.xml" Id="R0605944a6eeb4005" /><Relationship Type="http://schemas.openxmlformats.org/officeDocument/2006/relationships/slide" Target="/ppt/slides/slide5.xml" Id="R12e9d47e369544b9" /><Relationship Type="http://schemas.openxmlformats.org/officeDocument/2006/relationships/slide" Target="/ppt/slides/slide6.xml" Id="R95c3f6f4a47e4f86" /><Relationship Type="http://schemas.openxmlformats.org/officeDocument/2006/relationships/slide" Target="/ppt/slides/slide7.xml" Id="R4ba1260bdb85482f" /><Relationship Type="http://schemas.openxmlformats.org/officeDocument/2006/relationships/slide" Target="/ppt/slides/slide8.xml" Id="R3e3f8581c8634863" /><Relationship Type="http://schemas.openxmlformats.org/officeDocument/2006/relationships/slide" Target="/ppt/slides/slide9.xml" Id="Rd80ea99a765248c7" /><Relationship Type="http://schemas.openxmlformats.org/officeDocument/2006/relationships/slide" Target="/ppt/slides/slide10.xml" Id="Rb8395d7620374d45" /><Relationship Type="http://schemas.openxmlformats.org/officeDocument/2006/relationships/slide" Target="/ppt/slides/slide11.xml" Id="R3841a73a65e140bf" /><Relationship Type="http://schemas.openxmlformats.org/officeDocument/2006/relationships/slide" Target="/ppt/slides/slide12.xml" Id="Redfc5f6ca99445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e6577cd6f18455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858666a5f9458b" /><Relationship Type="http://schemas.openxmlformats.org/officeDocument/2006/relationships/notesMaster" Target="/ppt/notesMasters/notesMaster1.xml" Id="R270fce6762c542e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7a9faa4b021432a" /><Relationship Type="http://schemas.openxmlformats.org/officeDocument/2006/relationships/notesMaster" Target="/ppt/notesMasters/notesMaster1.xml" Id="R310e6b13074f468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59a7781991c40e6" /><Relationship Type="http://schemas.openxmlformats.org/officeDocument/2006/relationships/notesMaster" Target="/ppt/notesMasters/notesMaster1.xml" Id="Re7ed9b55743847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85ddd4e4adc941f3" /><Relationship Type="http://schemas.openxmlformats.org/officeDocument/2006/relationships/notesMaster" Target="/ppt/notesMasters/notesMaster1.xml" Id="Rb76cba2cf551467b" /></Relationships>
</file>

<file path=ppt/notesSlides/_rels/notesSlide5.xml.rels>&#65279;<?xml version="1.0" encoding="utf-8"?><Relationships xmlns="http://schemas.openxmlformats.org/package/2006/relationships"><Relationship Type="http://schemas.openxmlformats.org/officeDocument/2006/relationships/slide" Target="/ppt/slides/slide5.xml" Id="R5c4743c73e934528" /><Relationship Type="http://schemas.openxmlformats.org/officeDocument/2006/relationships/notesMaster" Target="/ppt/notesMasters/notesMaster1.xml" Id="R4cf60664dc634cf2"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306f17910d45b6" /><Relationship Type="http://schemas.openxmlformats.org/officeDocument/2006/relationships/notesMaster" Target="/ppt/notesMasters/notesMaster1.xml" Id="R2caeae91c1c8478a" /></Relationships>
</file>

<file path=ppt/notesSlides/_rels/notesSlide7.xml.rels>&#65279;<?xml version="1.0" encoding="utf-8"?><Relationships xmlns="http://schemas.openxmlformats.org/package/2006/relationships"><Relationship Type="http://schemas.openxmlformats.org/officeDocument/2006/relationships/slide" Target="/ppt/slides/slide7.xml" Id="R96e5fbe3104b4dc1" /><Relationship Type="http://schemas.openxmlformats.org/officeDocument/2006/relationships/notesMaster" Target="/ppt/notesMasters/notesMaster1.xml" Id="R769163c915974d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fe80fd1bab84441" /><Relationship Type="http://schemas.openxmlformats.org/officeDocument/2006/relationships/notesMaster" Target="/ppt/notesMasters/notesMaster1.xml" Id="R12b830dbd160470b" /></Relationships>
</file>

<file path=ppt/notesSlides/_rels/notesSlide9.xml.rels>&#65279;<?xml version="1.0" encoding="utf-8"?><Relationships xmlns="http://schemas.openxmlformats.org/package/2006/relationships"><Relationship Type="http://schemas.openxmlformats.org/officeDocument/2006/relationships/slide" Target="/ppt/slides/slide9.xml" Id="R5db4147d36574fc5" /><Relationship Type="http://schemas.openxmlformats.org/officeDocument/2006/relationships/notesMaster" Target="/ppt/notesMasters/notesMaster1.xml" Id="R5b8aaf5346484b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d574bee5c2d4e45" /><Relationship Type="http://schemas.openxmlformats.org/officeDocument/2006/relationships/notesMaster" Target="/ppt/notesMasters/notesMaster1.xml" Id="Rce6247e76fc547c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79ee0c464ff4148" /><Relationship Type="http://schemas.openxmlformats.org/officeDocument/2006/relationships/notesMaster" Target="/ppt/notesMasters/notesMaster1.xml" Id="R025ca4b45c2d49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e6c21c8d92441c9" /><Relationship Type="http://schemas.openxmlformats.org/officeDocument/2006/relationships/notesMaster" Target="/ppt/notesMasters/notesMaster1.xml" Id="R6f40cd13adea42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36b504ca7b44c4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f55e33dd3f3496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5db5daba0864c5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8e8d823949e4aa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cd404860575499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5a8c310d174444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fa6cd69948f4c1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4c88143d3bf7436d"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68179f4d6b94f4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02b013beee44ca0"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50c34b953b2b46a6"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ED0CFF3-9990-40E8-8987-ED002115094C}"/>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24AC1374-311B-438F-BCDD-06B694B82BB5}"/>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3CD86ED1-5CA6-44B5-B493-880CE4D8290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5" name="Footer Placeholder 4">
            <a:extLst xmlns:a="http://schemas.openxmlformats.org/drawingml/2006/main">
              <a:ext uri="{FF2B5EF4-FFF2-40B4-BE49-F238E27FC236}">
                <a16:creationId xmlns:a16="http://schemas.microsoft.com/office/drawing/2014/main" id="{64E9CF11-BA91-4C0A-ADC7-C039C557E68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9F1EF04A-9C43-47E8-B6D0-FFDF8EF490C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59F63B9-2000-4C75-863F-C5725BC650D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F873C461-1A68-49BC-8A14-CC9BDDC30E00}"/>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458F1E7E-F6ED-4CEC-8556-A2B464BEF18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5" name="Footer Placeholder 4">
            <a:extLst xmlns:a="http://schemas.openxmlformats.org/drawingml/2006/main">
              <a:ext uri="{FF2B5EF4-FFF2-40B4-BE49-F238E27FC236}">
                <a16:creationId xmlns:a16="http://schemas.microsoft.com/office/drawing/2014/main" id="{B2DFC036-69EC-41FA-B5E9-0DE6B52DC14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AAE6A4E-88AF-4057-B335-2B9EF8CDFD1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584F172-5FC8-4767-874C-0A8A740F4F71}"/>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F0967651-6924-4E08-8497-69A522BD6350}"/>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991C5554-63AB-4CAD-B328-57CB9AE6824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5" name="Footer Placeholder 4">
            <a:extLst xmlns:a="http://schemas.openxmlformats.org/drawingml/2006/main">
              <a:ext uri="{FF2B5EF4-FFF2-40B4-BE49-F238E27FC236}">
                <a16:creationId xmlns:a16="http://schemas.microsoft.com/office/drawing/2014/main" id="{861D8307-DCAD-406F-A3B7-7615470ABF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4EB057F4-00BC-4A39-9902-F923588A1BB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5DECAC0-5AC4-4F5A-895F-2C87D55B11F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39878214-F4FB-42A2-AD54-51B0060B516B}"/>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Content Placeholder 3">
            <a:extLst xmlns:a="http://schemas.openxmlformats.org/drawingml/2006/main">
              <a:ext uri="{FF2B5EF4-FFF2-40B4-BE49-F238E27FC236}">
                <a16:creationId xmlns:a16="http://schemas.microsoft.com/office/drawing/2014/main" id="{6F1D3DD3-0C75-4044-9C84-FAE0B97418CB}"/>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Date Placeholder 4">
            <a:extLst xmlns:a="http://schemas.openxmlformats.org/drawingml/2006/main">
              <a:ext uri="{FF2B5EF4-FFF2-40B4-BE49-F238E27FC236}">
                <a16:creationId xmlns:a16="http://schemas.microsoft.com/office/drawing/2014/main" id="{D4191163-177E-49DF-80AA-66310505366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6" name="Footer Placeholder 5">
            <a:extLst xmlns:a="http://schemas.openxmlformats.org/drawingml/2006/main">
              <a:ext uri="{FF2B5EF4-FFF2-40B4-BE49-F238E27FC236}">
                <a16:creationId xmlns:a16="http://schemas.microsoft.com/office/drawing/2014/main" id="{ED7B4FD1-8E0E-4C87-829E-56127A30C06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EA9716A8-7BAF-4669-92BF-F8F6D118CE8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FF388C1-5F8D-4181-AC7D-91BC4944701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2D30A6E-4FA7-4AC3-8CAB-AD4F3931DEA8}"/>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D5E0253B-FAD5-450E-A931-49260512E1A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Text Placeholder 4">
            <a:extLst xmlns:a="http://schemas.openxmlformats.org/drawingml/2006/main">
              <a:ext uri="{FF2B5EF4-FFF2-40B4-BE49-F238E27FC236}">
                <a16:creationId xmlns:a16="http://schemas.microsoft.com/office/drawing/2014/main" id="{4F163A4C-0B9C-45DF-85C8-9EAEDE86952C}"/>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74745A93-2D14-4D92-A263-BCEA6D252F26}"/>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7" name="Date Placeholder 6">
            <a:extLst xmlns:a="http://schemas.openxmlformats.org/drawingml/2006/main">
              <a:ext uri="{FF2B5EF4-FFF2-40B4-BE49-F238E27FC236}">
                <a16:creationId xmlns:a16="http://schemas.microsoft.com/office/drawing/2014/main" id="{698904B8-ADB2-4235-A45D-6C332FB6C02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8" name="Footer Placeholder 7">
            <a:extLst xmlns:a="http://schemas.openxmlformats.org/drawingml/2006/main">
              <a:ext uri="{FF2B5EF4-FFF2-40B4-BE49-F238E27FC236}">
                <a16:creationId xmlns:a16="http://schemas.microsoft.com/office/drawing/2014/main" id="{E0CCF297-E49D-4654-A59F-302B1F50929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B187DB6F-3D20-4BE0-807E-2FA13EBE2F4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E403D96-B5C3-4146-8654-79918107E94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3FE08B23-E74D-40F2-B3FB-0412E614A88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3">
            <a:extLst xmlns:a="http://schemas.openxmlformats.org/drawingml/2006/main">
              <a:ext uri="{FF2B5EF4-FFF2-40B4-BE49-F238E27FC236}">
                <a16:creationId xmlns:a16="http://schemas.microsoft.com/office/drawing/2014/main" id="{D368F26F-1895-4E6E-8676-CC76338BAFD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BD62A1B3-B35B-4722-87C4-473E2A78DD5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E40C2454-407E-4F9C-9F82-C705FB7FB3E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3" name="Footer Placeholder 2">
            <a:extLst xmlns:a="http://schemas.openxmlformats.org/drawingml/2006/main">
              <a:ext uri="{FF2B5EF4-FFF2-40B4-BE49-F238E27FC236}">
                <a16:creationId xmlns:a16="http://schemas.microsoft.com/office/drawing/2014/main" id="{986F03A7-CEE6-478A-A572-2EE76C58EA4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4CA8B59F-0EDB-41D3-918B-581A96E6F71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590058A-E8DB-44F3-8FAB-51984EDB8FA8}"/>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37030FBE-385F-4617-B4B9-CEC9CB6A1B44}"/>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ext Placeholder 3">
            <a:extLst xmlns:a="http://schemas.openxmlformats.org/drawingml/2006/main">
              <a:ext uri="{FF2B5EF4-FFF2-40B4-BE49-F238E27FC236}">
                <a16:creationId xmlns:a16="http://schemas.microsoft.com/office/drawing/2014/main" id="{BE8FF649-16C0-4544-87ED-02A4DA578E18}"/>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B7972BE6-4C20-4C97-A519-C199E987F7A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6" name="Footer Placeholder 5">
            <a:extLst xmlns:a="http://schemas.openxmlformats.org/drawingml/2006/main">
              <a:ext uri="{FF2B5EF4-FFF2-40B4-BE49-F238E27FC236}">
                <a16:creationId xmlns:a16="http://schemas.microsoft.com/office/drawing/2014/main" id="{B38C0EE4-C17C-438C-A33C-8447720AF92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F009AE3F-0B5E-4316-8E73-0F2AEBDDCD4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5015B9F-66B5-4D12-8F68-FB6D68EC4BEC}"/>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38CCD7F9-0E80-4EB7-BF21-98E8302EE3D1}"/>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0AF05456-28C7-443B-A16D-31DE5F3B037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DC4D54F-5840-474A-B5D1-A1BC7F7A0A8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6" name="Footer Placeholder 5">
            <a:extLst xmlns:a="http://schemas.openxmlformats.org/drawingml/2006/main">
              <a:ext uri="{FF2B5EF4-FFF2-40B4-BE49-F238E27FC236}">
                <a16:creationId xmlns:a16="http://schemas.microsoft.com/office/drawing/2014/main" id="{2054C8E4-EE55-4A17-8801-A1422BB4442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9CB766F2-957F-4FBF-9E81-85C7C0114FB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2AEAFD5-307F-4A4F-A6EA-691BFB87B2C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67721265-CA24-4FA8-8CEC-D08B40A3EEE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071A214E-7F7B-4E0E-A712-FBB33F74E3A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5" name="Footer Placeholder 4">
            <a:extLst xmlns:a="http://schemas.openxmlformats.org/drawingml/2006/main">
              <a:ext uri="{FF2B5EF4-FFF2-40B4-BE49-F238E27FC236}">
                <a16:creationId xmlns:a16="http://schemas.microsoft.com/office/drawing/2014/main" id="{60E80CBB-3D84-4955-87B0-4BDD72C7151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52E91EC6-C592-440D-B9CA-1AFE15D4998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4F6BCB0-A424-4B5F-B0B8-87780E8C0132}"/>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9BDE7408-147E-42CC-97E3-89BD9F247F9B}"/>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61E73ECC-07D0-4CF0-8BC5-9A587CE8DE5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p:txBody>
      </p:sp>
      <p:sp>
        <p:nvSpPr>
          <p:cNvPr id="5" name="Footer Placeholder 4">
            <a:extLst xmlns:a="http://schemas.openxmlformats.org/drawingml/2006/main">
              <a:ext uri="{FF2B5EF4-FFF2-40B4-BE49-F238E27FC236}">
                <a16:creationId xmlns:a16="http://schemas.microsoft.com/office/drawing/2014/main" id="{1312AB3C-5230-47C8-9C85-83AAC69512E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5BCCAAF9-1AC6-43D5-B076-CF007F4C5E6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4eee44f7c74780" /><Relationship Type="http://schemas.openxmlformats.org/officeDocument/2006/relationships/slideLayout" Target="/ppt/slideLayouts/slideLayout1.xml" Id="R0ddbdb641ed04070" /><Relationship Type="http://schemas.openxmlformats.org/officeDocument/2006/relationships/slideLayout" Target="/ppt/slideLayouts/slideLayout2.xml" Id="R7621c120b9974d27" /><Relationship Type="http://schemas.openxmlformats.org/officeDocument/2006/relationships/slideLayout" Target="/ppt/slideLayouts/slideLayout3.xml" Id="Re8065f0375d44187" /><Relationship Type="http://schemas.openxmlformats.org/officeDocument/2006/relationships/slideLayout" Target="/ppt/slideLayouts/slideLayout4.xml" Id="R32abef3ef3e24f3f" /><Relationship Type="http://schemas.openxmlformats.org/officeDocument/2006/relationships/slideLayout" Target="/ppt/slideLayouts/slideLayout5.xml" Id="R4c9c4537d4144c4f" /><Relationship Type="http://schemas.openxmlformats.org/officeDocument/2006/relationships/slideLayout" Target="/ppt/slideLayouts/slideLayout6.xml" Id="R5372167d63b54ff8" /><Relationship Type="http://schemas.openxmlformats.org/officeDocument/2006/relationships/slideLayout" Target="/ppt/slideLayouts/slideLayout7.xml" Id="Re48ad03f735a49bf" /><Relationship Type="http://schemas.openxmlformats.org/officeDocument/2006/relationships/slideLayout" Target="/ppt/slideLayouts/slideLayout8.xml" Id="R03a6fe9c9aaf4c2b" /><Relationship Type="http://schemas.openxmlformats.org/officeDocument/2006/relationships/slideLayout" Target="/ppt/slideLayouts/slideLayout9.xml" Id="Rab4e277fae504f4f" /><Relationship Type="http://schemas.openxmlformats.org/officeDocument/2006/relationships/slideLayout" Target="/ppt/slideLayouts/slideLayout10.xml" Id="R48ae1bf9b88e449b" /><Relationship Type="http://schemas.openxmlformats.org/officeDocument/2006/relationships/slideLayout" Target="/ppt/slideLayouts/slideLayout11.xml" Id="R4bd65e2f6f40497e"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87D323ED-5F16-4198-917B-4B694E466C9B}"/>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B72577CE-C408-4C96-992A-B2646C3AB2C5}"/>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F0ADBEA8-16F0-4B29-BC13-1E74E9A874DE}"/>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p:txBody>
      </p:sp>
      <p:sp>
        <p:nvSpPr>
          <p:cNvPr id="5" name="Footer Placeholder 4">
            <a:extLst xmlns:a="http://schemas.openxmlformats.org/drawingml/2006/main">
              <a:ext uri="{FF2B5EF4-FFF2-40B4-BE49-F238E27FC236}">
                <a16:creationId xmlns:a16="http://schemas.microsoft.com/office/drawing/2014/main" id="{B0A6C168-23A8-4D11-A236-DDDE5C2B91C0}"/>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1CBE0138-B038-4DA4-8347-67C787D5CD8A}"/>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dbdb641ed04070"/>
    <p:sldLayoutId xmlns:r="http://schemas.openxmlformats.org/officeDocument/2006/relationships" id="2147483650" r:id="R7621c120b9974d27"/>
    <p:sldLayoutId xmlns:r="http://schemas.openxmlformats.org/officeDocument/2006/relationships" id="2147483651" r:id="Re8065f0375d44187"/>
    <p:sldLayoutId xmlns:r="http://schemas.openxmlformats.org/officeDocument/2006/relationships" id="2147483652" r:id="R32abef3ef3e24f3f"/>
    <p:sldLayoutId xmlns:r="http://schemas.openxmlformats.org/officeDocument/2006/relationships" id="2147483653" r:id="R4c9c4537d4144c4f"/>
    <p:sldLayoutId xmlns:r="http://schemas.openxmlformats.org/officeDocument/2006/relationships" id="2147483654" r:id="R5372167d63b54ff8"/>
    <p:sldLayoutId xmlns:r="http://schemas.openxmlformats.org/officeDocument/2006/relationships" id="2147483655" r:id="Re48ad03f735a49bf"/>
    <p:sldLayoutId xmlns:r="http://schemas.openxmlformats.org/officeDocument/2006/relationships" id="2147483656" r:id="R03a6fe9c9aaf4c2b"/>
    <p:sldLayoutId xmlns:r="http://schemas.openxmlformats.org/officeDocument/2006/relationships" id="2147483657" r:id="Rab4e277fae504f4f"/>
    <p:sldLayoutId xmlns:r="http://schemas.openxmlformats.org/officeDocument/2006/relationships" id="2147483658" r:id="R48ae1bf9b88e449b"/>
    <p:sldLayoutId xmlns:r="http://schemas.openxmlformats.org/officeDocument/2006/relationships" id="2147483659" r:id="R4bd65e2f6f40497e"/>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d8f715a02212472b" /><Relationship Type="http://schemas.openxmlformats.org/officeDocument/2006/relationships/image" Target="/ppt/media/image.jpeg" Id="Rce765f29044e4afc" /><Relationship Type="http://schemas.openxmlformats.org/officeDocument/2006/relationships/image" Target="/ppt/media/image.svg" Id="Re515642d1a764453" /><Relationship Type="http://schemas.openxmlformats.org/officeDocument/2006/relationships/notesSlide" Target="/ppt/notesSlides/notesSlide1.xml" Id="R0827ed9df4904d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ad5d12a442b64aa6" /><Relationship Type="http://schemas.openxmlformats.org/officeDocument/2006/relationships/image" Target="/ppt/media/image.jpeg" Id="Rdb3c913779b7407c" /><Relationship Type="http://schemas.openxmlformats.org/officeDocument/2006/relationships/image" Target="/ppt/media/image.svg" Id="R15b6912d9e134d10" /><Relationship Type="http://schemas.openxmlformats.org/officeDocument/2006/relationships/notesSlide" Target="/ppt/notesSlides/notesSlide2.xml" Id="R24b5c07fbeba47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bd6ddea2186e46d1" /><Relationship Type="http://schemas.openxmlformats.org/officeDocument/2006/relationships/image" Target="/ppt/media/image.jpeg" Id="Rfd1e97bc0b984075" /><Relationship Type="http://schemas.openxmlformats.org/officeDocument/2006/relationships/image" Target="/ppt/media/image.png" Id="R4ce9a41022704db7" /><Relationship Type="http://schemas.openxmlformats.org/officeDocument/2006/relationships/image" Target="/ppt/media/image.svg" Id="Ra069f3e511b64e15" /><Relationship Type="http://schemas.openxmlformats.org/officeDocument/2006/relationships/notesSlide" Target="/ppt/notesSlides/notesSlide3.xml" Id="R5f73685f22d044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3948671067064204" /><Relationship Type="http://schemas.openxmlformats.org/officeDocument/2006/relationships/image" Target="/ppt/media/image.jpeg" Id="Rb9f440144b1e4177" /><Relationship Type="http://schemas.openxmlformats.org/officeDocument/2006/relationships/image" Target="/ppt/media/image.svg" Id="Rb8fe9a09b0594b8f" /><Relationship Type="http://schemas.openxmlformats.org/officeDocument/2006/relationships/notesSlide" Target="/ppt/notesSlides/notesSlide4.xml" Id="R403eff5cbd374936"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31e50133f324446f" /><Relationship Type="http://schemas.openxmlformats.org/officeDocument/2006/relationships/image" Target="/ppt/media/image.jpeg" Id="Ra99e6eae781345f6" /><Relationship Type="http://schemas.openxmlformats.org/officeDocument/2006/relationships/notesSlide" Target="/ppt/notesSlides/notesSlide5.xml" Id="R17fc731dede646f2"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3691b07e230c45a1" /><Relationship Type="http://schemas.openxmlformats.org/officeDocument/2006/relationships/image" Target="/ppt/media/image.jpeg" Id="R509f4d7909af4040" /><Relationship Type="http://schemas.openxmlformats.org/officeDocument/2006/relationships/image" Target="/ppt/media/image2.png" Id="R569a8c04c1c3470b" /><Relationship Type="http://schemas.openxmlformats.org/officeDocument/2006/relationships/image" Target="/ppt/media/image.svg" Id="Rc00d460348cc40f1" /><Relationship Type="http://schemas.openxmlformats.org/officeDocument/2006/relationships/notesSlide" Target="/ppt/notesSlides/notesSlide6.xml" Id="R6833cbd1029040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7d0da50395e748e5" /><Relationship Type="http://schemas.openxmlformats.org/officeDocument/2006/relationships/image" Target="/ppt/media/image.jpeg" Id="Rc60cb98051844b79" /><Relationship Type="http://schemas.openxmlformats.org/officeDocument/2006/relationships/image" Target="/ppt/media/image.svg" Id="R789744a8e6714994" /><Relationship Type="http://schemas.openxmlformats.org/officeDocument/2006/relationships/notesSlide" Target="/ppt/notesSlides/notesSlide7.xml" Id="R09db696109244b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9f4029a5246d4930" /><Relationship Type="http://schemas.openxmlformats.org/officeDocument/2006/relationships/image" Target="/ppt/media/image.jpeg" Id="R4e43ac9e9aa94479" /><Relationship Type="http://schemas.openxmlformats.org/officeDocument/2006/relationships/image" Target="/ppt/media/image.svg" Id="Rb69b7f1f390f40c5" /><Relationship Type="http://schemas.openxmlformats.org/officeDocument/2006/relationships/notesSlide" Target="/ppt/notesSlides/notesSlide8.xml" Id="R24484b1387924790"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6d49ccac28f84d63" /><Relationship Type="http://schemas.openxmlformats.org/officeDocument/2006/relationships/image" Target="/ppt/media/image.jpeg" Id="R54d1287db44f4ffa" /><Relationship Type="http://schemas.openxmlformats.org/officeDocument/2006/relationships/image" Target="/ppt/media/image.svg" Id="R2924bb9a98d340e7" /><Relationship Type="http://schemas.openxmlformats.org/officeDocument/2006/relationships/notesSlide" Target="/ppt/notesSlides/notesSlide9.xml" Id="Ra6d6091e3ae3423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d5146ddc0f334d04" /><Relationship Type="http://schemas.openxmlformats.org/officeDocument/2006/relationships/image" Target="/ppt/media/image.jpeg" Id="R7c6bc836f6864127" /><Relationship Type="http://schemas.openxmlformats.org/officeDocument/2006/relationships/image" Target="/ppt/media/image.svg" Id="R85c13d1eb46d4082" /><Relationship Type="http://schemas.openxmlformats.org/officeDocument/2006/relationships/notesSlide" Target="/ppt/notesSlides/notesSlide10.xml" Id="R47833e790aae440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6dfddfaffced40ef" /><Relationship Type="http://schemas.openxmlformats.org/officeDocument/2006/relationships/image" Target="/ppt/media/image.jpeg" Id="R9e2e059c06b944f0" /><Relationship Type="http://schemas.openxmlformats.org/officeDocument/2006/relationships/image" Target="/ppt/media/image.svg" Id="R4dd81fac28e84e49" /><Relationship Type="http://schemas.openxmlformats.org/officeDocument/2006/relationships/notesSlide" Target="/ppt/notesSlides/notesSlide11.xml" Id="Raba52714891a4aa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2409545c72ec4b9c" /><Relationship Type="http://schemas.openxmlformats.org/officeDocument/2006/relationships/image" Target="/ppt/media/image.jpeg" Id="Rb2e5bc544b684d71" /><Relationship Type="http://schemas.openxmlformats.org/officeDocument/2006/relationships/image" Target="/ppt/media/image.svg" Id="R85c5bd0e76d94e70" /><Relationship Type="http://schemas.openxmlformats.org/officeDocument/2006/relationships/hyperlink" Target="https://github.com/espressif/esp-idf" TargetMode="External" Id="R26833a658b804297" /><Relationship Type="http://schemas.openxmlformats.org/officeDocument/2006/relationships/hyperlink" Target="https://github.com/OWASP/IoT-Security-Verification-Standard-ISVS" TargetMode="External" Id="R6462ceee13ad45fe" /><Relationship Type="http://schemas.openxmlformats.org/officeDocument/2006/relationships/hyperlink" Target="https://github.com/scriptingxss/owasp-fstm" TargetMode="External" Id="R45fecb66813e45e1" /><Relationship Type="http://schemas.openxmlformats.org/officeDocument/2006/relationships/hyperlink" Target="https://github.com/OWASP/IoTGoat" TargetMode="External" Id="R990e4351e16c4b8a" /><Relationship Type="http://schemas.openxmlformats.org/officeDocument/2006/relationships/hyperlink" Target="https://github.com/hv6z/n20-secure-firmware-update-iot" TargetMode="External" Id="Rc23b1fa622f94653" /><Relationship Type="http://schemas.openxmlformats.org/officeDocument/2006/relationships/notesSlide" Target="/ppt/notesSlides/notesSlide12.xml" Id="Rd38ae0764288459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6AABBEA1-B704-4F19-9FC3-2A0BF17D8B77}"/>
              </a:ext>
            </a:extLst>
          </p:cNvPr>
          <p:cNvSpPr>
            <a:spLocks xmlns:a="http://schemas.openxmlformats.org/drawingml/2006/main" noGrp="1"/>
          </p:cNvSpPr>
          <p:nvPr/>
        </p:nvSpPr>
        <p:spPr>
          <a:xfrm xmlns:a="http://schemas.openxmlformats.org/drawingml/2006/main">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ce765f29044e4afc"/>
            <a:stretch>
              <a:fillRect l="0" t="-65984" r="-65984" b="0"/>
            </a:stretch>
          </a:blipFill>
        </p:spPr>
      </p:sp>
      <p:sp>
        <p:nvSpPr>
          <p:cNvPr id="3" name="Freeform 3">
            <a:extLst xmlns:a="http://schemas.openxmlformats.org/drawingml/2006/main">
              <a:ext uri="{FF2B5EF4-FFF2-40B4-BE49-F238E27FC236}">
                <a16:creationId xmlns:a16="http://schemas.microsoft.com/office/drawing/2014/main" id="{72A8C785-8752-4EC9-AC1F-5B09E1922413}"/>
              </a:ext>
            </a:extLst>
          </p:cNvPr>
          <p:cNvSpPr>
            <a:spLocks xmlns:a="http://schemas.openxmlformats.org/drawingml/2006/main" noGrp="1"/>
          </p:cNvSpPr>
          <p:nvPr/>
        </p:nvSpPr>
        <p:spPr>
          <a:xfrm xmlns:a="http://schemas.openxmlformats.org/drawingml/2006/main">
            <a:off x="-2108849" y="6034841"/>
            <a:ext cx="9438577" cy="6748583"/>
          </a:xfrm>
          <a:custGeom xmlns:a="http://schemas.openxmlformats.org/drawingml/2006/main">
            <a:rect l="l" t="t" r="r" b="b"/>
            <a:pathLst>
              <a:path w="9438577" h="6748583">
                <a:moveTo>
                  <a:pt x="0" y="0"/>
                </a:moveTo>
                <a:lnTo>
                  <a:pt x="9438578" y="0"/>
                </a:lnTo>
                <a:lnTo>
                  <a:pt x="9438578" y="6748583"/>
                </a:lnTo>
                <a:lnTo>
                  <a:pt x="0" y="6748583"/>
                </a:lnTo>
                <a:lnTo>
                  <a:pt x="0" y="0"/>
                </a:lnTo>
                <a:close/>
              </a:path>
            </a:pathLst>
          </a:custGeom>
          <a:blipFill xmlns:a="http://schemas.openxmlformats.org/drawingml/2006/main">
            <a:blip xmlns:r="http://schemas.openxmlformats.org/officeDocument/2006/relationships" r:embed="Rce765f29044e4afc">
              <a:extLst>
                <a:ext uri="{96DAC541-7B7A-43D3-8B79-37D633B846F1}">
                  <asvg:svgBlip xmlns:asvg="http://schemas.microsoft.com/office/drawing/2016/SVG/main" r:embed="Re515642d1a764453"/>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EDE32C90-B3F4-4EA8-8E85-043D9003186F}"/>
              </a:ext>
            </a:extLst>
          </p:cNvPr>
          <p:cNvSpPr>
            <a:spLocks xmlns:a="http://schemas.openxmlformats.org/drawingml/2006/main" noGrp="1"/>
          </p:cNvSpPr>
          <p:nvPr/>
        </p:nvSpPr>
        <p:spPr>
          <a:xfrm xmlns:a="http://schemas.openxmlformats.org/drawingml/2006/main" rot="0" flipH="0" flipV="0">
            <a:off x="5521572" y="6407094"/>
            <a:ext cx="7244857" cy="616879"/>
          </a:xfrm>
          <a:custGeom xmlns:a="http://schemas.openxmlformats.org/drawingml/2006/main">
            <a:rect l="l" t="t" r="r" b="b"/>
            <a:pathLst>
              <a:path w="4772913" h="406400">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lnTo>
                  <a:pt x="4569713" y="0"/>
                </a:lnTo>
                <a:close/>
              </a:path>
            </a:pathLst>
          </a:custGeom>
          <a:gradFill xmlns:a="http://schemas.openxmlformats.org/drawingml/2006/main" rotWithShape="1">
            <a:gsLst>
              <a:gs pos="0">
                <a:srgbClr val="31A1D4">
                  <a:alpha val="47000"/>
                </a:srgbClr>
              </a:gs>
              <a:gs pos="100000">
                <a:srgbClr val="035E8E">
                  <a:alpha val="0"/>
                </a:srgbClr>
              </a:gs>
            </a:gsLst>
            <a:lin ang="2700000"/>
          </a:gradFill>
          <a:ln xmlns:a="http://schemas.openxmlformats.org/drawingml/2006/main">
            <a:noFill/>
            <a:prstDash val="solid"/>
          </a:ln>
        </p:spPr>
      </p:sp>
      <p:sp>
        <p:nvSpPr>
          <p:cNvPr id="6" name="TextBox 6">
            <a:extLst xmlns:a="http://schemas.openxmlformats.org/drawingml/2006/main">
              <a:ext uri="{FF2B5EF4-FFF2-40B4-BE49-F238E27FC236}">
                <a16:creationId xmlns:a16="http://schemas.microsoft.com/office/drawing/2014/main" id="{2AFE77A9-7F96-4AB9-8EB4-37CA14C38379}"/>
              </a:ext>
            </a:extLst>
          </p:cNvPr>
          <p:cNvSpPr>
            <a:spLocks xmlns:a="http://schemas.openxmlformats.org/drawingml/2006/main" noGrp="1"/>
          </p:cNvSpPr>
          <p:nvPr/>
        </p:nvSpPr>
        <p:spPr>
          <a:xfrm xmlns:a="http://schemas.openxmlformats.org/drawingml/2006/main" rot="0" flipH="0" flipV="0">
            <a:off x="5521572" y="6349262"/>
            <a:ext cx="7244857"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8" name="Freeform 8">
            <a:extLst xmlns:a="http://schemas.openxmlformats.org/drawingml/2006/main">
              <a:ext uri="{FF2B5EF4-FFF2-40B4-BE49-F238E27FC236}">
                <a16:creationId xmlns:a16="http://schemas.microsoft.com/office/drawing/2014/main" id="{737EF25B-13D3-4BF4-B77B-5FF4F6E7E7F7}"/>
              </a:ext>
            </a:extLst>
          </p:cNvPr>
          <p:cNvSpPr>
            <a:spLocks xmlns:a="http://schemas.openxmlformats.org/drawingml/2006/main" noGrp="1"/>
          </p:cNvSpPr>
          <p:nvPr/>
        </p:nvSpPr>
        <p:spPr>
          <a:xfrm xmlns:a="http://schemas.openxmlformats.org/drawingml/2006/main" rot="0" flipH="0" flipV="0">
            <a:off x="-1482992" y="7162049"/>
            <a:ext cx="3636307" cy="3124951"/>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9" name="TextBox 9">
            <a:extLst xmlns:a="http://schemas.openxmlformats.org/drawingml/2006/main">
              <a:ext uri="{FF2B5EF4-FFF2-40B4-BE49-F238E27FC236}">
                <a16:creationId xmlns:a16="http://schemas.microsoft.com/office/drawing/2014/main" id="{C747F8A4-11A2-4557-BD8B-0CB6EC823F03}"/>
              </a:ext>
            </a:extLst>
          </p:cNvPr>
          <p:cNvSpPr>
            <a:spLocks xmlns:a="http://schemas.openxmlformats.org/drawingml/2006/main" noGrp="1"/>
          </p:cNvSpPr>
          <p:nvPr/>
        </p:nvSpPr>
        <p:spPr>
          <a:xfrm xmlns:a="http://schemas.openxmlformats.org/drawingml/2006/main" rot="0" flipH="0" flipV="0">
            <a:off x="-971637" y="6991598"/>
            <a:ext cx="2613595" cy="329540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1" name="Freeform 11">
            <a:extLst xmlns:a="http://schemas.openxmlformats.org/drawingml/2006/main">
              <a:ext uri="{FF2B5EF4-FFF2-40B4-BE49-F238E27FC236}">
                <a16:creationId xmlns:a16="http://schemas.microsoft.com/office/drawing/2014/main" id="{728B0333-BB87-46FB-8E7B-F7CAF49914D8}"/>
              </a:ext>
            </a:extLst>
          </p:cNvPr>
          <p:cNvSpPr>
            <a:spLocks xmlns:a="http://schemas.openxmlformats.org/drawingml/2006/main" noGrp="1"/>
          </p:cNvSpPr>
          <p:nvPr/>
        </p:nvSpPr>
        <p:spPr>
          <a:xfrm xmlns:a="http://schemas.openxmlformats.org/drawingml/2006/main" rot="0" flipH="0" flipV="0">
            <a:off x="1028700" y="8501408"/>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2" name="TextBox 12">
            <a:extLst xmlns:a="http://schemas.openxmlformats.org/drawingml/2006/main">
              <a:ext uri="{FF2B5EF4-FFF2-40B4-BE49-F238E27FC236}">
                <a16:creationId xmlns:a16="http://schemas.microsoft.com/office/drawing/2014/main" id="{CE5E2E60-DAA7-4850-97A3-70FDF636FAD8}"/>
              </a:ext>
            </a:extLst>
          </p:cNvPr>
          <p:cNvSpPr>
            <a:spLocks xmlns:a="http://schemas.openxmlformats.org/drawingml/2006/main" noGrp="1"/>
          </p:cNvSpPr>
          <p:nvPr/>
        </p:nvSpPr>
        <p:spPr>
          <a:xfrm xmlns:a="http://schemas.openxmlformats.org/drawingml/2006/main" rot="0" flipH="0" flipV="0">
            <a:off x="1613075" y="8306617"/>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4" name="Freeform 14">
            <a:extLst xmlns:a="http://schemas.openxmlformats.org/drawingml/2006/main">
              <a:ext uri="{FF2B5EF4-FFF2-40B4-BE49-F238E27FC236}">
                <a16:creationId xmlns:a16="http://schemas.microsoft.com/office/drawing/2014/main" id="{A2DB9618-CAA9-41CA-B847-9E914F3AF7DE}"/>
              </a:ext>
            </a:extLst>
          </p:cNvPr>
          <p:cNvSpPr>
            <a:spLocks xmlns:a="http://schemas.openxmlformats.org/drawingml/2006/main" noGrp="1"/>
          </p:cNvSpPr>
          <p:nvPr/>
        </p:nvSpPr>
        <p:spPr>
          <a:xfrm xmlns:a="http://schemas.openxmlformats.org/drawingml/2006/main" rot="0" flipH="0" flipV="0">
            <a:off x="335162" y="6342923"/>
            <a:ext cx="1906328" cy="1638251"/>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5" name="TextBox 15">
            <a:extLst xmlns:a="http://schemas.openxmlformats.org/drawingml/2006/main">
              <a:ext uri="{FF2B5EF4-FFF2-40B4-BE49-F238E27FC236}">
                <a16:creationId xmlns:a16="http://schemas.microsoft.com/office/drawing/2014/main" id="{3CCDF6BB-853F-47F2-AEBD-15F70177A15C}"/>
              </a:ext>
            </a:extLst>
          </p:cNvPr>
          <p:cNvSpPr>
            <a:spLocks xmlns:a="http://schemas.openxmlformats.org/drawingml/2006/main" noGrp="1"/>
          </p:cNvSpPr>
          <p:nvPr/>
        </p:nvSpPr>
        <p:spPr>
          <a:xfrm xmlns:a="http://schemas.openxmlformats.org/drawingml/2006/main" rot="0" flipH="0" flipV="0">
            <a:off x="603239" y="6253564"/>
            <a:ext cx="1370173" cy="1727610"/>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7" name="Freeform 17">
            <a:extLst xmlns:a="http://schemas.openxmlformats.org/drawingml/2006/main">
              <a:ext uri="{FF2B5EF4-FFF2-40B4-BE49-F238E27FC236}">
                <a16:creationId xmlns:a16="http://schemas.microsoft.com/office/drawing/2014/main" id="{775DA14D-9D15-4BA7-9DF7-6B29F63CEE52}"/>
              </a:ext>
            </a:extLst>
          </p:cNvPr>
          <p:cNvSpPr>
            <a:spLocks xmlns:a="http://schemas.openxmlformats.org/drawingml/2006/main" noGrp="1"/>
          </p:cNvSpPr>
          <p:nvPr/>
        </p:nvSpPr>
        <p:spPr>
          <a:xfrm xmlns:a="http://schemas.openxmlformats.org/drawingml/2006/main" rot="0" flipH="0" flipV="0">
            <a:off x="3746822" y="8501408"/>
            <a:ext cx="1510485" cy="129807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47000"/>
                </a:srgbClr>
              </a:gs>
              <a:gs pos="100000">
                <a:srgbClr val="035E8E">
                  <a:alpha val="0"/>
                </a:srgbClr>
              </a:gs>
            </a:gsLst>
            <a:lin ang="0"/>
          </a:gradFill>
        </p:spPr>
      </p:sp>
      <p:sp>
        <p:nvSpPr>
          <p:cNvPr id="18" name="TextBox 18">
            <a:extLst xmlns:a="http://schemas.openxmlformats.org/drawingml/2006/main">
              <a:ext uri="{FF2B5EF4-FFF2-40B4-BE49-F238E27FC236}">
                <a16:creationId xmlns:a16="http://schemas.microsoft.com/office/drawing/2014/main" id="{F755169A-F3D4-4E21-AEB7-4D616FA7660B}"/>
              </a:ext>
            </a:extLst>
          </p:cNvPr>
          <p:cNvSpPr>
            <a:spLocks xmlns:a="http://schemas.openxmlformats.org/drawingml/2006/main" noGrp="1"/>
          </p:cNvSpPr>
          <p:nvPr/>
        </p:nvSpPr>
        <p:spPr>
          <a:xfrm xmlns:a="http://schemas.openxmlformats.org/drawingml/2006/main" rot="0" flipH="0" flipV="0">
            <a:off x="3959233" y="8430605"/>
            <a:ext cx="1085661" cy="1368876"/>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9" name="TextBox 19">
            <a:extLst xmlns:a="http://schemas.openxmlformats.org/drawingml/2006/main">
              <a:ext uri="{FF2B5EF4-FFF2-40B4-BE49-F238E27FC236}">
                <a16:creationId xmlns:a16="http://schemas.microsoft.com/office/drawing/2014/main" id="{915C0AE0-19B5-4679-B61A-42550E3033C2}"/>
              </a:ext>
            </a:extLst>
          </p:cNvPr>
          <p:cNvSpPr>
            <a:spLocks xmlns:a="http://schemas.openxmlformats.org/drawingml/2006/main" noGrp="1"/>
          </p:cNvSpPr>
          <p:nvPr/>
        </p:nvSpPr>
        <p:spPr>
          <a:xfrm xmlns:a="http://schemas.openxmlformats.org/drawingml/2006/main">
            <a:off x="1323801" y="3618425"/>
            <a:ext cx="15640397" cy="108917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975"/>
              </a:lnSpc>
              <a:spcBef>
                <a:spcPct val="0"/>
              </a:spcBef>
              <a:buNone/>
            </a:pPr>
            <a:r>
              <a:rPr sz="6410" b="1">
                <a:solidFill>
                  <a:srgbClr val="FFFFFF"/>
                </a:solidFill>
                <a:latin typeface="TT Lakes Neue Extended Bold"/>
                <a:ea typeface="TT Lakes Neue Extended Bold"/>
                <a:cs typeface="TT Lakes Neue Extended Bold"/>
              </a:rPr>
              <a:t>CẬP NHẬT FIRMWARE AN TOÀN</a:t>
            </a:r>
          </a:p>
        </p:txBody>
      </p:sp>
      <p:sp>
        <p:nvSpPr>
          <p:cNvPr id="20" name="TextBox 20">
            <a:extLst xmlns:a="http://schemas.openxmlformats.org/drawingml/2006/main">
              <a:ext uri="{FF2B5EF4-FFF2-40B4-BE49-F238E27FC236}">
                <a16:creationId xmlns:a16="http://schemas.microsoft.com/office/drawing/2014/main" id="{E2E96E99-ED8E-48F7-A16A-08179620167C}"/>
              </a:ext>
            </a:extLst>
          </p:cNvPr>
          <p:cNvSpPr>
            <a:spLocks xmlns:a="http://schemas.openxmlformats.org/drawingml/2006/main" noGrp="1"/>
          </p:cNvSpPr>
          <p:nvPr/>
        </p:nvSpPr>
        <p:spPr>
          <a:xfrm xmlns:a="http://schemas.openxmlformats.org/drawingml/2006/main">
            <a:off x="1920618" y="4746198"/>
            <a:ext cx="14446764" cy="1155293"/>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9495"/>
              </a:lnSpc>
              <a:spcBef>
                <a:spcPct val="0"/>
              </a:spcBef>
              <a:buNone/>
            </a:pPr>
            <a:r>
              <a:rPr sz="6785">
                <a:solidFill>
                  <a:srgbClr val="FFFFFF"/>
                </a:solidFill>
                <a:latin typeface="TT Lakes Neue Extended"/>
                <a:ea typeface="TT Lakes Neue Extended"/>
                <a:cs typeface="TT Lakes Neue Extended"/>
              </a:rPr>
              <a:t> CHO THIẾT BỊ IOT</a:t>
            </a:r>
          </a:p>
        </p:txBody>
      </p:sp>
      <p:sp>
        <p:nvSpPr>
          <p:cNvPr id="21" name="TextBox 21">
            <a:extLst xmlns:a="http://schemas.openxmlformats.org/drawingml/2006/main">
              <a:ext uri="{FF2B5EF4-FFF2-40B4-BE49-F238E27FC236}">
                <a16:creationId xmlns:a16="http://schemas.microsoft.com/office/drawing/2014/main" id="{44D88EA8-28A3-48DA-A933-8C49E5E27B7F}"/>
              </a:ext>
            </a:extLst>
          </p:cNvPr>
          <p:cNvSpPr>
            <a:spLocks xmlns:a="http://schemas.openxmlformats.org/drawingml/2006/main" noGrp="1"/>
          </p:cNvSpPr>
          <p:nvPr/>
        </p:nvSpPr>
        <p:spPr>
          <a:xfrm xmlns:a="http://schemas.openxmlformats.org/drawingml/2006/main">
            <a:off x="5521572" y="6498343"/>
            <a:ext cx="7244857" cy="39628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355"/>
              </a:lnSpc>
              <a:spcBef>
                <a:spcPct val="0"/>
              </a:spcBef>
              <a:buNone/>
            </a:pPr>
            <a:r>
              <a:rPr sz="2400">
                <a:solidFill>
                  <a:srgbClr val="FFFFFF"/>
                </a:solidFill>
                <a:latin typeface="Montserrat Light"/>
                <a:ea typeface="Montserrat Light"/>
                <a:cs typeface="Montserrat Light"/>
              </a:rPr>
              <a:t>Secure firmw</a:t>
            </a:r>
            <a:r>
              <a:rPr sz="2400">
                <a:solidFill>
                  <a:srgbClr val="FFFFFF"/>
                </a:solidFill>
                <a:latin typeface="Montserrat Light"/>
                <a:ea typeface="Montserrat Light"/>
                <a:cs typeface="Montserrat Light"/>
              </a:rPr>
              <a:t>are update for IoT devices</a:t>
            </a:r>
          </a:p>
        </p:txBody>
      </p:sp>
      <p:sp>
        <p:nvSpPr>
          <p:cNvPr id="22" name="TextBox 22">
            <a:extLst xmlns:a="http://schemas.openxmlformats.org/drawingml/2006/main">
              <a:ext uri="{FF2B5EF4-FFF2-40B4-BE49-F238E27FC236}">
                <a16:creationId xmlns:a16="http://schemas.microsoft.com/office/drawing/2014/main" id="{ADFB0A6C-F23A-4DDF-9614-03C12775D3B6}"/>
              </a:ext>
            </a:extLst>
          </p:cNvPr>
          <p:cNvSpPr>
            <a:spLocks xmlns:a="http://schemas.openxmlformats.org/drawingml/2006/main" noGrp="1"/>
          </p:cNvSpPr>
          <p:nvPr/>
        </p:nvSpPr>
        <p:spPr>
          <a:xfrm xmlns:a="http://schemas.openxmlformats.org/drawingml/2006/main">
            <a:off x="1362735" y="1000125"/>
            <a:ext cx="4158837" cy="1387277"/>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795"/>
              </a:lnSpc>
              <a:buNone/>
            </a:pPr>
            <a:r>
              <a:rPr sz="2000">
                <a:solidFill>
                  <a:srgbClr val="FFFFFF"/>
                </a:solidFill>
                <a:latin typeface="Montserrat Light"/>
                <a:ea typeface="Montserrat Light"/>
                <a:cs typeface="Montserrat Light"/>
              </a:rPr>
              <a:t>NHOM20</a:t>
            </a:r>
          </a:p>
          <a:p xmlns:a="http://schemas.openxmlformats.org/drawingml/2006/main">
            <a:pPr algn="l">
              <a:lnSpc>
                <a:spcPts val="2795"/>
              </a:lnSpc>
              <a:spcBef>
                <a:spcPct val="0"/>
              </a:spcBef>
              <a:buNone/>
            </a:pPr>
            <a:r>
              <a:rPr sz="2000">
                <a:solidFill>
                  <a:srgbClr val="FFFFFF"/>
                </a:solidFill>
                <a:latin typeface="Montserrat Light"/>
                <a:ea typeface="Montserrat Light"/>
                <a:cs typeface="Montserrat Light"/>
              </a:rPr>
              <a:t>LHP: 253INT441001</a:t>
            </a:r>
          </a:p>
          <a:p xmlns:a="http://schemas.openxmlformats.org/drawingml/2006/main">
            <a:pPr algn="l">
              <a:lnSpc>
                <a:spcPts val="2795"/>
              </a:lnSpc>
              <a:spcBef>
                <a:spcPct val="0"/>
              </a:spcBef>
              <a:buNone/>
            </a:pPr>
            <a:r>
              <a:rPr sz="2000">
                <a:solidFill>
                  <a:srgbClr val="FFFFFF"/>
                </a:solidFill>
                <a:latin typeface="Montserrat Light"/>
                <a:ea typeface="Montserrat Light"/>
                <a:cs typeface="Montserrat Light"/>
              </a:rPr>
              <a:t>Tran Thi Ha Vy</a:t>
            </a:r>
          </a:p>
          <a:p xmlns:a="http://schemas.openxmlformats.org/drawingml/2006/main">
            <a:pPr algn="l">
              <a:lnSpc>
                <a:spcPts val="2795"/>
              </a:lnSpc>
              <a:spcBef>
                <a:spcPct val="0"/>
              </a:spcBef>
              <a:buNone/>
            </a:pPr>
            <a:r>
              <a:rPr sz="2000">
                <a:solidFill>
                  <a:srgbClr val="FFFFFF"/>
                </a:solidFill>
                <a:latin typeface="Montserrat Light"/>
                <a:ea typeface="Montserrat Light"/>
                <a:cs typeface="Montserrat Light"/>
              </a:rPr>
              <a:t>231A010297</a:t>
            </a:r>
          </a:p>
        </p:txBody>
      </p:sp>
    </p:spTree>
    <p:extLst>
      <p:ext uri="{BB962C8B-B14F-4D97-AF65-F5344CB8AC3E}">
        <p14:creationId xmlns:p14="http://schemas.microsoft.com/office/powerpoint/2010/main" val="25831242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723F9A7D-DB5D-4D91-A5E9-D3043A903013}"/>
              </a:ext>
            </a:extLst>
          </p:cNvPr>
          <p:cNvSpPr>
            <a:spLocks xmlns:a="http://schemas.openxmlformats.org/drawingml/2006/main" noGrp="1"/>
          </p:cNvSpPr>
          <p:nvPr/>
        </p:nvSpPr>
        <p:spPr>
          <a:xfrm xmlns:a="http://schemas.openxmlformats.org/drawingml/2006/main" flipV="1">
            <a:off x="0" y="0"/>
            <a:ext cx="18288000" cy="10287000"/>
          </a:xfrm>
          <a:custGeom xmlns:a="http://schemas.openxmlformats.org/drawingml/2006/main">
            <a:rect l="l" t="t" r="r" b="b"/>
            <a:pathLst>
              <a:path w="18288000" h="10287000">
                <a:moveTo>
                  <a:pt x="0" y="10287000"/>
                </a:moveTo>
                <a:lnTo>
                  <a:pt x="18288000" y="10287000"/>
                </a:lnTo>
                <a:lnTo>
                  <a:pt x="18288000" y="0"/>
                </a:lnTo>
                <a:lnTo>
                  <a:pt x="0" y="0"/>
                </a:lnTo>
                <a:lnTo>
                  <a:pt x="0" y="10287000"/>
                </a:lnTo>
                <a:close/>
              </a:path>
            </a:pathLst>
          </a:custGeom>
          <a:blipFill xmlns:a="http://schemas.openxmlformats.org/drawingml/2006/main">
            <a:blip xmlns:r="http://schemas.openxmlformats.org/officeDocument/2006/relationships" r:embed="Rdb3c913779b7407c"/>
            <a:stretch>
              <a:fillRect l="0" t="-124631" r="-124631" b="0"/>
            </a:stretch>
          </a:blipFill>
        </p:spPr>
      </p:sp>
      <p:sp>
        <p:nvSpPr>
          <p:cNvPr id="3" name="TextBox 3">
            <a:extLst xmlns:a="http://schemas.openxmlformats.org/drawingml/2006/main">
              <a:ext uri="{FF2B5EF4-FFF2-40B4-BE49-F238E27FC236}">
                <a16:creationId xmlns:a16="http://schemas.microsoft.com/office/drawing/2014/main" id="{14555AA5-EE63-460A-9BA5-70201C6AF32F}"/>
              </a:ext>
            </a:extLst>
          </p:cNvPr>
          <p:cNvSpPr>
            <a:spLocks xmlns:a="http://schemas.openxmlformats.org/drawingml/2006/main" noGrp="1"/>
          </p:cNvSpPr>
          <p:nvPr/>
        </p:nvSpPr>
        <p:spPr>
          <a:xfrm xmlns:a="http://schemas.openxmlformats.org/drawingml/2006/main">
            <a:off x="1028700" y="1815138"/>
            <a:ext cx="9716337" cy="1257542"/>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10265"/>
              </a:lnSpc>
              <a:spcBef>
                <a:spcPct val="0"/>
              </a:spcBef>
              <a:buNone/>
            </a:pPr>
            <a:r>
              <a:rPr sz="7330" b="1">
                <a:solidFill>
                  <a:srgbClr val="FFFFFF"/>
                </a:solidFill>
                <a:latin typeface="TT Lakes Neue Extended Bold"/>
                <a:ea typeface="TT Lakes Neue Extended Bold"/>
                <a:cs typeface="TT Lakes Neue Extended Bold"/>
              </a:rPr>
              <a:t>NỘI DUNG</a:t>
            </a:r>
          </a:p>
        </p:txBody>
      </p:sp>
      <p:sp>
        <p:nvSpPr>
          <p:cNvPr id="4" name="TextBox 4">
            <a:extLst xmlns:a="http://schemas.openxmlformats.org/drawingml/2006/main">
              <a:ext uri="{FF2B5EF4-FFF2-40B4-BE49-F238E27FC236}">
                <a16:creationId xmlns:a16="http://schemas.microsoft.com/office/drawing/2014/main" id="{49FBCC8B-E848-4AF9-BB33-B580DF1DD2A8}"/>
              </a:ext>
            </a:extLst>
          </p:cNvPr>
          <p:cNvSpPr>
            <a:spLocks xmlns:a="http://schemas.openxmlformats.org/drawingml/2006/main" noGrp="1"/>
          </p:cNvSpPr>
          <p:nvPr/>
        </p:nvSpPr>
        <p:spPr>
          <a:xfrm xmlns:a="http://schemas.openxmlformats.org/drawingml/2006/main">
            <a:off x="1028700" y="2929851"/>
            <a:ext cx="9716337" cy="125758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10265"/>
              </a:lnSpc>
              <a:spcBef>
                <a:spcPct val="0"/>
              </a:spcBef>
              <a:buNone/>
            </a:pPr>
            <a:r>
              <a:rPr sz="7330" b="1">
                <a:solidFill>
                  <a:srgbClr val="FFFFFF"/>
                </a:solidFill>
                <a:latin typeface="TT Lakes Neue Extended Bold"/>
                <a:ea typeface="TT Lakes Neue Extended Bold"/>
                <a:cs typeface="TT Lakes Neue Extended Bold"/>
              </a:rPr>
              <a:t>TRIỂN KHAI</a:t>
            </a:r>
          </a:p>
        </p:txBody>
      </p:sp>
      <p:sp>
        <p:nvSpPr>
          <p:cNvPr id="6" name="Freeform 6">
            <a:extLst xmlns:a="http://schemas.openxmlformats.org/drawingml/2006/main">
              <a:ext uri="{FF2B5EF4-FFF2-40B4-BE49-F238E27FC236}">
                <a16:creationId xmlns:a16="http://schemas.microsoft.com/office/drawing/2014/main" id="{81CEF6A5-3DC2-4D84-9257-F4B2BD1B5A49}"/>
              </a:ext>
            </a:extLst>
          </p:cNvPr>
          <p:cNvSpPr>
            <a:spLocks xmlns:a="http://schemas.openxmlformats.org/drawingml/2006/main" noGrp="1"/>
          </p:cNvSpPr>
          <p:nvPr/>
        </p:nvSpPr>
        <p:spPr>
          <a:xfrm xmlns:a="http://schemas.openxmlformats.org/drawingml/2006/main" rot="0" flipH="0" flipV="0">
            <a:off x="9694410" y="1958013"/>
            <a:ext cx="9329646" cy="643089"/>
          </a:xfrm>
          <a:custGeom xmlns:a="http://schemas.openxmlformats.org/drawingml/2006/main">
            <a:rect l="l" t="t" r="r" b="b"/>
            <a:pathLst>
              <a:path w="1046692" h="72148">
                <a:moveTo>
                  <a:pt x="20745" y="0"/>
                </a:moveTo>
                <a:lnTo>
                  <a:pt x="1025947" y="0"/>
                </a:lnTo>
                <a:cubicBezTo>
                  <a:pt x="1037404" y="0"/>
                  <a:pt x="1046692" y="9288"/>
                  <a:pt x="1046692" y="20745"/>
                </a:cubicBezTo>
                <a:lnTo>
                  <a:pt x="1046692" y="51403"/>
                </a:lnTo>
                <a:cubicBezTo>
                  <a:pt x="1046692" y="62860"/>
                  <a:pt x="1037404" y="72148"/>
                  <a:pt x="1025947" y="72148"/>
                </a:cubicBezTo>
                <a:lnTo>
                  <a:pt x="20745" y="72148"/>
                </a:lnTo>
                <a:cubicBezTo>
                  <a:pt x="9288" y="72148"/>
                  <a:pt x="0" y="62860"/>
                  <a:pt x="0" y="51403"/>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7" name="TextBox 7">
            <a:extLst xmlns:a="http://schemas.openxmlformats.org/drawingml/2006/main">
              <a:ext uri="{FF2B5EF4-FFF2-40B4-BE49-F238E27FC236}">
                <a16:creationId xmlns:a16="http://schemas.microsoft.com/office/drawing/2014/main" id="{1CEF5B7A-EA5D-4FB9-8AC2-7FB01975FE75}"/>
              </a:ext>
            </a:extLst>
          </p:cNvPr>
          <p:cNvSpPr>
            <a:spLocks xmlns:a="http://schemas.openxmlformats.org/drawingml/2006/main" noGrp="1"/>
          </p:cNvSpPr>
          <p:nvPr/>
        </p:nvSpPr>
        <p:spPr>
          <a:xfrm xmlns:a="http://schemas.openxmlformats.org/drawingml/2006/main" rot="0" flipH="0" flipV="0">
            <a:off x="9694410" y="1618410"/>
            <a:ext cx="9329646" cy="98269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8" name="TextBox 8">
            <a:extLst xmlns:a="http://schemas.openxmlformats.org/drawingml/2006/main">
              <a:ext uri="{FF2B5EF4-FFF2-40B4-BE49-F238E27FC236}">
                <a16:creationId xmlns:a16="http://schemas.microsoft.com/office/drawing/2014/main" id="{65188863-26AC-4577-8668-B6C713BF0A26}"/>
              </a:ext>
            </a:extLst>
          </p:cNvPr>
          <p:cNvSpPr>
            <a:spLocks xmlns:a="http://schemas.openxmlformats.org/drawingml/2006/main" noGrp="1"/>
          </p:cNvSpPr>
          <p:nvPr/>
        </p:nvSpPr>
        <p:spPr>
          <a:xfrm xmlns:a="http://schemas.openxmlformats.org/drawingml/2006/main">
            <a:off x="11144743" y="2074084"/>
            <a:ext cx="5256547"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VẤN ĐỀ BẢO MẬT VÀ MỤC TIÊU</a:t>
            </a:r>
          </a:p>
        </p:txBody>
      </p:sp>
      <p:sp>
        <p:nvSpPr>
          <p:cNvPr id="9" name="TextBox 9">
            <a:extLst xmlns:a="http://schemas.openxmlformats.org/drawingml/2006/main">
              <a:ext uri="{FF2B5EF4-FFF2-40B4-BE49-F238E27FC236}">
                <a16:creationId xmlns:a16="http://schemas.microsoft.com/office/drawing/2014/main" id="{374E89E3-C8B1-4459-BD2B-1B83489DA2EF}"/>
              </a:ext>
            </a:extLst>
          </p:cNvPr>
          <p:cNvSpPr>
            <a:spLocks xmlns:a="http://schemas.openxmlformats.org/drawingml/2006/main" noGrp="1"/>
          </p:cNvSpPr>
          <p:nvPr/>
        </p:nvSpPr>
        <p:spPr>
          <a:xfrm xmlns:a="http://schemas.openxmlformats.org/drawingml/2006/main">
            <a:off x="10318297" y="2074084"/>
            <a:ext cx="826446"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01</a:t>
            </a:r>
          </a:p>
        </p:txBody>
      </p:sp>
      <p:sp>
        <p:nvSpPr>
          <p:cNvPr id="11" name="Freeform 11">
            <a:extLst xmlns:a="http://schemas.openxmlformats.org/drawingml/2006/main">
              <a:ext uri="{FF2B5EF4-FFF2-40B4-BE49-F238E27FC236}">
                <a16:creationId xmlns:a16="http://schemas.microsoft.com/office/drawing/2014/main" id="{9A708C93-538B-4C74-A591-050F80B1F056}"/>
              </a:ext>
            </a:extLst>
          </p:cNvPr>
          <p:cNvSpPr>
            <a:spLocks xmlns:a="http://schemas.openxmlformats.org/drawingml/2006/main" noGrp="1"/>
          </p:cNvSpPr>
          <p:nvPr/>
        </p:nvSpPr>
        <p:spPr>
          <a:xfrm xmlns:a="http://schemas.openxmlformats.org/drawingml/2006/main" rot="0" flipH="0" flipV="0">
            <a:off x="9694410" y="2763550"/>
            <a:ext cx="9329646" cy="643089"/>
          </a:xfrm>
          <a:custGeom xmlns:a="http://schemas.openxmlformats.org/drawingml/2006/main">
            <a:rect l="l" t="t" r="r" b="b"/>
            <a:pathLst>
              <a:path w="1046692" h="72148">
                <a:moveTo>
                  <a:pt x="20745" y="0"/>
                </a:moveTo>
                <a:lnTo>
                  <a:pt x="1025947" y="0"/>
                </a:lnTo>
                <a:cubicBezTo>
                  <a:pt x="1037404" y="0"/>
                  <a:pt x="1046692" y="9288"/>
                  <a:pt x="1046692" y="20745"/>
                </a:cubicBezTo>
                <a:lnTo>
                  <a:pt x="1046692" y="51403"/>
                </a:lnTo>
                <a:cubicBezTo>
                  <a:pt x="1046692" y="62860"/>
                  <a:pt x="1037404" y="72148"/>
                  <a:pt x="1025947" y="72148"/>
                </a:cubicBezTo>
                <a:lnTo>
                  <a:pt x="20745" y="72148"/>
                </a:lnTo>
                <a:cubicBezTo>
                  <a:pt x="9288" y="72148"/>
                  <a:pt x="0" y="62860"/>
                  <a:pt x="0" y="51403"/>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12" name="TextBox 12">
            <a:extLst xmlns:a="http://schemas.openxmlformats.org/drawingml/2006/main">
              <a:ext uri="{FF2B5EF4-FFF2-40B4-BE49-F238E27FC236}">
                <a16:creationId xmlns:a16="http://schemas.microsoft.com/office/drawing/2014/main" id="{91E2C4C5-DA5C-45AA-B5DA-02D4CEFFE5A0}"/>
              </a:ext>
            </a:extLst>
          </p:cNvPr>
          <p:cNvSpPr>
            <a:spLocks xmlns:a="http://schemas.openxmlformats.org/drawingml/2006/main" noGrp="1"/>
          </p:cNvSpPr>
          <p:nvPr/>
        </p:nvSpPr>
        <p:spPr>
          <a:xfrm xmlns:a="http://schemas.openxmlformats.org/drawingml/2006/main" rot="0" flipH="0" flipV="0">
            <a:off x="9694410" y="2423947"/>
            <a:ext cx="9329646" cy="98269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3" name="TextBox 13">
            <a:extLst xmlns:a="http://schemas.openxmlformats.org/drawingml/2006/main">
              <a:ext uri="{FF2B5EF4-FFF2-40B4-BE49-F238E27FC236}">
                <a16:creationId xmlns:a16="http://schemas.microsoft.com/office/drawing/2014/main" id="{15734BC9-BD45-414D-9514-1348D8DC8371}"/>
              </a:ext>
            </a:extLst>
          </p:cNvPr>
          <p:cNvSpPr>
            <a:spLocks xmlns:a="http://schemas.openxmlformats.org/drawingml/2006/main" noGrp="1"/>
          </p:cNvSpPr>
          <p:nvPr/>
        </p:nvSpPr>
        <p:spPr>
          <a:xfrm xmlns:a="http://schemas.openxmlformats.org/drawingml/2006/main">
            <a:off x="10318297" y="2879622"/>
            <a:ext cx="826446"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02</a:t>
            </a:r>
          </a:p>
        </p:txBody>
      </p:sp>
      <p:sp>
        <p:nvSpPr>
          <p:cNvPr id="14" name="TextBox 14">
            <a:extLst xmlns:a="http://schemas.openxmlformats.org/drawingml/2006/main">
              <a:ext uri="{FF2B5EF4-FFF2-40B4-BE49-F238E27FC236}">
                <a16:creationId xmlns:a16="http://schemas.microsoft.com/office/drawing/2014/main" id="{2C3D3AC7-3DB7-4A90-8081-7EBA02C7EF51}"/>
              </a:ext>
            </a:extLst>
          </p:cNvPr>
          <p:cNvSpPr>
            <a:spLocks xmlns:a="http://schemas.openxmlformats.org/drawingml/2006/main" noGrp="1"/>
          </p:cNvSpPr>
          <p:nvPr/>
        </p:nvSpPr>
        <p:spPr>
          <a:xfrm xmlns:a="http://schemas.openxmlformats.org/drawingml/2006/main">
            <a:off x="11144743" y="2879622"/>
            <a:ext cx="6527533"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CƠ SỞ LÝ  THUYẾT VÀ NGUỒN THAM KHẢO</a:t>
            </a:r>
          </a:p>
        </p:txBody>
      </p:sp>
      <p:sp>
        <p:nvSpPr>
          <p:cNvPr id="15" name="Freeform 15">
            <a:extLst xmlns:a="http://schemas.openxmlformats.org/drawingml/2006/main">
              <a:ext uri="{FF2B5EF4-FFF2-40B4-BE49-F238E27FC236}">
                <a16:creationId xmlns:a16="http://schemas.microsoft.com/office/drawing/2014/main" id="{E5F207EF-3233-4CBB-8159-D2999B98C782}"/>
              </a:ext>
            </a:extLst>
          </p:cNvPr>
          <p:cNvSpPr>
            <a:spLocks xmlns:a="http://schemas.openxmlformats.org/drawingml/2006/main" noGrp="1"/>
          </p:cNvSpPr>
          <p:nvPr/>
        </p:nvSpPr>
        <p:spPr>
          <a:xfrm xmlns:a="http://schemas.openxmlformats.org/drawingml/2006/main">
            <a:off x="-2108849" y="7310674"/>
            <a:ext cx="9438577" cy="6748583"/>
          </a:xfrm>
          <a:custGeom xmlns:a="http://schemas.openxmlformats.org/drawingml/2006/main">
            <a:rect l="l" t="t" r="r" b="b"/>
            <a:pathLst>
              <a:path w="9438577" h="6748583">
                <a:moveTo>
                  <a:pt x="0" y="0"/>
                </a:moveTo>
                <a:lnTo>
                  <a:pt x="9438578" y="0"/>
                </a:lnTo>
                <a:lnTo>
                  <a:pt x="9438578" y="6748583"/>
                </a:lnTo>
                <a:lnTo>
                  <a:pt x="0" y="6748583"/>
                </a:lnTo>
                <a:lnTo>
                  <a:pt x="0" y="0"/>
                </a:lnTo>
                <a:close/>
              </a:path>
            </a:pathLst>
          </a:custGeom>
          <a:blipFill xmlns:a="http://schemas.openxmlformats.org/drawingml/2006/main">
            <a:blip xmlns:r="http://schemas.openxmlformats.org/officeDocument/2006/relationships" r:embed="Rdb3c913779b7407c">
              <a:extLst>
                <a:ext uri="{96DAC541-7B7A-43D3-8B79-37D633B846F1}">
                  <asvg:svgBlip xmlns:asvg="http://schemas.microsoft.com/office/drawing/2016/SVG/main" r:embed="R15b6912d9e134d10"/>
                </a:ext>
              </a:extLst>
            </a:blip>
            <a:stretch>
              <a:fillRect l="0" t="0" r="0" b="0"/>
            </a:stretch>
          </a:blipFill>
        </p:spPr>
      </p:sp>
      <p:sp>
        <p:nvSpPr>
          <p:cNvPr id="17" name="Freeform 17">
            <a:extLst xmlns:a="http://schemas.openxmlformats.org/drawingml/2006/main">
              <a:ext uri="{FF2B5EF4-FFF2-40B4-BE49-F238E27FC236}">
                <a16:creationId xmlns:a16="http://schemas.microsoft.com/office/drawing/2014/main" id="{57CEB17C-0E36-47A0-90AA-6604E8A137B2}"/>
              </a:ext>
            </a:extLst>
          </p:cNvPr>
          <p:cNvSpPr>
            <a:spLocks xmlns:a="http://schemas.openxmlformats.org/drawingml/2006/main" noGrp="1"/>
          </p:cNvSpPr>
          <p:nvPr/>
        </p:nvSpPr>
        <p:spPr>
          <a:xfrm xmlns:a="http://schemas.openxmlformats.org/drawingml/2006/main" rot="0" flipH="0" flipV="0">
            <a:off x="1028700" y="8848918"/>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8" name="TextBox 18">
            <a:extLst xmlns:a="http://schemas.openxmlformats.org/drawingml/2006/main">
              <a:ext uri="{FF2B5EF4-FFF2-40B4-BE49-F238E27FC236}">
                <a16:creationId xmlns:a16="http://schemas.microsoft.com/office/drawing/2014/main" id="{69C8743E-F6E0-4E2A-B443-544F43E4C077}"/>
              </a:ext>
            </a:extLst>
          </p:cNvPr>
          <p:cNvSpPr>
            <a:spLocks xmlns:a="http://schemas.openxmlformats.org/drawingml/2006/main" noGrp="1"/>
          </p:cNvSpPr>
          <p:nvPr/>
        </p:nvSpPr>
        <p:spPr>
          <a:xfrm xmlns:a="http://schemas.openxmlformats.org/drawingml/2006/main" rot="0" flipH="0" flipV="0">
            <a:off x="1613075" y="8654127"/>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0" name="Freeform 20">
            <a:extLst xmlns:a="http://schemas.openxmlformats.org/drawingml/2006/main">
              <a:ext uri="{FF2B5EF4-FFF2-40B4-BE49-F238E27FC236}">
                <a16:creationId xmlns:a16="http://schemas.microsoft.com/office/drawing/2014/main" id="{10A22D97-9C1A-4DDD-9D47-6574621CA56F}"/>
              </a:ext>
            </a:extLst>
          </p:cNvPr>
          <p:cNvSpPr>
            <a:spLocks xmlns:a="http://schemas.openxmlformats.org/drawingml/2006/main" noGrp="1"/>
          </p:cNvSpPr>
          <p:nvPr/>
        </p:nvSpPr>
        <p:spPr>
          <a:xfrm xmlns:a="http://schemas.openxmlformats.org/drawingml/2006/main" rot="0" flipH="0" flipV="0">
            <a:off x="3746822" y="8848918"/>
            <a:ext cx="1510485" cy="129807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47000"/>
                </a:srgbClr>
              </a:gs>
              <a:gs pos="100000">
                <a:srgbClr val="035E8E">
                  <a:alpha val="0"/>
                </a:srgbClr>
              </a:gs>
            </a:gsLst>
            <a:lin ang="0"/>
          </a:gradFill>
        </p:spPr>
      </p:sp>
      <p:sp>
        <p:nvSpPr>
          <p:cNvPr id="21" name="TextBox 21">
            <a:extLst xmlns:a="http://schemas.openxmlformats.org/drawingml/2006/main">
              <a:ext uri="{FF2B5EF4-FFF2-40B4-BE49-F238E27FC236}">
                <a16:creationId xmlns:a16="http://schemas.microsoft.com/office/drawing/2014/main" id="{BDCB46F8-84D4-4A7C-8111-427BBD27A959}"/>
              </a:ext>
            </a:extLst>
          </p:cNvPr>
          <p:cNvSpPr>
            <a:spLocks xmlns:a="http://schemas.openxmlformats.org/drawingml/2006/main" noGrp="1"/>
          </p:cNvSpPr>
          <p:nvPr/>
        </p:nvSpPr>
        <p:spPr>
          <a:xfrm xmlns:a="http://schemas.openxmlformats.org/drawingml/2006/main" rot="0" flipH="0" flipV="0">
            <a:off x="3959233" y="8778115"/>
            <a:ext cx="1085661" cy="1368876"/>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3" name="Freeform 23">
            <a:extLst xmlns:a="http://schemas.openxmlformats.org/drawingml/2006/main">
              <a:ext uri="{FF2B5EF4-FFF2-40B4-BE49-F238E27FC236}">
                <a16:creationId xmlns:a16="http://schemas.microsoft.com/office/drawing/2014/main" id="{CB29FE04-CB8C-461E-9189-0BCC96B306E3}"/>
              </a:ext>
            </a:extLst>
          </p:cNvPr>
          <p:cNvSpPr>
            <a:spLocks xmlns:a="http://schemas.openxmlformats.org/drawingml/2006/main" noGrp="1"/>
          </p:cNvSpPr>
          <p:nvPr/>
        </p:nvSpPr>
        <p:spPr>
          <a:xfrm xmlns:a="http://schemas.openxmlformats.org/drawingml/2006/main" rot="0" flipH="0" flipV="0">
            <a:off x="9694410" y="3568564"/>
            <a:ext cx="9329646" cy="643089"/>
          </a:xfrm>
          <a:custGeom xmlns:a="http://schemas.openxmlformats.org/drawingml/2006/main">
            <a:rect l="l" t="t" r="r" b="b"/>
            <a:pathLst>
              <a:path w="1046692" h="72148">
                <a:moveTo>
                  <a:pt x="20745" y="0"/>
                </a:moveTo>
                <a:lnTo>
                  <a:pt x="1025947" y="0"/>
                </a:lnTo>
                <a:cubicBezTo>
                  <a:pt x="1037404" y="0"/>
                  <a:pt x="1046692" y="9288"/>
                  <a:pt x="1046692" y="20745"/>
                </a:cubicBezTo>
                <a:lnTo>
                  <a:pt x="1046692" y="51403"/>
                </a:lnTo>
                <a:cubicBezTo>
                  <a:pt x="1046692" y="62860"/>
                  <a:pt x="1037404" y="72148"/>
                  <a:pt x="1025947" y="72148"/>
                </a:cubicBezTo>
                <a:lnTo>
                  <a:pt x="20745" y="72148"/>
                </a:lnTo>
                <a:cubicBezTo>
                  <a:pt x="9288" y="72148"/>
                  <a:pt x="0" y="62860"/>
                  <a:pt x="0" y="51403"/>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24" name="TextBox 24">
            <a:extLst xmlns:a="http://schemas.openxmlformats.org/drawingml/2006/main">
              <a:ext uri="{FF2B5EF4-FFF2-40B4-BE49-F238E27FC236}">
                <a16:creationId xmlns:a16="http://schemas.microsoft.com/office/drawing/2014/main" id="{B77DA68E-F826-4F4B-AFA0-048AF56BA127}"/>
              </a:ext>
            </a:extLst>
          </p:cNvPr>
          <p:cNvSpPr>
            <a:spLocks xmlns:a="http://schemas.openxmlformats.org/drawingml/2006/main" noGrp="1"/>
          </p:cNvSpPr>
          <p:nvPr/>
        </p:nvSpPr>
        <p:spPr>
          <a:xfrm xmlns:a="http://schemas.openxmlformats.org/drawingml/2006/main" rot="0" flipH="0" flipV="0">
            <a:off x="9694410" y="3228961"/>
            <a:ext cx="9329646" cy="98269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25" name="TextBox 25">
            <a:extLst xmlns:a="http://schemas.openxmlformats.org/drawingml/2006/main">
              <a:ext uri="{FF2B5EF4-FFF2-40B4-BE49-F238E27FC236}">
                <a16:creationId xmlns:a16="http://schemas.microsoft.com/office/drawing/2014/main" id="{A8B10125-7ADB-4874-BA5F-43E211028FFC}"/>
              </a:ext>
            </a:extLst>
          </p:cNvPr>
          <p:cNvSpPr>
            <a:spLocks xmlns:a="http://schemas.openxmlformats.org/drawingml/2006/main" noGrp="1"/>
          </p:cNvSpPr>
          <p:nvPr/>
        </p:nvSpPr>
        <p:spPr>
          <a:xfrm xmlns:a="http://schemas.openxmlformats.org/drawingml/2006/main">
            <a:off x="11144743" y="3684636"/>
            <a:ext cx="5256547"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KIẾN TRÚC MÔ PHỎNG</a:t>
            </a:r>
          </a:p>
        </p:txBody>
      </p:sp>
      <p:sp>
        <p:nvSpPr>
          <p:cNvPr id="26" name="TextBox 26">
            <a:extLst xmlns:a="http://schemas.openxmlformats.org/drawingml/2006/main">
              <a:ext uri="{FF2B5EF4-FFF2-40B4-BE49-F238E27FC236}">
                <a16:creationId xmlns:a16="http://schemas.microsoft.com/office/drawing/2014/main" id="{4BC98813-22A4-4396-8194-0B551A1751FA}"/>
              </a:ext>
            </a:extLst>
          </p:cNvPr>
          <p:cNvSpPr>
            <a:spLocks xmlns:a="http://schemas.openxmlformats.org/drawingml/2006/main" noGrp="1"/>
          </p:cNvSpPr>
          <p:nvPr/>
        </p:nvSpPr>
        <p:spPr>
          <a:xfrm xmlns:a="http://schemas.openxmlformats.org/drawingml/2006/main">
            <a:off x="10318297" y="3684636"/>
            <a:ext cx="826446"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03</a:t>
            </a:r>
          </a:p>
        </p:txBody>
      </p:sp>
      <p:sp>
        <p:nvSpPr>
          <p:cNvPr id="28" name="Freeform 28">
            <a:extLst xmlns:a="http://schemas.openxmlformats.org/drawingml/2006/main">
              <a:ext uri="{FF2B5EF4-FFF2-40B4-BE49-F238E27FC236}">
                <a16:creationId xmlns:a16="http://schemas.microsoft.com/office/drawing/2014/main" id="{C2504EC6-FE93-45E7-8DE9-97D08FE8FD32}"/>
              </a:ext>
            </a:extLst>
          </p:cNvPr>
          <p:cNvSpPr>
            <a:spLocks xmlns:a="http://schemas.openxmlformats.org/drawingml/2006/main" noGrp="1"/>
          </p:cNvSpPr>
          <p:nvPr/>
        </p:nvSpPr>
        <p:spPr>
          <a:xfrm xmlns:a="http://schemas.openxmlformats.org/drawingml/2006/main" rot="0" flipH="0" flipV="0">
            <a:off x="9694410" y="4374102"/>
            <a:ext cx="9329646" cy="643089"/>
          </a:xfrm>
          <a:custGeom xmlns:a="http://schemas.openxmlformats.org/drawingml/2006/main">
            <a:rect l="l" t="t" r="r" b="b"/>
            <a:pathLst>
              <a:path w="1046692" h="72148">
                <a:moveTo>
                  <a:pt x="20745" y="0"/>
                </a:moveTo>
                <a:lnTo>
                  <a:pt x="1025947" y="0"/>
                </a:lnTo>
                <a:cubicBezTo>
                  <a:pt x="1037404" y="0"/>
                  <a:pt x="1046692" y="9288"/>
                  <a:pt x="1046692" y="20745"/>
                </a:cubicBezTo>
                <a:lnTo>
                  <a:pt x="1046692" y="51403"/>
                </a:lnTo>
                <a:cubicBezTo>
                  <a:pt x="1046692" y="62860"/>
                  <a:pt x="1037404" y="72148"/>
                  <a:pt x="1025947" y="72148"/>
                </a:cubicBezTo>
                <a:lnTo>
                  <a:pt x="20745" y="72148"/>
                </a:lnTo>
                <a:cubicBezTo>
                  <a:pt x="9288" y="72148"/>
                  <a:pt x="0" y="62860"/>
                  <a:pt x="0" y="51403"/>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29" name="TextBox 29">
            <a:extLst xmlns:a="http://schemas.openxmlformats.org/drawingml/2006/main">
              <a:ext uri="{FF2B5EF4-FFF2-40B4-BE49-F238E27FC236}">
                <a16:creationId xmlns:a16="http://schemas.microsoft.com/office/drawing/2014/main" id="{06E700DC-E3AB-46E1-A7EB-31DCE2A4046F}"/>
              </a:ext>
            </a:extLst>
          </p:cNvPr>
          <p:cNvSpPr>
            <a:spLocks xmlns:a="http://schemas.openxmlformats.org/drawingml/2006/main" noGrp="1"/>
          </p:cNvSpPr>
          <p:nvPr/>
        </p:nvSpPr>
        <p:spPr>
          <a:xfrm xmlns:a="http://schemas.openxmlformats.org/drawingml/2006/main" rot="0" flipH="0" flipV="0">
            <a:off x="9694410" y="4034499"/>
            <a:ext cx="9329646" cy="98269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30" name="TextBox 30">
            <a:extLst xmlns:a="http://schemas.openxmlformats.org/drawingml/2006/main">
              <a:ext uri="{FF2B5EF4-FFF2-40B4-BE49-F238E27FC236}">
                <a16:creationId xmlns:a16="http://schemas.microsoft.com/office/drawing/2014/main" id="{B878B297-A888-4F90-83E2-F458BC25BF4C}"/>
              </a:ext>
            </a:extLst>
          </p:cNvPr>
          <p:cNvSpPr>
            <a:spLocks xmlns:a="http://schemas.openxmlformats.org/drawingml/2006/main" noGrp="1"/>
          </p:cNvSpPr>
          <p:nvPr/>
        </p:nvSpPr>
        <p:spPr>
          <a:xfrm xmlns:a="http://schemas.openxmlformats.org/drawingml/2006/main">
            <a:off x="10318297" y="4490174"/>
            <a:ext cx="826446"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04</a:t>
            </a:r>
          </a:p>
        </p:txBody>
      </p:sp>
      <p:sp>
        <p:nvSpPr>
          <p:cNvPr id="31" name="TextBox 31">
            <a:extLst xmlns:a="http://schemas.openxmlformats.org/drawingml/2006/main">
              <a:ext uri="{FF2B5EF4-FFF2-40B4-BE49-F238E27FC236}">
                <a16:creationId xmlns:a16="http://schemas.microsoft.com/office/drawing/2014/main" id="{751E8D80-18CC-41E8-A2AA-EC4EC9C8367A}"/>
              </a:ext>
            </a:extLst>
          </p:cNvPr>
          <p:cNvSpPr>
            <a:spLocks xmlns:a="http://schemas.openxmlformats.org/drawingml/2006/main" noGrp="1"/>
          </p:cNvSpPr>
          <p:nvPr/>
        </p:nvSpPr>
        <p:spPr>
          <a:xfrm xmlns:a="http://schemas.openxmlformats.org/drawingml/2006/main">
            <a:off x="11144743" y="4490174"/>
            <a:ext cx="5903418"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QUY TRÌNH OTA AN TOÀN </a:t>
            </a:r>
          </a:p>
        </p:txBody>
      </p:sp>
      <p:sp>
        <p:nvSpPr>
          <p:cNvPr id="33" name="Freeform 33">
            <a:extLst xmlns:a="http://schemas.openxmlformats.org/drawingml/2006/main">
              <a:ext uri="{FF2B5EF4-FFF2-40B4-BE49-F238E27FC236}">
                <a16:creationId xmlns:a16="http://schemas.microsoft.com/office/drawing/2014/main" id="{854C3133-786E-44D5-8521-3A482232BE54}"/>
              </a:ext>
            </a:extLst>
          </p:cNvPr>
          <p:cNvSpPr>
            <a:spLocks xmlns:a="http://schemas.openxmlformats.org/drawingml/2006/main" noGrp="1"/>
          </p:cNvSpPr>
          <p:nvPr/>
        </p:nvSpPr>
        <p:spPr>
          <a:xfrm xmlns:a="http://schemas.openxmlformats.org/drawingml/2006/main" rot="0" flipH="0" flipV="0">
            <a:off x="9694410" y="5179116"/>
            <a:ext cx="9329646" cy="643089"/>
          </a:xfrm>
          <a:custGeom xmlns:a="http://schemas.openxmlformats.org/drawingml/2006/main">
            <a:rect l="l" t="t" r="r" b="b"/>
            <a:pathLst>
              <a:path w="1046692" h="72148">
                <a:moveTo>
                  <a:pt x="20745" y="0"/>
                </a:moveTo>
                <a:lnTo>
                  <a:pt x="1025947" y="0"/>
                </a:lnTo>
                <a:cubicBezTo>
                  <a:pt x="1037404" y="0"/>
                  <a:pt x="1046692" y="9288"/>
                  <a:pt x="1046692" y="20745"/>
                </a:cubicBezTo>
                <a:lnTo>
                  <a:pt x="1046692" y="51403"/>
                </a:lnTo>
                <a:cubicBezTo>
                  <a:pt x="1046692" y="62860"/>
                  <a:pt x="1037404" y="72148"/>
                  <a:pt x="1025947" y="72148"/>
                </a:cubicBezTo>
                <a:lnTo>
                  <a:pt x="20745" y="72148"/>
                </a:lnTo>
                <a:cubicBezTo>
                  <a:pt x="9288" y="72148"/>
                  <a:pt x="0" y="62860"/>
                  <a:pt x="0" y="51403"/>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34" name="TextBox 34">
            <a:extLst xmlns:a="http://schemas.openxmlformats.org/drawingml/2006/main">
              <a:ext uri="{FF2B5EF4-FFF2-40B4-BE49-F238E27FC236}">
                <a16:creationId xmlns:a16="http://schemas.microsoft.com/office/drawing/2014/main" id="{34BA53F6-74DB-4ADE-A114-244439CA0E26}"/>
              </a:ext>
            </a:extLst>
          </p:cNvPr>
          <p:cNvSpPr>
            <a:spLocks xmlns:a="http://schemas.openxmlformats.org/drawingml/2006/main" noGrp="1"/>
          </p:cNvSpPr>
          <p:nvPr/>
        </p:nvSpPr>
        <p:spPr>
          <a:xfrm xmlns:a="http://schemas.openxmlformats.org/drawingml/2006/main" rot="0" flipH="0" flipV="0">
            <a:off x="9694410" y="4839513"/>
            <a:ext cx="9329646" cy="98269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35" name="TextBox 35">
            <a:extLst xmlns:a="http://schemas.openxmlformats.org/drawingml/2006/main">
              <a:ext uri="{FF2B5EF4-FFF2-40B4-BE49-F238E27FC236}">
                <a16:creationId xmlns:a16="http://schemas.microsoft.com/office/drawing/2014/main" id="{8A32F396-5D46-4563-98B3-983A32327A02}"/>
              </a:ext>
            </a:extLst>
          </p:cNvPr>
          <p:cNvSpPr>
            <a:spLocks xmlns:a="http://schemas.openxmlformats.org/drawingml/2006/main" noGrp="1"/>
          </p:cNvSpPr>
          <p:nvPr/>
        </p:nvSpPr>
        <p:spPr>
          <a:xfrm xmlns:a="http://schemas.openxmlformats.org/drawingml/2006/main">
            <a:off x="11144743" y="5295187"/>
            <a:ext cx="5256547"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KẾT QUẢ DEMO</a:t>
            </a:r>
          </a:p>
        </p:txBody>
      </p:sp>
      <p:sp>
        <p:nvSpPr>
          <p:cNvPr id="36" name="TextBox 36">
            <a:extLst xmlns:a="http://schemas.openxmlformats.org/drawingml/2006/main">
              <a:ext uri="{FF2B5EF4-FFF2-40B4-BE49-F238E27FC236}">
                <a16:creationId xmlns:a16="http://schemas.microsoft.com/office/drawing/2014/main" id="{5C740E27-4B76-4E6C-8000-FB44AE3498E0}"/>
              </a:ext>
            </a:extLst>
          </p:cNvPr>
          <p:cNvSpPr>
            <a:spLocks xmlns:a="http://schemas.openxmlformats.org/drawingml/2006/main" noGrp="1"/>
          </p:cNvSpPr>
          <p:nvPr/>
        </p:nvSpPr>
        <p:spPr>
          <a:xfrm xmlns:a="http://schemas.openxmlformats.org/drawingml/2006/main">
            <a:off x="10318297" y="5295187"/>
            <a:ext cx="826446"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05</a:t>
            </a:r>
          </a:p>
        </p:txBody>
      </p:sp>
      <p:sp>
        <p:nvSpPr>
          <p:cNvPr id="38" name="Freeform 38">
            <a:extLst xmlns:a="http://schemas.openxmlformats.org/drawingml/2006/main">
              <a:ext uri="{FF2B5EF4-FFF2-40B4-BE49-F238E27FC236}">
                <a16:creationId xmlns:a16="http://schemas.microsoft.com/office/drawing/2014/main" id="{FEFFD48C-926A-4573-833C-31E012EF1044}"/>
              </a:ext>
            </a:extLst>
          </p:cNvPr>
          <p:cNvSpPr>
            <a:spLocks xmlns:a="http://schemas.openxmlformats.org/drawingml/2006/main" noGrp="1"/>
          </p:cNvSpPr>
          <p:nvPr/>
        </p:nvSpPr>
        <p:spPr>
          <a:xfrm xmlns:a="http://schemas.openxmlformats.org/drawingml/2006/main" rot="0" flipH="0" flipV="0">
            <a:off x="9694410" y="5984654"/>
            <a:ext cx="9329646" cy="643089"/>
          </a:xfrm>
          <a:custGeom xmlns:a="http://schemas.openxmlformats.org/drawingml/2006/main">
            <a:rect l="l" t="t" r="r" b="b"/>
            <a:pathLst>
              <a:path w="1046692" h="72148">
                <a:moveTo>
                  <a:pt x="20745" y="0"/>
                </a:moveTo>
                <a:lnTo>
                  <a:pt x="1025947" y="0"/>
                </a:lnTo>
                <a:cubicBezTo>
                  <a:pt x="1037404" y="0"/>
                  <a:pt x="1046692" y="9288"/>
                  <a:pt x="1046692" y="20745"/>
                </a:cubicBezTo>
                <a:lnTo>
                  <a:pt x="1046692" y="51403"/>
                </a:lnTo>
                <a:cubicBezTo>
                  <a:pt x="1046692" y="62860"/>
                  <a:pt x="1037404" y="72148"/>
                  <a:pt x="1025947" y="72148"/>
                </a:cubicBezTo>
                <a:lnTo>
                  <a:pt x="20745" y="72148"/>
                </a:lnTo>
                <a:cubicBezTo>
                  <a:pt x="9288" y="72148"/>
                  <a:pt x="0" y="62860"/>
                  <a:pt x="0" y="51403"/>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39" name="TextBox 39">
            <a:extLst xmlns:a="http://schemas.openxmlformats.org/drawingml/2006/main">
              <a:ext uri="{FF2B5EF4-FFF2-40B4-BE49-F238E27FC236}">
                <a16:creationId xmlns:a16="http://schemas.microsoft.com/office/drawing/2014/main" id="{14C2F042-CF79-4678-828A-77B205032870}"/>
              </a:ext>
            </a:extLst>
          </p:cNvPr>
          <p:cNvSpPr>
            <a:spLocks xmlns:a="http://schemas.openxmlformats.org/drawingml/2006/main" noGrp="1"/>
          </p:cNvSpPr>
          <p:nvPr/>
        </p:nvSpPr>
        <p:spPr>
          <a:xfrm xmlns:a="http://schemas.openxmlformats.org/drawingml/2006/main" rot="0" flipH="0" flipV="0">
            <a:off x="9694410" y="5645051"/>
            <a:ext cx="9329646" cy="98269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40" name="TextBox 40">
            <a:extLst xmlns:a="http://schemas.openxmlformats.org/drawingml/2006/main">
              <a:ext uri="{FF2B5EF4-FFF2-40B4-BE49-F238E27FC236}">
                <a16:creationId xmlns:a16="http://schemas.microsoft.com/office/drawing/2014/main" id="{8CCDE894-4B84-4690-8D4F-3FBE3AB58D1E}"/>
              </a:ext>
            </a:extLst>
          </p:cNvPr>
          <p:cNvSpPr>
            <a:spLocks xmlns:a="http://schemas.openxmlformats.org/drawingml/2006/main" noGrp="1"/>
          </p:cNvSpPr>
          <p:nvPr/>
        </p:nvSpPr>
        <p:spPr>
          <a:xfrm xmlns:a="http://schemas.openxmlformats.org/drawingml/2006/main">
            <a:off x="10318297" y="6100725"/>
            <a:ext cx="826446"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06</a:t>
            </a:r>
          </a:p>
        </p:txBody>
      </p:sp>
      <p:sp>
        <p:nvSpPr>
          <p:cNvPr id="41" name="TextBox 41">
            <a:extLst xmlns:a="http://schemas.openxmlformats.org/drawingml/2006/main">
              <a:ext uri="{FF2B5EF4-FFF2-40B4-BE49-F238E27FC236}">
                <a16:creationId xmlns:a16="http://schemas.microsoft.com/office/drawing/2014/main" id="{0ECF3918-2C16-487B-93D6-6A1F97DD987D}"/>
              </a:ext>
            </a:extLst>
          </p:cNvPr>
          <p:cNvSpPr>
            <a:spLocks xmlns:a="http://schemas.openxmlformats.org/drawingml/2006/main" noGrp="1"/>
          </p:cNvSpPr>
          <p:nvPr/>
        </p:nvSpPr>
        <p:spPr>
          <a:xfrm xmlns:a="http://schemas.openxmlformats.org/drawingml/2006/main">
            <a:off x="11144743" y="6100725"/>
            <a:ext cx="5903418"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RỦI RO VÀ BIỆN PHÁP GIẢM THIỂU</a:t>
            </a:r>
          </a:p>
        </p:txBody>
      </p:sp>
      <p:sp>
        <p:nvSpPr>
          <p:cNvPr id="43" name="Freeform 43">
            <a:extLst xmlns:a="http://schemas.openxmlformats.org/drawingml/2006/main">
              <a:ext uri="{FF2B5EF4-FFF2-40B4-BE49-F238E27FC236}">
                <a16:creationId xmlns:a16="http://schemas.microsoft.com/office/drawing/2014/main" id="{1082A03B-CC18-4258-8DA3-B1CFF5F30B0C}"/>
              </a:ext>
            </a:extLst>
          </p:cNvPr>
          <p:cNvSpPr>
            <a:spLocks xmlns:a="http://schemas.openxmlformats.org/drawingml/2006/main" noGrp="1"/>
          </p:cNvSpPr>
          <p:nvPr/>
        </p:nvSpPr>
        <p:spPr>
          <a:xfrm xmlns:a="http://schemas.openxmlformats.org/drawingml/2006/main" rot="0" flipH="0" flipV="0">
            <a:off x="9694410" y="6789667"/>
            <a:ext cx="9329646" cy="643089"/>
          </a:xfrm>
          <a:custGeom xmlns:a="http://schemas.openxmlformats.org/drawingml/2006/main">
            <a:rect l="l" t="t" r="r" b="b"/>
            <a:pathLst>
              <a:path w="1046692" h="72148">
                <a:moveTo>
                  <a:pt x="20745" y="0"/>
                </a:moveTo>
                <a:lnTo>
                  <a:pt x="1025947" y="0"/>
                </a:lnTo>
                <a:cubicBezTo>
                  <a:pt x="1037404" y="0"/>
                  <a:pt x="1046692" y="9288"/>
                  <a:pt x="1046692" y="20745"/>
                </a:cubicBezTo>
                <a:lnTo>
                  <a:pt x="1046692" y="51403"/>
                </a:lnTo>
                <a:cubicBezTo>
                  <a:pt x="1046692" y="62860"/>
                  <a:pt x="1037404" y="72148"/>
                  <a:pt x="1025947" y="72148"/>
                </a:cubicBezTo>
                <a:lnTo>
                  <a:pt x="20745" y="72148"/>
                </a:lnTo>
                <a:cubicBezTo>
                  <a:pt x="9288" y="72148"/>
                  <a:pt x="0" y="62860"/>
                  <a:pt x="0" y="51403"/>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44" name="TextBox 44">
            <a:extLst xmlns:a="http://schemas.openxmlformats.org/drawingml/2006/main">
              <a:ext uri="{FF2B5EF4-FFF2-40B4-BE49-F238E27FC236}">
                <a16:creationId xmlns:a16="http://schemas.microsoft.com/office/drawing/2014/main" id="{36CEB5F6-BFCA-4915-9D67-31542A6BA841}"/>
              </a:ext>
            </a:extLst>
          </p:cNvPr>
          <p:cNvSpPr>
            <a:spLocks xmlns:a="http://schemas.openxmlformats.org/drawingml/2006/main" noGrp="1"/>
          </p:cNvSpPr>
          <p:nvPr/>
        </p:nvSpPr>
        <p:spPr>
          <a:xfrm xmlns:a="http://schemas.openxmlformats.org/drawingml/2006/main" rot="0" flipH="0" flipV="0">
            <a:off x="9694410" y="6450064"/>
            <a:ext cx="9329646" cy="98269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45" name="TextBox 45">
            <a:extLst xmlns:a="http://schemas.openxmlformats.org/drawingml/2006/main">
              <a:ext uri="{FF2B5EF4-FFF2-40B4-BE49-F238E27FC236}">
                <a16:creationId xmlns:a16="http://schemas.microsoft.com/office/drawing/2014/main" id="{BE5E828B-910B-4DD9-B786-F83BDA1595C0}"/>
              </a:ext>
            </a:extLst>
          </p:cNvPr>
          <p:cNvSpPr>
            <a:spLocks xmlns:a="http://schemas.openxmlformats.org/drawingml/2006/main" noGrp="1"/>
          </p:cNvSpPr>
          <p:nvPr/>
        </p:nvSpPr>
        <p:spPr>
          <a:xfrm xmlns:a="http://schemas.openxmlformats.org/drawingml/2006/main">
            <a:off x="11144743" y="6905739"/>
            <a:ext cx="7070832"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ĐÁNH GIÁ, HẠN CHẾ VÀ HƯỚNG PHÁT TRIỂN</a:t>
            </a:r>
          </a:p>
        </p:txBody>
      </p:sp>
      <p:sp>
        <p:nvSpPr>
          <p:cNvPr id="46" name="TextBox 46">
            <a:extLst xmlns:a="http://schemas.openxmlformats.org/drawingml/2006/main">
              <a:ext uri="{FF2B5EF4-FFF2-40B4-BE49-F238E27FC236}">
                <a16:creationId xmlns:a16="http://schemas.microsoft.com/office/drawing/2014/main" id="{46CB95EE-9975-4198-AAE2-CB2718F5F979}"/>
              </a:ext>
            </a:extLst>
          </p:cNvPr>
          <p:cNvSpPr>
            <a:spLocks xmlns:a="http://schemas.openxmlformats.org/drawingml/2006/main" noGrp="1"/>
          </p:cNvSpPr>
          <p:nvPr/>
        </p:nvSpPr>
        <p:spPr>
          <a:xfrm xmlns:a="http://schemas.openxmlformats.org/drawingml/2006/main">
            <a:off x="10318297" y="6905739"/>
            <a:ext cx="826446"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07</a:t>
            </a:r>
          </a:p>
        </p:txBody>
      </p:sp>
      <p:sp>
        <p:nvSpPr>
          <p:cNvPr id="48" name="Freeform 48">
            <a:extLst xmlns:a="http://schemas.openxmlformats.org/drawingml/2006/main">
              <a:ext uri="{FF2B5EF4-FFF2-40B4-BE49-F238E27FC236}">
                <a16:creationId xmlns:a16="http://schemas.microsoft.com/office/drawing/2014/main" id="{24F563B4-016A-42AE-A73F-8289C8751AF7}"/>
              </a:ext>
            </a:extLst>
          </p:cNvPr>
          <p:cNvSpPr>
            <a:spLocks xmlns:a="http://schemas.openxmlformats.org/drawingml/2006/main" noGrp="1"/>
          </p:cNvSpPr>
          <p:nvPr/>
        </p:nvSpPr>
        <p:spPr>
          <a:xfrm xmlns:a="http://schemas.openxmlformats.org/drawingml/2006/main" rot="0" flipH="0" flipV="0">
            <a:off x="9694410" y="7595205"/>
            <a:ext cx="9329646" cy="643089"/>
          </a:xfrm>
          <a:custGeom xmlns:a="http://schemas.openxmlformats.org/drawingml/2006/main">
            <a:rect l="l" t="t" r="r" b="b"/>
            <a:pathLst>
              <a:path w="1046692" h="72148">
                <a:moveTo>
                  <a:pt x="20745" y="0"/>
                </a:moveTo>
                <a:lnTo>
                  <a:pt x="1025947" y="0"/>
                </a:lnTo>
                <a:cubicBezTo>
                  <a:pt x="1037404" y="0"/>
                  <a:pt x="1046692" y="9288"/>
                  <a:pt x="1046692" y="20745"/>
                </a:cubicBezTo>
                <a:lnTo>
                  <a:pt x="1046692" y="51403"/>
                </a:lnTo>
                <a:cubicBezTo>
                  <a:pt x="1046692" y="62860"/>
                  <a:pt x="1037404" y="72148"/>
                  <a:pt x="1025947" y="72148"/>
                </a:cubicBezTo>
                <a:lnTo>
                  <a:pt x="20745" y="72148"/>
                </a:lnTo>
                <a:cubicBezTo>
                  <a:pt x="9288" y="72148"/>
                  <a:pt x="0" y="62860"/>
                  <a:pt x="0" y="51403"/>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49" name="TextBox 49">
            <a:extLst xmlns:a="http://schemas.openxmlformats.org/drawingml/2006/main">
              <a:ext uri="{FF2B5EF4-FFF2-40B4-BE49-F238E27FC236}">
                <a16:creationId xmlns:a16="http://schemas.microsoft.com/office/drawing/2014/main" id="{E515FEF3-A6E5-4011-8E95-8BF1CA9391E6}"/>
              </a:ext>
            </a:extLst>
          </p:cNvPr>
          <p:cNvSpPr>
            <a:spLocks xmlns:a="http://schemas.openxmlformats.org/drawingml/2006/main" noGrp="1"/>
          </p:cNvSpPr>
          <p:nvPr/>
        </p:nvSpPr>
        <p:spPr>
          <a:xfrm xmlns:a="http://schemas.openxmlformats.org/drawingml/2006/main" rot="0" flipH="0" flipV="0">
            <a:off x="9694410" y="7255602"/>
            <a:ext cx="9329646" cy="98269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50" name="TextBox 50">
            <a:extLst xmlns:a="http://schemas.openxmlformats.org/drawingml/2006/main">
              <a:ext uri="{FF2B5EF4-FFF2-40B4-BE49-F238E27FC236}">
                <a16:creationId xmlns:a16="http://schemas.microsoft.com/office/drawing/2014/main" id="{74571B21-4CD7-4F11-8345-BD724C010230}"/>
              </a:ext>
            </a:extLst>
          </p:cNvPr>
          <p:cNvSpPr>
            <a:spLocks xmlns:a="http://schemas.openxmlformats.org/drawingml/2006/main" noGrp="1"/>
          </p:cNvSpPr>
          <p:nvPr/>
        </p:nvSpPr>
        <p:spPr>
          <a:xfrm xmlns:a="http://schemas.openxmlformats.org/drawingml/2006/main">
            <a:off x="10318297" y="7711277"/>
            <a:ext cx="826446"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08</a:t>
            </a:r>
          </a:p>
        </p:txBody>
      </p:sp>
      <p:sp>
        <p:nvSpPr>
          <p:cNvPr id="51" name="TextBox 51">
            <a:extLst xmlns:a="http://schemas.openxmlformats.org/drawingml/2006/main">
              <a:ext uri="{FF2B5EF4-FFF2-40B4-BE49-F238E27FC236}">
                <a16:creationId xmlns:a16="http://schemas.microsoft.com/office/drawing/2014/main" id="{E291816E-BAEA-4C52-889F-D3970AC2679B}"/>
              </a:ext>
            </a:extLst>
          </p:cNvPr>
          <p:cNvSpPr>
            <a:spLocks xmlns:a="http://schemas.openxmlformats.org/drawingml/2006/main" noGrp="1"/>
          </p:cNvSpPr>
          <p:nvPr/>
        </p:nvSpPr>
        <p:spPr>
          <a:xfrm xmlns:a="http://schemas.openxmlformats.org/drawingml/2006/main">
            <a:off x="11144743" y="7711277"/>
            <a:ext cx="5903418"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KẾT LUẬN</a:t>
            </a:r>
          </a:p>
        </p:txBody>
      </p:sp>
      <p:sp>
        <p:nvSpPr>
          <p:cNvPr id="53" name="Freeform 53">
            <a:extLst xmlns:a="http://schemas.openxmlformats.org/drawingml/2006/main">
              <a:ext uri="{FF2B5EF4-FFF2-40B4-BE49-F238E27FC236}">
                <a16:creationId xmlns:a16="http://schemas.microsoft.com/office/drawing/2014/main" id="{3A8C22DD-6BC2-41A2-B4D6-199509D668E7}"/>
              </a:ext>
            </a:extLst>
          </p:cNvPr>
          <p:cNvSpPr>
            <a:spLocks xmlns:a="http://schemas.openxmlformats.org/drawingml/2006/main" noGrp="1"/>
          </p:cNvSpPr>
          <p:nvPr/>
        </p:nvSpPr>
        <p:spPr>
          <a:xfrm xmlns:a="http://schemas.openxmlformats.org/drawingml/2006/main" rot="0" flipH="0" flipV="0">
            <a:off x="9694410" y="8400219"/>
            <a:ext cx="9329646" cy="643089"/>
          </a:xfrm>
          <a:custGeom xmlns:a="http://schemas.openxmlformats.org/drawingml/2006/main">
            <a:rect l="l" t="t" r="r" b="b"/>
            <a:pathLst>
              <a:path w="1046692" h="72148">
                <a:moveTo>
                  <a:pt x="20745" y="0"/>
                </a:moveTo>
                <a:lnTo>
                  <a:pt x="1025947" y="0"/>
                </a:lnTo>
                <a:cubicBezTo>
                  <a:pt x="1037404" y="0"/>
                  <a:pt x="1046692" y="9288"/>
                  <a:pt x="1046692" y="20745"/>
                </a:cubicBezTo>
                <a:lnTo>
                  <a:pt x="1046692" y="51403"/>
                </a:lnTo>
                <a:cubicBezTo>
                  <a:pt x="1046692" y="62860"/>
                  <a:pt x="1037404" y="72148"/>
                  <a:pt x="1025947" y="72148"/>
                </a:cubicBezTo>
                <a:lnTo>
                  <a:pt x="20745" y="72148"/>
                </a:lnTo>
                <a:cubicBezTo>
                  <a:pt x="9288" y="72148"/>
                  <a:pt x="0" y="62860"/>
                  <a:pt x="0" y="51403"/>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54" name="TextBox 54">
            <a:extLst xmlns:a="http://schemas.openxmlformats.org/drawingml/2006/main">
              <a:ext uri="{FF2B5EF4-FFF2-40B4-BE49-F238E27FC236}">
                <a16:creationId xmlns:a16="http://schemas.microsoft.com/office/drawing/2014/main" id="{A66282F0-838B-4CFB-A15D-FA4CF32BA423}"/>
              </a:ext>
            </a:extLst>
          </p:cNvPr>
          <p:cNvSpPr>
            <a:spLocks xmlns:a="http://schemas.openxmlformats.org/drawingml/2006/main" noGrp="1"/>
          </p:cNvSpPr>
          <p:nvPr/>
        </p:nvSpPr>
        <p:spPr>
          <a:xfrm xmlns:a="http://schemas.openxmlformats.org/drawingml/2006/main" rot="0" flipH="0" flipV="0">
            <a:off x="9694410" y="8060616"/>
            <a:ext cx="9329646" cy="98269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55" name="TextBox 55">
            <a:extLst xmlns:a="http://schemas.openxmlformats.org/drawingml/2006/main">
              <a:ext uri="{FF2B5EF4-FFF2-40B4-BE49-F238E27FC236}">
                <a16:creationId xmlns:a16="http://schemas.microsoft.com/office/drawing/2014/main" id="{FCFBCB0A-914D-4B8D-BBF5-E9207ED025FC}"/>
              </a:ext>
            </a:extLst>
          </p:cNvPr>
          <p:cNvSpPr>
            <a:spLocks xmlns:a="http://schemas.openxmlformats.org/drawingml/2006/main" noGrp="1"/>
          </p:cNvSpPr>
          <p:nvPr/>
        </p:nvSpPr>
        <p:spPr>
          <a:xfrm xmlns:a="http://schemas.openxmlformats.org/drawingml/2006/main">
            <a:off x="10318297" y="8516290"/>
            <a:ext cx="826446"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09</a:t>
            </a:r>
          </a:p>
        </p:txBody>
      </p:sp>
      <p:sp>
        <p:nvSpPr>
          <p:cNvPr id="56" name="TextBox 56">
            <a:extLst xmlns:a="http://schemas.openxmlformats.org/drawingml/2006/main">
              <a:ext uri="{FF2B5EF4-FFF2-40B4-BE49-F238E27FC236}">
                <a16:creationId xmlns:a16="http://schemas.microsoft.com/office/drawing/2014/main" id="{DD9009C9-CB4F-4D69-8AF7-4E433D12410F}"/>
              </a:ext>
            </a:extLst>
          </p:cNvPr>
          <p:cNvSpPr>
            <a:spLocks xmlns:a="http://schemas.openxmlformats.org/drawingml/2006/main" noGrp="1"/>
          </p:cNvSpPr>
          <p:nvPr/>
        </p:nvSpPr>
        <p:spPr>
          <a:xfrm xmlns:a="http://schemas.openxmlformats.org/drawingml/2006/main">
            <a:off x="11144743" y="8516290"/>
            <a:ext cx="5903418" cy="3727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TÀI LIỆU THAM KHẢO</a:t>
            </a:r>
          </a:p>
        </p:txBody>
      </p:sp>
    </p:spTree>
    <p:extLst>
      <p:ext uri="{BB962C8B-B14F-4D97-AF65-F5344CB8AC3E}">
        <p14:creationId xmlns:p14="http://schemas.microsoft.com/office/powerpoint/2010/main" val="12321214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81484AF5-964D-4850-9319-0997689F555D}"/>
              </a:ext>
            </a:extLst>
          </p:cNvPr>
          <p:cNvSpPr>
            <a:spLocks xmlns:a="http://schemas.openxmlformats.org/drawingml/2006/main" noGrp="1"/>
          </p:cNvSpPr>
          <p:nvPr/>
        </p:nvSpPr>
        <p:spPr>
          <a:xfrm xmlns:a="http://schemas.openxmlformats.org/drawingml/2006/main" flipV="1">
            <a:off x="0" y="0"/>
            <a:ext cx="18288000" cy="10287000"/>
          </a:xfrm>
          <a:custGeom xmlns:a="http://schemas.openxmlformats.org/drawingml/2006/main">
            <a:rect l="l" t="t" r="r" b="b"/>
            <a:pathLst>
              <a:path w="18288000" h="10287000">
                <a:moveTo>
                  <a:pt x="0" y="10287000"/>
                </a:moveTo>
                <a:lnTo>
                  <a:pt x="18288000" y="10287000"/>
                </a:lnTo>
                <a:lnTo>
                  <a:pt x="18288000" y="0"/>
                </a:lnTo>
                <a:lnTo>
                  <a:pt x="0" y="0"/>
                </a:lnTo>
                <a:lnTo>
                  <a:pt x="0" y="10287000"/>
                </a:lnTo>
                <a:close/>
              </a:path>
            </a:pathLst>
          </a:custGeom>
          <a:blipFill xmlns:a="http://schemas.openxmlformats.org/drawingml/2006/main">
            <a:blip xmlns:r="http://schemas.openxmlformats.org/officeDocument/2006/relationships" r:embed="Rfd1e97bc0b984075"/>
            <a:stretch>
              <a:fillRect l="0" t="-124631" r="-124631" b="0"/>
            </a:stretch>
          </a:blipFill>
        </p:spPr>
      </p:sp>
      <p:sp>
        <p:nvSpPr>
          <p:cNvPr id="4" name="Freeform 4">
            <a:extLst xmlns:a="http://schemas.openxmlformats.org/drawingml/2006/main">
              <a:ext uri="{FF2B5EF4-FFF2-40B4-BE49-F238E27FC236}">
                <a16:creationId xmlns:a16="http://schemas.microsoft.com/office/drawing/2014/main" id="{B2325984-A9FE-4130-AE38-D35691565680}"/>
              </a:ext>
            </a:extLst>
          </p:cNvPr>
          <p:cNvSpPr>
            <a:spLocks xmlns:a="http://schemas.openxmlformats.org/drawingml/2006/main" noGrp="1"/>
          </p:cNvSpPr>
          <p:nvPr/>
        </p:nvSpPr>
        <p:spPr>
          <a:xfrm xmlns:a="http://schemas.openxmlformats.org/drawingml/2006/main" rot="0" flipH="0" flipV="0">
            <a:off x="1520396" y="4144605"/>
            <a:ext cx="4742670" cy="5286174"/>
          </a:xfrm>
          <a:custGeom xmlns:a="http://schemas.openxmlformats.org/drawingml/2006/main">
            <a:rect l="l" t="t" r="r" b="b"/>
            <a:pathLst>
              <a:path w="532080" h="593056">
                <a:moveTo>
                  <a:pt x="40810" y="0"/>
                </a:moveTo>
                <a:lnTo>
                  <a:pt x="491270" y="0"/>
                </a:lnTo>
                <a:cubicBezTo>
                  <a:pt x="513809" y="0"/>
                  <a:pt x="532080" y="18271"/>
                  <a:pt x="532080" y="40810"/>
                </a:cubicBezTo>
                <a:lnTo>
                  <a:pt x="532080" y="552246"/>
                </a:lnTo>
                <a:cubicBezTo>
                  <a:pt x="532080" y="574784"/>
                  <a:pt x="513809" y="593056"/>
                  <a:pt x="491270" y="593056"/>
                </a:cubicBezTo>
                <a:lnTo>
                  <a:pt x="40810" y="593056"/>
                </a:lnTo>
                <a:cubicBezTo>
                  <a:pt x="18271" y="593056"/>
                  <a:pt x="0" y="574784"/>
                  <a:pt x="0" y="552246"/>
                </a:cubicBezTo>
                <a:lnTo>
                  <a:pt x="0" y="40810"/>
                </a:lnTo>
                <a:cubicBezTo>
                  <a:pt x="0" y="18271"/>
                  <a:pt x="18271" y="0"/>
                  <a:pt x="40810" y="0"/>
                </a:cubicBezTo>
                <a:close/>
              </a:path>
            </a:pathLst>
          </a:custGeom>
          <a:gradFill xmlns:a="http://schemas.openxmlformats.org/drawingml/2006/main" rotWithShape="1">
            <a:gsLst>
              <a:gs pos="0">
                <a:srgbClr val="31A1D4">
                  <a:alpha val="100000"/>
                </a:srgbClr>
              </a:gs>
              <a:gs pos="100000">
                <a:srgbClr val="001C37">
                  <a:alpha val="100000"/>
                </a:srgbClr>
              </a:gs>
            </a:gsLst>
            <a:lin ang="2700000"/>
          </a:gradFill>
        </p:spPr>
      </p:sp>
      <p:sp>
        <p:nvSpPr>
          <p:cNvPr id="5" name="TextBox 5">
            <a:extLst xmlns:a="http://schemas.openxmlformats.org/drawingml/2006/main">
              <a:ext uri="{FF2B5EF4-FFF2-40B4-BE49-F238E27FC236}">
                <a16:creationId xmlns:a16="http://schemas.microsoft.com/office/drawing/2014/main" id="{7350B93A-7BCF-4EBB-9569-9DAD79155758}"/>
              </a:ext>
            </a:extLst>
          </p:cNvPr>
          <p:cNvSpPr>
            <a:spLocks xmlns:a="http://schemas.openxmlformats.org/drawingml/2006/main" noGrp="1"/>
          </p:cNvSpPr>
          <p:nvPr/>
        </p:nvSpPr>
        <p:spPr>
          <a:xfrm xmlns:a="http://schemas.openxmlformats.org/drawingml/2006/main" rot="0" flipH="0" flipV="0">
            <a:off x="1520396" y="3805003"/>
            <a:ext cx="4742670" cy="5625776"/>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7" name="Freeform 7">
            <a:extLst xmlns:a="http://schemas.openxmlformats.org/drawingml/2006/main">
              <a:ext uri="{FF2B5EF4-FFF2-40B4-BE49-F238E27FC236}">
                <a16:creationId xmlns:a16="http://schemas.microsoft.com/office/drawing/2014/main" id="{ED7E497E-EFA1-4673-BB63-C33E761F2635}"/>
              </a:ext>
            </a:extLst>
          </p:cNvPr>
          <p:cNvSpPr>
            <a:spLocks xmlns:a="http://schemas.openxmlformats.org/drawingml/2006/main" noGrp="1"/>
          </p:cNvSpPr>
          <p:nvPr/>
        </p:nvSpPr>
        <p:spPr>
          <a:xfrm xmlns:a="http://schemas.openxmlformats.org/drawingml/2006/main" rot="0" flipH="0" flipV="0">
            <a:off x="12024934" y="4144605"/>
            <a:ext cx="4742670" cy="5286174"/>
          </a:xfrm>
          <a:custGeom xmlns:a="http://schemas.openxmlformats.org/drawingml/2006/main">
            <a:rect l="l" t="t" r="r" b="b"/>
            <a:pathLst>
              <a:path w="532080" h="593056">
                <a:moveTo>
                  <a:pt x="40810" y="0"/>
                </a:moveTo>
                <a:lnTo>
                  <a:pt x="491270" y="0"/>
                </a:lnTo>
                <a:cubicBezTo>
                  <a:pt x="513809" y="0"/>
                  <a:pt x="532080" y="18271"/>
                  <a:pt x="532080" y="40810"/>
                </a:cubicBezTo>
                <a:lnTo>
                  <a:pt x="532080" y="552246"/>
                </a:lnTo>
                <a:cubicBezTo>
                  <a:pt x="532080" y="574784"/>
                  <a:pt x="513809" y="593056"/>
                  <a:pt x="491270" y="593056"/>
                </a:cubicBezTo>
                <a:lnTo>
                  <a:pt x="40810" y="593056"/>
                </a:lnTo>
                <a:cubicBezTo>
                  <a:pt x="18271" y="593056"/>
                  <a:pt x="0" y="574784"/>
                  <a:pt x="0" y="552246"/>
                </a:cubicBezTo>
                <a:lnTo>
                  <a:pt x="0" y="40810"/>
                </a:lnTo>
                <a:cubicBezTo>
                  <a:pt x="0" y="18271"/>
                  <a:pt x="18271" y="0"/>
                  <a:pt x="40810" y="0"/>
                </a:cubicBezTo>
                <a:close/>
              </a:path>
            </a:pathLst>
          </a:custGeom>
          <a:gradFill xmlns:a="http://schemas.openxmlformats.org/drawingml/2006/main" rotWithShape="1">
            <a:gsLst>
              <a:gs pos="0">
                <a:srgbClr val="31A1D4">
                  <a:alpha val="100000"/>
                </a:srgbClr>
              </a:gs>
              <a:gs pos="100000">
                <a:srgbClr val="001C37">
                  <a:alpha val="100000"/>
                </a:srgbClr>
              </a:gs>
            </a:gsLst>
            <a:lin ang="2700000"/>
          </a:gradFill>
        </p:spPr>
      </p:sp>
      <p:sp>
        <p:nvSpPr>
          <p:cNvPr id="8" name="TextBox 8">
            <a:extLst xmlns:a="http://schemas.openxmlformats.org/drawingml/2006/main">
              <a:ext uri="{FF2B5EF4-FFF2-40B4-BE49-F238E27FC236}">
                <a16:creationId xmlns:a16="http://schemas.microsoft.com/office/drawing/2014/main" id="{038A82E0-76C4-4736-A8ED-7BC0679B79EC}"/>
              </a:ext>
            </a:extLst>
          </p:cNvPr>
          <p:cNvSpPr>
            <a:spLocks xmlns:a="http://schemas.openxmlformats.org/drawingml/2006/main" noGrp="1"/>
          </p:cNvSpPr>
          <p:nvPr/>
        </p:nvSpPr>
        <p:spPr>
          <a:xfrm xmlns:a="http://schemas.openxmlformats.org/drawingml/2006/main" rot="0" flipH="0" flipV="0">
            <a:off x="12024934" y="3805003"/>
            <a:ext cx="4742670" cy="5625776"/>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0" name="Freeform 10">
            <a:extLst xmlns:a="http://schemas.openxmlformats.org/drawingml/2006/main">
              <a:ext uri="{FF2B5EF4-FFF2-40B4-BE49-F238E27FC236}">
                <a16:creationId xmlns:a16="http://schemas.microsoft.com/office/drawing/2014/main" id="{D86C699A-5D7F-4E41-BBB4-0B7F4909E029}"/>
              </a:ext>
            </a:extLst>
          </p:cNvPr>
          <p:cNvSpPr>
            <a:spLocks xmlns:a="http://schemas.openxmlformats.org/drawingml/2006/main" noGrp="1"/>
          </p:cNvSpPr>
          <p:nvPr/>
        </p:nvSpPr>
        <p:spPr>
          <a:xfrm xmlns:a="http://schemas.openxmlformats.org/drawingml/2006/main" rot="0" flipH="0" flipV="0">
            <a:off x="6772665" y="4144605"/>
            <a:ext cx="4742670" cy="4676574"/>
          </a:xfrm>
          <a:custGeom xmlns:a="http://schemas.openxmlformats.org/drawingml/2006/main">
            <a:rect l="l" t="t" r="r" b="b"/>
            <a:pathLst>
              <a:path w="734764" h="724524">
                <a:moveTo>
                  <a:pt x="40810" y="0"/>
                </a:moveTo>
                <a:lnTo>
                  <a:pt x="693954" y="0"/>
                </a:lnTo>
                <a:cubicBezTo>
                  <a:pt x="716493" y="0"/>
                  <a:pt x="734764" y="18271"/>
                  <a:pt x="734764" y="40810"/>
                </a:cubicBezTo>
                <a:lnTo>
                  <a:pt x="734764" y="683714"/>
                </a:lnTo>
                <a:cubicBezTo>
                  <a:pt x="734764" y="706252"/>
                  <a:pt x="716493" y="724524"/>
                  <a:pt x="693954" y="724524"/>
                </a:cubicBezTo>
                <a:lnTo>
                  <a:pt x="40810" y="724524"/>
                </a:lnTo>
                <a:cubicBezTo>
                  <a:pt x="18271" y="724524"/>
                  <a:pt x="0" y="706252"/>
                  <a:pt x="0" y="683714"/>
                </a:cubicBezTo>
                <a:lnTo>
                  <a:pt x="0" y="40810"/>
                </a:lnTo>
                <a:cubicBezTo>
                  <a:pt x="0" y="18271"/>
                  <a:pt x="18271" y="0"/>
                  <a:pt x="40810" y="0"/>
                </a:cubicBezTo>
                <a:close/>
              </a:path>
            </a:pathLst>
          </a:custGeom>
          <a:blipFill xmlns:a="http://schemas.openxmlformats.org/drawingml/2006/main">
            <a:blip xmlns:r="http://schemas.openxmlformats.org/officeDocument/2006/relationships" r:embed="R4ce9a41022704db7"/>
            <a:stretch>
              <a:fillRect l="-23954" t="0" r="-23954" b="0"/>
            </a:stretch>
          </a:blipFill>
        </p:spPr>
      </p:sp>
      <p:sp>
        <p:nvSpPr>
          <p:cNvPr id="11" name="Freeform 11">
            <a:extLst xmlns:a="http://schemas.openxmlformats.org/drawingml/2006/main">
              <a:ext uri="{FF2B5EF4-FFF2-40B4-BE49-F238E27FC236}">
                <a16:creationId xmlns:a16="http://schemas.microsoft.com/office/drawing/2014/main" id="{51F30066-8D76-4EF5-95D5-AC94D8F6A2D5}"/>
              </a:ext>
            </a:extLst>
          </p:cNvPr>
          <p:cNvSpPr>
            <a:spLocks xmlns:a="http://schemas.openxmlformats.org/drawingml/2006/main" noGrp="1"/>
          </p:cNvSpPr>
          <p:nvPr/>
        </p:nvSpPr>
        <p:spPr>
          <a:xfrm xmlns:a="http://schemas.openxmlformats.org/drawingml/2006/main">
            <a:off x="13568711" y="-3962307"/>
            <a:ext cx="9438577" cy="6748583"/>
          </a:xfrm>
          <a:custGeom xmlns:a="http://schemas.openxmlformats.org/drawingml/2006/main">
            <a:rect l="l" t="t" r="r" b="b"/>
            <a:pathLst>
              <a:path w="9438577" h="6748583">
                <a:moveTo>
                  <a:pt x="0" y="0"/>
                </a:moveTo>
                <a:lnTo>
                  <a:pt x="9438578" y="0"/>
                </a:lnTo>
                <a:lnTo>
                  <a:pt x="9438578" y="6748583"/>
                </a:lnTo>
                <a:lnTo>
                  <a:pt x="0" y="6748583"/>
                </a:lnTo>
                <a:lnTo>
                  <a:pt x="0" y="0"/>
                </a:lnTo>
                <a:close/>
              </a:path>
            </a:pathLst>
          </a:custGeom>
          <a:blipFill xmlns:a="http://schemas.openxmlformats.org/drawingml/2006/main">
            <a:blip xmlns:r="http://schemas.openxmlformats.org/officeDocument/2006/relationships" r:embed="Rfd1e97bc0b984075">
              <a:extLst>
                <a:ext uri="{96DAC541-7B7A-43D3-8B79-37D633B846F1}">
                  <asvg:svgBlip xmlns:asvg="http://schemas.microsoft.com/office/drawing/2016/SVG/main" r:embed="Ra069f3e511b64e15"/>
                </a:ext>
              </a:extLst>
            </a:blip>
            <a:stretch>
              <a:fillRect l="0" t="0" r="0" b="0"/>
            </a:stretch>
          </a:blipFill>
        </p:spPr>
      </p:sp>
      <p:sp>
        <p:nvSpPr>
          <p:cNvPr id="13" name="Freeform 13">
            <a:extLst xmlns:a="http://schemas.openxmlformats.org/drawingml/2006/main">
              <a:ext uri="{FF2B5EF4-FFF2-40B4-BE49-F238E27FC236}">
                <a16:creationId xmlns:a16="http://schemas.microsoft.com/office/drawing/2014/main" id="{D1B5ABEB-8368-434D-B846-C8DDC0DAC509}"/>
              </a:ext>
            </a:extLst>
          </p:cNvPr>
          <p:cNvSpPr>
            <a:spLocks xmlns:a="http://schemas.openxmlformats.org/drawingml/2006/main" noGrp="1"/>
          </p:cNvSpPr>
          <p:nvPr/>
        </p:nvSpPr>
        <p:spPr>
          <a:xfrm xmlns:a="http://schemas.openxmlformats.org/drawingml/2006/main" rot="0" flipH="0" flipV="0">
            <a:off x="16128358" y="-502202"/>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4" name="TextBox 14">
            <a:extLst xmlns:a="http://schemas.openxmlformats.org/drawingml/2006/main">
              <a:ext uri="{FF2B5EF4-FFF2-40B4-BE49-F238E27FC236}">
                <a16:creationId xmlns:a16="http://schemas.microsoft.com/office/drawing/2014/main" id="{A3FC8D5E-B326-4A0C-8978-6EE27EF6F8BA}"/>
              </a:ext>
            </a:extLst>
          </p:cNvPr>
          <p:cNvSpPr>
            <a:spLocks xmlns:a="http://schemas.openxmlformats.org/drawingml/2006/main" noGrp="1"/>
          </p:cNvSpPr>
          <p:nvPr/>
        </p:nvSpPr>
        <p:spPr>
          <a:xfrm xmlns:a="http://schemas.openxmlformats.org/drawingml/2006/main" rot="0" flipH="0" flipV="0">
            <a:off x="16712733" y="-696993"/>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6" name="Freeform 16">
            <a:extLst xmlns:a="http://schemas.openxmlformats.org/drawingml/2006/main">
              <a:ext uri="{FF2B5EF4-FFF2-40B4-BE49-F238E27FC236}">
                <a16:creationId xmlns:a16="http://schemas.microsoft.com/office/drawing/2014/main" id="{F93B0DD6-3F97-4C67-A77E-9F1268AE6B70}"/>
              </a:ext>
            </a:extLst>
          </p:cNvPr>
          <p:cNvSpPr>
            <a:spLocks xmlns:a="http://schemas.openxmlformats.org/drawingml/2006/main" noGrp="1"/>
          </p:cNvSpPr>
          <p:nvPr/>
        </p:nvSpPr>
        <p:spPr>
          <a:xfrm xmlns:a="http://schemas.openxmlformats.org/drawingml/2006/main" rot="0" flipH="0" flipV="0">
            <a:off x="15234643" y="515353"/>
            <a:ext cx="1787431" cy="153607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7" name="TextBox 17">
            <a:extLst xmlns:a="http://schemas.openxmlformats.org/drawingml/2006/main">
              <a:ext uri="{FF2B5EF4-FFF2-40B4-BE49-F238E27FC236}">
                <a16:creationId xmlns:a16="http://schemas.microsoft.com/office/drawing/2014/main" id="{C6F7427F-790D-4E01-ABA8-7CB23872F090}"/>
              </a:ext>
            </a:extLst>
          </p:cNvPr>
          <p:cNvSpPr>
            <a:spLocks xmlns:a="http://schemas.openxmlformats.org/drawingml/2006/main" noGrp="1"/>
          </p:cNvSpPr>
          <p:nvPr/>
        </p:nvSpPr>
        <p:spPr>
          <a:xfrm xmlns:a="http://schemas.openxmlformats.org/drawingml/2006/main" rot="0" flipH="0" flipV="0">
            <a:off x="15486000" y="431568"/>
            <a:ext cx="1284716" cy="1619858"/>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8" name="TextBox 18">
            <a:extLst xmlns:a="http://schemas.openxmlformats.org/drawingml/2006/main">
              <a:ext uri="{FF2B5EF4-FFF2-40B4-BE49-F238E27FC236}">
                <a16:creationId xmlns:a16="http://schemas.microsoft.com/office/drawing/2014/main" id="{B76C5AEC-5555-43E8-80E0-079C26485CD7}"/>
              </a:ext>
            </a:extLst>
          </p:cNvPr>
          <p:cNvSpPr>
            <a:spLocks xmlns:a="http://schemas.openxmlformats.org/drawingml/2006/main" noGrp="1"/>
          </p:cNvSpPr>
          <p:nvPr/>
        </p:nvSpPr>
        <p:spPr>
          <a:xfrm xmlns:a="http://schemas.openxmlformats.org/drawingml/2006/main">
            <a:off x="5243589" y="1332661"/>
            <a:ext cx="7800821" cy="100296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240"/>
              </a:lnSpc>
              <a:spcBef>
                <a:spcPct val="0"/>
              </a:spcBef>
              <a:buNone/>
            </a:pPr>
            <a:r>
              <a:rPr sz="5885" b="1">
                <a:solidFill>
                  <a:srgbClr val="FFFFFF"/>
                </a:solidFill>
                <a:latin typeface="TT Lakes Neue Extended Bold"/>
                <a:ea typeface="TT Lakes Neue Extended Bold"/>
                <a:cs typeface="TT Lakes Neue Extended Bold"/>
              </a:rPr>
              <a:t>VẤN ĐỀ BẢO MẬT </a:t>
            </a:r>
          </a:p>
        </p:txBody>
      </p:sp>
      <p:sp>
        <p:nvSpPr>
          <p:cNvPr id="19" name="TextBox 19">
            <a:extLst xmlns:a="http://schemas.openxmlformats.org/drawingml/2006/main">
              <a:ext uri="{FF2B5EF4-FFF2-40B4-BE49-F238E27FC236}">
                <a16:creationId xmlns:a16="http://schemas.microsoft.com/office/drawing/2014/main" id="{5C95512B-F0FE-45DF-8136-05B56E4A4926}"/>
              </a:ext>
            </a:extLst>
          </p:cNvPr>
          <p:cNvSpPr>
            <a:spLocks xmlns:a="http://schemas.openxmlformats.org/drawingml/2006/main" noGrp="1"/>
          </p:cNvSpPr>
          <p:nvPr/>
        </p:nvSpPr>
        <p:spPr>
          <a:xfrm xmlns:a="http://schemas.openxmlformats.org/drawingml/2006/main">
            <a:off x="5243589" y="2227616"/>
            <a:ext cx="7800821" cy="100296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240"/>
              </a:lnSpc>
              <a:spcBef>
                <a:spcPct val="0"/>
              </a:spcBef>
              <a:buNone/>
            </a:pPr>
            <a:r>
              <a:rPr sz="5885" b="1">
                <a:solidFill>
                  <a:srgbClr val="FFFFFF"/>
                </a:solidFill>
                <a:latin typeface="TT Lakes Neue Extended Bold"/>
                <a:ea typeface="TT Lakes Neue Extended Bold"/>
                <a:cs typeface="TT Lakes Neue Extended Bold"/>
              </a:rPr>
              <a:t>VÀ MỤC TIÊU</a:t>
            </a:r>
          </a:p>
        </p:txBody>
      </p:sp>
      <p:sp>
        <p:nvSpPr>
          <p:cNvPr id="20" name="TextBox 20">
            <a:extLst xmlns:a="http://schemas.openxmlformats.org/drawingml/2006/main">
              <a:ext uri="{FF2B5EF4-FFF2-40B4-BE49-F238E27FC236}">
                <a16:creationId xmlns:a16="http://schemas.microsoft.com/office/drawing/2014/main" id="{48D3D34F-5F95-4646-B879-F557BE8BB903}"/>
              </a:ext>
            </a:extLst>
          </p:cNvPr>
          <p:cNvSpPr>
            <a:spLocks xmlns:a="http://schemas.openxmlformats.org/drawingml/2006/main" noGrp="1"/>
          </p:cNvSpPr>
          <p:nvPr/>
        </p:nvSpPr>
        <p:spPr>
          <a:xfrm xmlns:a="http://schemas.openxmlformats.org/drawingml/2006/main">
            <a:off x="1802997" y="5095875"/>
            <a:ext cx="4177468" cy="412377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340"/>
              </a:lnSpc>
              <a:buNone/>
            </a:pPr>
            <a:r>
              <a:rPr sz="2385">
                <a:solidFill>
                  <a:srgbClr val="C6C6C6"/>
                </a:solidFill>
                <a:latin typeface="Montserrat Light"/>
                <a:ea typeface="Montserrat Light"/>
                <a:cs typeface="Montserrat Light"/>
              </a:rPr>
              <a:t>- Firmwa</a:t>
            </a:r>
            <a:r>
              <a:rPr sz="2385">
                <a:solidFill>
                  <a:srgbClr val="C6C6C6"/>
                </a:solidFill>
                <a:latin typeface="Montserrat Light"/>
                <a:ea typeface="Montserrat Light"/>
                <a:cs typeface="Montserrat Light"/>
              </a:rPr>
              <a:t>re giả mạo có thể chứa mã độc.</a:t>
            </a:r>
          </a:p>
          <a:p xmlns:a="http://schemas.openxmlformats.org/drawingml/2006/main">
            <a:pPr algn="l">
              <a:lnSpc>
                <a:spcPts val="3340"/>
              </a:lnSpc>
              <a:buNone/>
            </a:pPr>
            <a:r>
              <a:rPr sz="2385">
                <a:solidFill>
                  <a:srgbClr val="C6C6C6"/>
                </a:solidFill>
                <a:latin typeface="Montserrat Light"/>
                <a:ea typeface="Montserrat Light"/>
                <a:cs typeface="Montserrat Light"/>
              </a:rPr>
              <a:t>- Firmware bị sửa đổi có thể làm thiết bị hoạt động sai.</a:t>
            </a:r>
          </a:p>
          <a:p xmlns:a="http://schemas.openxmlformats.org/drawingml/2006/main">
            <a:pPr algn="l">
              <a:lnSpc>
                <a:spcPts val="3340"/>
              </a:lnSpc>
              <a:buNone/>
            </a:pPr>
            <a:r>
              <a:rPr sz="2385">
                <a:solidFill>
                  <a:srgbClr val="C6C6C6"/>
                </a:solidFill>
                <a:latin typeface="Montserrat Light"/>
                <a:ea typeface="Montserrat Light"/>
                <a:cs typeface="Montserrat Light"/>
              </a:rPr>
              <a:t>- Kẻ tấn công có thể phát lại phiên bản cũ còn lỗ hổng.</a:t>
            </a:r>
          </a:p>
          <a:p xmlns:a="http://schemas.openxmlformats.org/drawingml/2006/main">
            <a:pPr algn="l">
              <a:lnSpc>
                <a:spcPts val="3340"/>
              </a:lnSpc>
              <a:spcBef>
                <a:spcPct val="0"/>
              </a:spcBef>
              <a:buNone/>
            </a:pPr>
            <a:r>
              <a:rPr sz="2385">
                <a:solidFill>
                  <a:srgbClr val="C6C6C6"/>
                </a:solidFill>
                <a:latin typeface="Montserrat Light"/>
                <a:ea typeface="Montserrat Light"/>
                <a:cs typeface="Montserrat Light"/>
              </a:rPr>
              <a:t>- Cập nhật lỗi có thể khiến thiết bị không thể khởi động.</a:t>
            </a:r>
          </a:p>
        </p:txBody>
      </p:sp>
      <p:sp>
        <p:nvSpPr>
          <p:cNvPr id="21" name="TextBox 21">
            <a:extLst xmlns:a="http://schemas.openxmlformats.org/drawingml/2006/main">
              <a:ext uri="{FF2B5EF4-FFF2-40B4-BE49-F238E27FC236}">
                <a16:creationId xmlns:a16="http://schemas.microsoft.com/office/drawing/2014/main" id="{EEC55374-44AB-4C47-A21D-1409C8AAE1DF}"/>
              </a:ext>
            </a:extLst>
          </p:cNvPr>
          <p:cNvSpPr>
            <a:spLocks xmlns:a="http://schemas.openxmlformats.org/drawingml/2006/main" noGrp="1"/>
          </p:cNvSpPr>
          <p:nvPr/>
        </p:nvSpPr>
        <p:spPr>
          <a:xfrm xmlns:a="http://schemas.openxmlformats.org/drawingml/2006/main">
            <a:off x="2408604" y="4375817"/>
            <a:ext cx="2717163" cy="49528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4195"/>
              </a:lnSpc>
              <a:spcBef>
                <a:spcPct val="0"/>
              </a:spcBef>
              <a:buNone/>
            </a:pPr>
            <a:r>
              <a:rPr sz="3000" b="1">
                <a:solidFill>
                  <a:srgbClr val="FFFFFF"/>
                </a:solidFill>
                <a:latin typeface="Montserrat Bold"/>
                <a:ea typeface="Montserrat Bold"/>
                <a:cs typeface="Montserrat Bold"/>
              </a:rPr>
              <a:t>Vấn đề</a:t>
            </a:r>
          </a:p>
        </p:txBody>
      </p:sp>
      <p:sp>
        <p:nvSpPr>
          <p:cNvPr id="22" name="TextBox 22">
            <a:extLst xmlns:a="http://schemas.openxmlformats.org/drawingml/2006/main">
              <a:ext uri="{FF2B5EF4-FFF2-40B4-BE49-F238E27FC236}">
                <a16:creationId xmlns:a16="http://schemas.microsoft.com/office/drawing/2014/main" id="{86CE048D-F2DC-42FD-9DDD-5B9126E48D40}"/>
              </a:ext>
            </a:extLst>
          </p:cNvPr>
          <p:cNvSpPr>
            <a:spLocks xmlns:a="http://schemas.openxmlformats.org/drawingml/2006/main" noGrp="1"/>
          </p:cNvSpPr>
          <p:nvPr/>
        </p:nvSpPr>
        <p:spPr>
          <a:xfrm xmlns:a="http://schemas.openxmlformats.org/drawingml/2006/main">
            <a:off x="12980538" y="4375817"/>
            <a:ext cx="2717163" cy="49528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4195"/>
              </a:lnSpc>
              <a:spcBef>
                <a:spcPct val="0"/>
              </a:spcBef>
              <a:buNone/>
            </a:pPr>
            <a:r>
              <a:rPr sz="3000" b="1">
                <a:solidFill>
                  <a:srgbClr val="FFFFFF"/>
                </a:solidFill>
                <a:latin typeface="Montserrat Bold"/>
                <a:ea typeface="Montserrat Bold"/>
                <a:cs typeface="Montserrat Bold"/>
              </a:rPr>
              <a:t>Mục tiêu</a:t>
            </a:r>
          </a:p>
        </p:txBody>
      </p:sp>
      <p:sp>
        <p:nvSpPr>
          <p:cNvPr id="23" name="TextBox 23">
            <a:extLst xmlns:a="http://schemas.openxmlformats.org/drawingml/2006/main">
              <a:ext uri="{FF2B5EF4-FFF2-40B4-BE49-F238E27FC236}">
                <a16:creationId xmlns:a16="http://schemas.microsoft.com/office/drawing/2014/main" id="{008BB6B9-F6AF-431D-BE6D-57240707D839}"/>
              </a:ext>
            </a:extLst>
          </p:cNvPr>
          <p:cNvSpPr>
            <a:spLocks xmlns:a="http://schemas.openxmlformats.org/drawingml/2006/main" noGrp="1"/>
          </p:cNvSpPr>
          <p:nvPr/>
        </p:nvSpPr>
        <p:spPr>
          <a:xfrm xmlns:a="http://schemas.openxmlformats.org/drawingml/2006/main">
            <a:off x="12307535" y="5198169"/>
            <a:ext cx="4177468" cy="3710096"/>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340"/>
              </a:lnSpc>
              <a:buNone/>
            </a:pPr>
            <a:r>
              <a:rPr sz="2385">
                <a:solidFill>
                  <a:srgbClr val="C6C6C6"/>
                </a:solidFill>
                <a:latin typeface="Montserrat Light"/>
                <a:ea typeface="Montserrat Light"/>
                <a:cs typeface="Montserrat Light"/>
              </a:rPr>
              <a:t>- Mô</a:t>
            </a:r>
            <a:r>
              <a:rPr sz="2385">
                <a:solidFill>
                  <a:srgbClr val="C6C6C6"/>
                </a:solidFill>
                <a:latin typeface="Montserrat Light"/>
                <a:ea typeface="Montserrat Light"/>
                <a:cs typeface="Montserrat Light"/>
              </a:rPr>
              <a:t> phỏng kiểm tra SHA-256 và chữ ký số.</a:t>
            </a:r>
          </a:p>
          <a:p xmlns:a="http://schemas.openxmlformats.org/drawingml/2006/main">
            <a:pPr algn="l">
              <a:lnSpc>
                <a:spcPts val="3340"/>
              </a:lnSpc>
              <a:buNone/>
            </a:pPr>
            <a:r>
              <a:rPr sz="2385">
                <a:solidFill>
                  <a:srgbClr val="C6C6C6"/>
                </a:solidFill>
                <a:latin typeface="Montserrat Light"/>
                <a:ea typeface="Montserrat Light"/>
                <a:cs typeface="Montserrat Light"/>
              </a:rPr>
              <a:t>- Xây dựng manifest mô tả bản cập nhật.</a:t>
            </a:r>
          </a:p>
          <a:p xmlns:a="http://schemas.openxmlformats.org/drawingml/2006/main">
            <a:pPr algn="l">
              <a:lnSpc>
                <a:spcPts val="3340"/>
              </a:lnSpc>
              <a:buNone/>
            </a:pPr>
            <a:r>
              <a:rPr sz="2385">
                <a:solidFill>
                  <a:srgbClr val="C6C6C6"/>
                </a:solidFill>
                <a:latin typeface="Montserrat Light"/>
                <a:ea typeface="Montserrat Light"/>
                <a:cs typeface="Montserrat Light"/>
              </a:rPr>
              <a:t>- Chống rollback về firmware cũ.</a:t>
            </a:r>
          </a:p>
          <a:p xmlns:a="http://schemas.openxmlformats.org/drawingml/2006/main">
            <a:pPr algn="l">
              <a:lnSpc>
                <a:spcPts val="3340"/>
              </a:lnSpc>
              <a:spcBef>
                <a:spcPct val="0"/>
              </a:spcBef>
              <a:buNone/>
            </a:pPr>
            <a:r>
              <a:rPr sz="2385">
                <a:solidFill>
                  <a:srgbClr val="C6C6C6"/>
                </a:solidFill>
                <a:latin typeface="Montserrat Light"/>
                <a:ea typeface="Montserrat Light"/>
                <a:cs typeface="Montserrat Light"/>
              </a:rPr>
              <a:t>- Khôi phục phiên bản trước nếu self-test thất bại.</a:t>
            </a:r>
          </a:p>
          <a:p xmlns:a="http://schemas.openxmlformats.org/drawingml/2006/main">
            <a:pPr algn="l">
              <a:lnSpc>
                <a:spcPts val="3340"/>
              </a:lnSpc>
              <a:spcBef>
                <a:spcPct val="0"/>
              </a:spcBef>
              <a:buNone/>
            </a:pPr>
          </a:p>
        </p:txBody>
      </p:sp>
    </p:spTree>
    <p:extLst>
      <p:ext uri="{BB962C8B-B14F-4D97-AF65-F5344CB8AC3E}">
        <p14:creationId xmlns:p14="http://schemas.microsoft.com/office/powerpoint/2010/main" val="23139431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C295847F-0F6A-4244-8E05-A18AD511D578}"/>
              </a:ext>
            </a:extLst>
          </p:cNvPr>
          <p:cNvSpPr>
            <a:spLocks xmlns:a="http://schemas.openxmlformats.org/drawingml/2006/main" noGrp="1"/>
          </p:cNvSpPr>
          <p:nvPr/>
        </p:nvSpPr>
        <p:spPr>
          <a:xfrm xmlns:a="http://schemas.openxmlformats.org/drawingml/2006/main" flipV="1">
            <a:off x="0" y="0"/>
            <a:ext cx="18288000" cy="10287000"/>
          </a:xfrm>
          <a:custGeom xmlns:a="http://schemas.openxmlformats.org/drawingml/2006/main">
            <a:rect l="l" t="t" r="r" b="b"/>
            <a:pathLst>
              <a:path w="18288000" h="10287000">
                <a:moveTo>
                  <a:pt x="0" y="10287000"/>
                </a:moveTo>
                <a:lnTo>
                  <a:pt x="18288000" y="10287000"/>
                </a:lnTo>
                <a:lnTo>
                  <a:pt x="18288000" y="0"/>
                </a:lnTo>
                <a:lnTo>
                  <a:pt x="0" y="0"/>
                </a:lnTo>
                <a:lnTo>
                  <a:pt x="0" y="10287000"/>
                </a:lnTo>
                <a:close/>
              </a:path>
            </a:pathLst>
          </a:custGeom>
          <a:blipFill xmlns:a="http://schemas.openxmlformats.org/drawingml/2006/main">
            <a:blip xmlns:r="http://schemas.openxmlformats.org/officeDocument/2006/relationships" r:embed="Rb9f440144b1e4177"/>
            <a:stretch>
              <a:fillRect l="0" t="-124631" r="-124631" b="0"/>
            </a:stretch>
          </a:blipFill>
        </p:spPr>
      </p:sp>
      <p:sp>
        <p:nvSpPr>
          <p:cNvPr id="4" name="Freeform 4">
            <a:extLst xmlns:a="http://schemas.openxmlformats.org/drawingml/2006/main">
              <a:ext uri="{FF2B5EF4-FFF2-40B4-BE49-F238E27FC236}">
                <a16:creationId xmlns:a16="http://schemas.microsoft.com/office/drawing/2014/main" id="{D3394BB9-B1CD-42CB-A933-9A973963F002}"/>
              </a:ext>
            </a:extLst>
          </p:cNvPr>
          <p:cNvSpPr>
            <a:spLocks xmlns:a="http://schemas.openxmlformats.org/drawingml/2006/main" noGrp="1"/>
          </p:cNvSpPr>
          <p:nvPr/>
        </p:nvSpPr>
        <p:spPr>
          <a:xfrm xmlns:a="http://schemas.openxmlformats.org/drawingml/2006/main" rot="0" flipH="0" flipV="0">
            <a:off x="1332687" y="4079912"/>
            <a:ext cx="599159" cy="599159"/>
          </a:xfrm>
          <a:custGeom xmlns:a="http://schemas.openxmlformats.org/drawingml/2006/main">
            <a:rect l="l" t="t" r="r" b="b"/>
            <a:pathLst>
              <a:path w="651573" h="651573">
                <a:moveTo>
                  <a:pt x="142134" y="0"/>
                </a:moveTo>
                <a:lnTo>
                  <a:pt x="509438" y="0"/>
                </a:lnTo>
                <a:cubicBezTo>
                  <a:pt x="547135" y="0"/>
                  <a:pt x="583287" y="14975"/>
                  <a:pt x="609942" y="41630"/>
                </a:cubicBezTo>
                <a:cubicBezTo>
                  <a:pt x="636598" y="68286"/>
                  <a:pt x="651573" y="104438"/>
                  <a:pt x="651573" y="142134"/>
                </a:cubicBezTo>
                <a:lnTo>
                  <a:pt x="651573" y="509438"/>
                </a:lnTo>
                <a:cubicBezTo>
                  <a:pt x="651573" y="587937"/>
                  <a:pt x="587937" y="651573"/>
                  <a:pt x="509438" y="651573"/>
                </a:cubicBezTo>
                <a:lnTo>
                  <a:pt x="142134" y="651573"/>
                </a:lnTo>
                <a:cubicBezTo>
                  <a:pt x="63636" y="651573"/>
                  <a:pt x="0" y="587937"/>
                  <a:pt x="0" y="509438"/>
                </a:cubicBezTo>
                <a:lnTo>
                  <a:pt x="0" y="142134"/>
                </a:lnTo>
                <a:cubicBezTo>
                  <a:pt x="0" y="63636"/>
                  <a:pt x="63636" y="0"/>
                  <a:pt x="142134"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5" name="TextBox 5">
            <a:extLst xmlns:a="http://schemas.openxmlformats.org/drawingml/2006/main">
              <a:ext uri="{FF2B5EF4-FFF2-40B4-BE49-F238E27FC236}">
                <a16:creationId xmlns:a16="http://schemas.microsoft.com/office/drawing/2014/main" id="{B7E42316-07DA-4E87-BDB9-307354A5BB79}"/>
              </a:ext>
            </a:extLst>
          </p:cNvPr>
          <p:cNvSpPr>
            <a:spLocks xmlns:a="http://schemas.openxmlformats.org/drawingml/2006/main" noGrp="1"/>
          </p:cNvSpPr>
          <p:nvPr/>
        </p:nvSpPr>
        <p:spPr>
          <a:xfrm xmlns:a="http://schemas.openxmlformats.org/drawingml/2006/main" rot="0" flipH="0" flipV="0">
            <a:off x="1332687" y="4044877"/>
            <a:ext cx="599159" cy="63419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075"/>
              </a:lnSpc>
              <a:buNone/>
            </a:pPr>
            <a:r>
              <a:rPr sz="2200" b="1">
                <a:solidFill>
                  <a:srgbClr val="FFFFFF"/>
                </a:solidFill>
                <a:latin typeface="Montserrat Bold"/>
                <a:ea typeface="Montserrat Bold"/>
                <a:cs typeface="Montserrat Bold"/>
              </a:rPr>
              <a:t>1</a:t>
            </a:r>
          </a:p>
        </p:txBody>
      </p:sp>
      <p:sp>
        <p:nvSpPr>
          <p:cNvPr id="6" name="TextBox 6">
            <a:extLst xmlns:a="http://schemas.openxmlformats.org/drawingml/2006/main">
              <a:ext uri="{FF2B5EF4-FFF2-40B4-BE49-F238E27FC236}">
                <a16:creationId xmlns:a16="http://schemas.microsoft.com/office/drawing/2014/main" id="{75B063A4-6693-45D0-93A1-9FAC5F981C1C}"/>
              </a:ext>
            </a:extLst>
          </p:cNvPr>
          <p:cNvSpPr>
            <a:spLocks xmlns:a="http://schemas.openxmlformats.org/drawingml/2006/main" noGrp="1"/>
          </p:cNvSpPr>
          <p:nvPr/>
        </p:nvSpPr>
        <p:spPr>
          <a:xfrm xmlns:a="http://schemas.openxmlformats.org/drawingml/2006/main">
            <a:off x="1332687" y="1479493"/>
            <a:ext cx="13580494" cy="115255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9470"/>
              </a:lnSpc>
              <a:spcBef>
                <a:spcPct val="0"/>
              </a:spcBef>
              <a:buNone/>
            </a:pPr>
            <a:r>
              <a:rPr sz="6765" b="1">
                <a:solidFill>
                  <a:srgbClr val="FFFFFF"/>
                </a:solidFill>
                <a:latin typeface="TT Lakes Neue Extended Bold"/>
                <a:ea typeface="TT Lakes Neue Extended Bold"/>
                <a:cs typeface="TT Lakes Neue Extended Bold"/>
              </a:rPr>
              <a:t>CƠ SỞ LÝ THUYẾT </a:t>
            </a:r>
          </a:p>
        </p:txBody>
      </p:sp>
      <p:sp>
        <p:nvSpPr>
          <p:cNvPr id="7" name="TextBox 7">
            <a:extLst xmlns:a="http://schemas.openxmlformats.org/drawingml/2006/main">
              <a:ext uri="{FF2B5EF4-FFF2-40B4-BE49-F238E27FC236}">
                <a16:creationId xmlns:a16="http://schemas.microsoft.com/office/drawing/2014/main" id="{E5D9A27E-149A-4495-AF77-A9F5FB473685}"/>
              </a:ext>
            </a:extLst>
          </p:cNvPr>
          <p:cNvSpPr>
            <a:spLocks xmlns:a="http://schemas.openxmlformats.org/drawingml/2006/main" noGrp="1"/>
          </p:cNvSpPr>
          <p:nvPr/>
        </p:nvSpPr>
        <p:spPr>
          <a:xfrm xmlns:a="http://schemas.openxmlformats.org/drawingml/2006/main">
            <a:off x="1332687" y="2508261"/>
            <a:ext cx="13161508" cy="115255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9470"/>
              </a:lnSpc>
              <a:spcBef>
                <a:spcPct val="0"/>
              </a:spcBef>
              <a:buNone/>
            </a:pPr>
            <a:r>
              <a:rPr sz="6765" b="1">
                <a:solidFill>
                  <a:srgbClr val="FFFFFF"/>
                </a:solidFill>
                <a:latin typeface="TT Lakes Neue Extended Bold"/>
                <a:ea typeface="TT Lakes Neue Extended Bold"/>
                <a:cs typeface="TT Lakes Neue Extended Bold"/>
              </a:rPr>
              <a:t>VÀ NGUỒN THAM KHẢO</a:t>
            </a:r>
          </a:p>
        </p:txBody>
      </p:sp>
      <p:sp>
        <p:nvSpPr>
          <p:cNvPr id="8" name="TextBox 8">
            <a:extLst xmlns:a="http://schemas.openxmlformats.org/drawingml/2006/main">
              <a:ext uri="{FF2B5EF4-FFF2-40B4-BE49-F238E27FC236}">
                <a16:creationId xmlns:a16="http://schemas.microsoft.com/office/drawing/2014/main" id="{82AC0CDF-BF83-4968-9BA1-23DDBB28C915}"/>
              </a:ext>
            </a:extLst>
          </p:cNvPr>
          <p:cNvSpPr>
            <a:spLocks xmlns:a="http://schemas.openxmlformats.org/drawingml/2006/main" noGrp="1"/>
          </p:cNvSpPr>
          <p:nvPr/>
        </p:nvSpPr>
        <p:spPr>
          <a:xfrm xmlns:a="http://schemas.openxmlformats.org/drawingml/2006/main">
            <a:off x="2487668" y="4631446"/>
            <a:ext cx="13630331" cy="2691452"/>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45"/>
              </a:lnSpc>
              <a:buNone/>
            </a:pPr>
            <a:r>
              <a:rPr sz="2250">
                <a:solidFill>
                  <a:srgbClr val="C6C6C6"/>
                </a:solidFill>
                <a:latin typeface="Montserrat Light"/>
                <a:ea typeface="Montserrat Light"/>
                <a:cs typeface="Montserrat Light"/>
              </a:rPr>
              <a:t>-</a:t>
            </a:r>
            <a:r>
              <a:rPr sz="2250">
                <a:solidFill>
                  <a:srgbClr val="C6C6C6"/>
                </a:solidFill>
                <a:latin typeface="Montserrat Light"/>
                <a:ea typeface="Montserrat Light"/>
                <a:cs typeface="Montserrat Light"/>
              </a:rPr>
              <a:t> SHA-256: kiểm tra tính toàn vẹn firmware.</a:t>
            </a:r>
          </a:p>
          <a:p xmlns:a="http://schemas.openxmlformats.org/drawingml/2006/main">
            <a:pPr algn="l">
              <a:lnSpc>
                <a:spcPts val="3145"/>
              </a:lnSpc>
              <a:buNone/>
            </a:pPr>
            <a:r>
              <a:rPr sz="2250">
                <a:solidFill>
                  <a:srgbClr val="C6C6C6"/>
                </a:solidFill>
                <a:latin typeface="Montserrat Light"/>
                <a:ea typeface="Montserrat Light"/>
                <a:cs typeface="Montserrat Light"/>
              </a:rPr>
              <a:t>- RSA-PSS: xác thực nguồn phát hành manifest.</a:t>
            </a:r>
          </a:p>
          <a:p xmlns:a="http://schemas.openxmlformats.org/drawingml/2006/main">
            <a:pPr algn="l">
              <a:lnSpc>
                <a:spcPts val="3145"/>
              </a:lnSpc>
              <a:buNone/>
            </a:pPr>
            <a:r>
              <a:rPr sz="2250">
                <a:solidFill>
                  <a:srgbClr val="C6C6C6"/>
                </a:solidFill>
                <a:latin typeface="Montserrat Light"/>
                <a:ea typeface="Montserrat Light"/>
                <a:cs typeface="Montserrat Light"/>
              </a:rPr>
              <a:t>- AES-256-GCM: mã hóa và phát hiện payload bị sửa.</a:t>
            </a:r>
          </a:p>
          <a:p xmlns:a="http://schemas.openxmlformats.org/drawingml/2006/main">
            <a:pPr algn="l">
              <a:lnSpc>
                <a:spcPts val="3145"/>
              </a:lnSpc>
              <a:buNone/>
            </a:pPr>
            <a:r>
              <a:rPr sz="2250">
                <a:solidFill>
                  <a:srgbClr val="C6C6C6"/>
                </a:solidFill>
                <a:latin typeface="Montserrat Light"/>
                <a:ea typeface="Montserrat Light"/>
                <a:cs typeface="Montserrat Light"/>
              </a:rPr>
              <a:t>- RSA-OAEP: bảo vệ khóa AES khi phân phối.</a:t>
            </a:r>
          </a:p>
          <a:p xmlns:a="http://schemas.openxmlformats.org/drawingml/2006/main">
            <a:pPr algn="l">
              <a:lnSpc>
                <a:spcPts val="3145"/>
              </a:lnSpc>
              <a:buNone/>
            </a:pPr>
            <a:r>
              <a:rPr sz="2250">
                <a:solidFill>
                  <a:srgbClr val="C6C6C6"/>
                </a:solidFill>
                <a:latin typeface="Montserrat Light"/>
                <a:ea typeface="Montserrat Light"/>
                <a:cs typeface="Montserrat Light"/>
              </a:rPr>
              <a:t>- Sequence: ngăn cài đặt lại phiên bản cũ.</a:t>
            </a:r>
          </a:p>
          <a:p xmlns:a="http://schemas.openxmlformats.org/drawingml/2006/main">
            <a:pPr algn="l">
              <a:lnSpc>
                <a:spcPts val="3145"/>
              </a:lnSpc>
              <a:spcBef>
                <a:spcPct val="0"/>
              </a:spcBef>
              <a:buNone/>
            </a:pPr>
            <a:r>
              <a:rPr sz="2250">
                <a:solidFill>
                  <a:srgbClr val="C6C6C6"/>
                </a:solidFill>
                <a:latin typeface="Montserrat Light"/>
                <a:ea typeface="Montserrat Light"/>
                <a:cs typeface="Montserrat Light"/>
              </a:rPr>
              <a:t>- Staging và self-test: kiểm tra trước khi kích hoạt.</a:t>
            </a:r>
          </a:p>
          <a:p xmlns:a="http://schemas.openxmlformats.org/drawingml/2006/main">
            <a:pPr algn="l">
              <a:lnSpc>
                <a:spcPts val="3145"/>
              </a:lnSpc>
              <a:spcBef>
                <a:spcPct val="0"/>
              </a:spcBef>
              <a:buNone/>
            </a:pPr>
          </a:p>
        </p:txBody>
      </p:sp>
      <p:sp>
        <p:nvSpPr>
          <p:cNvPr id="9" name="TextBox 9">
            <a:extLst xmlns:a="http://schemas.openxmlformats.org/drawingml/2006/main">
              <a:ext uri="{FF2B5EF4-FFF2-40B4-BE49-F238E27FC236}">
                <a16:creationId xmlns:a16="http://schemas.microsoft.com/office/drawing/2014/main" id="{7AB88123-00CD-4276-9714-86DE5D36252D}"/>
              </a:ext>
            </a:extLst>
          </p:cNvPr>
          <p:cNvSpPr>
            <a:spLocks xmlns:a="http://schemas.openxmlformats.org/drawingml/2006/main" noGrp="1"/>
          </p:cNvSpPr>
          <p:nvPr/>
        </p:nvSpPr>
        <p:spPr>
          <a:xfrm xmlns:a="http://schemas.openxmlformats.org/drawingml/2006/main">
            <a:off x="2489815" y="4041812"/>
            <a:ext cx="5256547"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Các cơ </a:t>
            </a:r>
            <a:r>
              <a:rPr sz="2200" b="1">
                <a:solidFill>
                  <a:srgbClr val="FFFFFF"/>
                </a:solidFill>
                <a:latin typeface="Montserrat Bold"/>
                <a:ea typeface="Montserrat Bold"/>
                <a:cs typeface="Montserrat Bold"/>
              </a:rPr>
              <a:t>chế bảo vệ</a:t>
            </a:r>
          </a:p>
        </p:txBody>
      </p:sp>
      <p:sp>
        <p:nvSpPr>
          <p:cNvPr id="10" name="Freeform 10">
            <a:extLst xmlns:a="http://schemas.openxmlformats.org/drawingml/2006/main">
              <a:ext uri="{FF2B5EF4-FFF2-40B4-BE49-F238E27FC236}">
                <a16:creationId xmlns:a16="http://schemas.microsoft.com/office/drawing/2014/main" id="{1AA4659A-57EA-427B-8288-6BDF246BCEBC}"/>
              </a:ext>
            </a:extLst>
          </p:cNvPr>
          <p:cNvSpPr>
            <a:spLocks xmlns:a="http://schemas.openxmlformats.org/drawingml/2006/main" noGrp="1"/>
          </p:cNvSpPr>
          <p:nvPr/>
        </p:nvSpPr>
        <p:spPr>
          <a:xfrm xmlns:a="http://schemas.openxmlformats.org/drawingml/2006/main">
            <a:off x="11768318" y="-4958517"/>
            <a:ext cx="9438577" cy="6748583"/>
          </a:xfrm>
          <a:custGeom xmlns:a="http://schemas.openxmlformats.org/drawingml/2006/main">
            <a:rect l="l" t="t" r="r" b="b"/>
            <a:pathLst>
              <a:path w="9438577" h="6748583">
                <a:moveTo>
                  <a:pt x="0" y="0"/>
                </a:moveTo>
                <a:lnTo>
                  <a:pt x="9438578" y="0"/>
                </a:lnTo>
                <a:lnTo>
                  <a:pt x="9438578" y="6748583"/>
                </a:lnTo>
                <a:lnTo>
                  <a:pt x="0" y="6748583"/>
                </a:lnTo>
                <a:lnTo>
                  <a:pt x="0" y="0"/>
                </a:lnTo>
                <a:close/>
              </a:path>
            </a:pathLst>
          </a:custGeom>
          <a:blipFill xmlns:a="http://schemas.openxmlformats.org/drawingml/2006/main">
            <a:blip xmlns:r="http://schemas.openxmlformats.org/officeDocument/2006/relationships" r:embed="Rb9f440144b1e4177">
              <a:extLst>
                <a:ext uri="{96DAC541-7B7A-43D3-8B79-37D633B846F1}">
                  <asvg:svgBlip xmlns:asvg="http://schemas.microsoft.com/office/drawing/2016/SVG/main" r:embed="Rb8fe9a09b0594b8f"/>
                </a:ext>
              </a:extLst>
            </a:blip>
            <a:stretch>
              <a:fillRect l="0" t="0" r="0" b="0"/>
            </a:stretch>
          </a:blipFill>
        </p:spPr>
      </p:sp>
      <p:sp>
        <p:nvSpPr>
          <p:cNvPr id="12" name="Freeform 12">
            <a:extLst xmlns:a="http://schemas.openxmlformats.org/drawingml/2006/main">
              <a:ext uri="{FF2B5EF4-FFF2-40B4-BE49-F238E27FC236}">
                <a16:creationId xmlns:a16="http://schemas.microsoft.com/office/drawing/2014/main" id="{7A95EEAF-999F-43AC-8CCC-3FD4A2E15074}"/>
              </a:ext>
            </a:extLst>
          </p:cNvPr>
          <p:cNvSpPr>
            <a:spLocks xmlns:a="http://schemas.openxmlformats.org/drawingml/2006/main" noGrp="1"/>
          </p:cNvSpPr>
          <p:nvPr/>
        </p:nvSpPr>
        <p:spPr>
          <a:xfrm xmlns:a="http://schemas.openxmlformats.org/drawingml/2006/main" rot="0" flipH="0" flipV="0">
            <a:off x="16885087" y="-1481594"/>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3" name="TextBox 13">
            <a:extLst xmlns:a="http://schemas.openxmlformats.org/drawingml/2006/main">
              <a:ext uri="{FF2B5EF4-FFF2-40B4-BE49-F238E27FC236}">
                <a16:creationId xmlns:a16="http://schemas.microsoft.com/office/drawing/2014/main" id="{84A9E188-90D6-4518-BA81-06FDA56E4C23}"/>
              </a:ext>
            </a:extLst>
          </p:cNvPr>
          <p:cNvSpPr>
            <a:spLocks xmlns:a="http://schemas.openxmlformats.org/drawingml/2006/main" noGrp="1"/>
          </p:cNvSpPr>
          <p:nvPr/>
        </p:nvSpPr>
        <p:spPr>
          <a:xfrm xmlns:a="http://schemas.openxmlformats.org/drawingml/2006/main" rot="0" flipH="0" flipV="0">
            <a:off x="17469462" y="-1676385"/>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4" name="TextBox 14">
            <a:extLst xmlns:a="http://schemas.openxmlformats.org/drawingml/2006/main">
              <a:ext uri="{FF2B5EF4-FFF2-40B4-BE49-F238E27FC236}">
                <a16:creationId xmlns:a16="http://schemas.microsoft.com/office/drawing/2014/main" id="{5ACE8F5B-A984-43A4-93B7-B9AD6DCCB36B}"/>
              </a:ext>
            </a:extLst>
          </p:cNvPr>
          <p:cNvSpPr>
            <a:spLocks xmlns:a="http://schemas.openxmlformats.org/drawingml/2006/main" noGrp="1"/>
          </p:cNvSpPr>
          <p:nvPr/>
        </p:nvSpPr>
        <p:spPr>
          <a:xfrm xmlns:a="http://schemas.openxmlformats.org/drawingml/2006/main">
            <a:off x="2489815" y="7709345"/>
            <a:ext cx="9586433" cy="191975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45"/>
              </a:lnSpc>
              <a:buNone/>
            </a:pPr>
            <a:r>
              <a:rPr sz="2250">
                <a:solidFill>
                  <a:srgbClr val="C6C6C6"/>
                </a:solidFill>
                <a:latin typeface="Montserrat Light"/>
                <a:ea typeface="Montserrat Light"/>
                <a:cs typeface="Montserrat Light"/>
              </a:rPr>
              <a:t>-</a:t>
            </a:r>
            <a:r>
              <a:rPr sz="2250">
                <a:solidFill>
                  <a:srgbClr val="C6C6C6"/>
                </a:solidFill>
                <a:latin typeface="Montserrat Light"/>
                <a:ea typeface="Montserrat Light"/>
                <a:cs typeface="Montserrat Light"/>
              </a:rPr>
              <a:t> ESP-IDF: OTA, Secure Boot và rollback.</a:t>
            </a:r>
          </a:p>
          <a:p xmlns:a="http://schemas.openxmlformats.org/drawingml/2006/main">
            <a:pPr algn="l">
              <a:lnSpc>
                <a:spcPts val="3145"/>
              </a:lnSpc>
              <a:buNone/>
            </a:pPr>
            <a:r>
              <a:rPr sz="2250">
                <a:solidFill>
                  <a:srgbClr val="C6C6C6"/>
                </a:solidFill>
                <a:latin typeface="Montserrat Light"/>
                <a:ea typeface="Montserrat Light"/>
                <a:cs typeface="Montserrat Light"/>
              </a:rPr>
              <a:t>- OWASP ISVS: yêu cầu bảo mật cập nhật.</a:t>
            </a:r>
          </a:p>
          <a:p xmlns:a="http://schemas.openxmlformats.org/drawingml/2006/main">
            <a:pPr algn="l">
              <a:lnSpc>
                <a:spcPts val="3145"/>
              </a:lnSpc>
              <a:buNone/>
            </a:pPr>
            <a:r>
              <a:rPr sz="2250">
                <a:solidFill>
                  <a:srgbClr val="C6C6C6"/>
                </a:solidFill>
                <a:latin typeface="Montserrat Light"/>
                <a:ea typeface="Montserrat Light"/>
                <a:cs typeface="Montserrat Light"/>
              </a:rPr>
              <a:t>- OWASP FSTM: phương pháp kiểm thử firmware.</a:t>
            </a:r>
          </a:p>
          <a:p xmlns:a="http://schemas.openxmlformats.org/drawingml/2006/main">
            <a:pPr algn="l">
              <a:lnSpc>
                <a:spcPts val="3145"/>
              </a:lnSpc>
              <a:spcBef>
                <a:spcPct val="0"/>
              </a:spcBef>
              <a:buNone/>
            </a:pPr>
            <a:r>
              <a:rPr sz="2250">
                <a:solidFill>
                  <a:srgbClr val="C6C6C6"/>
                </a:solidFill>
                <a:latin typeface="Montserrat Light"/>
                <a:ea typeface="Montserrat Light"/>
                <a:cs typeface="Montserrat Light"/>
              </a:rPr>
              <a:t>- OWASP IoTGoat: các lỗi firmware thường gặp.</a:t>
            </a:r>
          </a:p>
          <a:p xmlns:a="http://schemas.openxmlformats.org/drawingml/2006/main">
            <a:pPr algn="l">
              <a:lnSpc>
                <a:spcPts val="3145"/>
              </a:lnSpc>
              <a:spcBef>
                <a:spcPct val="0"/>
              </a:spcBef>
              <a:buNone/>
            </a:pPr>
          </a:p>
        </p:txBody>
      </p:sp>
      <p:sp>
        <p:nvSpPr>
          <p:cNvPr id="15" name="TextBox 15">
            <a:extLst xmlns:a="http://schemas.openxmlformats.org/drawingml/2006/main">
              <a:ext uri="{FF2B5EF4-FFF2-40B4-BE49-F238E27FC236}">
                <a16:creationId xmlns:a16="http://schemas.microsoft.com/office/drawing/2014/main" id="{C9123D02-CCB9-4BF6-BFC6-251D324F31E3}"/>
              </a:ext>
            </a:extLst>
          </p:cNvPr>
          <p:cNvSpPr>
            <a:spLocks xmlns:a="http://schemas.openxmlformats.org/drawingml/2006/main" noGrp="1"/>
          </p:cNvSpPr>
          <p:nvPr/>
        </p:nvSpPr>
        <p:spPr>
          <a:xfrm xmlns:a="http://schemas.openxmlformats.org/drawingml/2006/main">
            <a:off x="2489815" y="7117426"/>
            <a:ext cx="6816493"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Nguồn GitHub </a:t>
            </a:r>
            <a:r>
              <a:rPr sz="2200" b="1">
                <a:solidFill>
                  <a:srgbClr val="FFFFFF"/>
                </a:solidFill>
                <a:latin typeface="Montserrat Bold"/>
                <a:ea typeface="Montserrat Bold"/>
                <a:cs typeface="Montserrat Bold"/>
              </a:rPr>
              <a:t>chính</a:t>
            </a:r>
          </a:p>
        </p:txBody>
      </p:sp>
      <p:sp>
        <p:nvSpPr>
          <p:cNvPr id="17" name="Freeform 17">
            <a:extLst xmlns:a="http://schemas.openxmlformats.org/drawingml/2006/main">
              <a:ext uri="{FF2B5EF4-FFF2-40B4-BE49-F238E27FC236}">
                <a16:creationId xmlns:a16="http://schemas.microsoft.com/office/drawing/2014/main" id="{E85307CB-70CC-4CF7-91C2-317CF2C15552}"/>
              </a:ext>
            </a:extLst>
          </p:cNvPr>
          <p:cNvSpPr>
            <a:spLocks xmlns:a="http://schemas.openxmlformats.org/drawingml/2006/main" noGrp="1"/>
          </p:cNvSpPr>
          <p:nvPr/>
        </p:nvSpPr>
        <p:spPr>
          <a:xfrm xmlns:a="http://schemas.openxmlformats.org/drawingml/2006/main" rot="0" flipH="0" flipV="0">
            <a:off x="1463316" y="7023319"/>
            <a:ext cx="599159" cy="599159"/>
          </a:xfrm>
          <a:custGeom xmlns:a="http://schemas.openxmlformats.org/drawingml/2006/main">
            <a:rect l="l" t="t" r="r" b="b"/>
            <a:pathLst>
              <a:path w="651573" h="651573">
                <a:moveTo>
                  <a:pt x="142134" y="0"/>
                </a:moveTo>
                <a:lnTo>
                  <a:pt x="509438" y="0"/>
                </a:lnTo>
                <a:cubicBezTo>
                  <a:pt x="547135" y="0"/>
                  <a:pt x="583287" y="14975"/>
                  <a:pt x="609942" y="41630"/>
                </a:cubicBezTo>
                <a:cubicBezTo>
                  <a:pt x="636598" y="68286"/>
                  <a:pt x="651573" y="104438"/>
                  <a:pt x="651573" y="142134"/>
                </a:cubicBezTo>
                <a:lnTo>
                  <a:pt x="651573" y="509438"/>
                </a:lnTo>
                <a:cubicBezTo>
                  <a:pt x="651573" y="587937"/>
                  <a:pt x="587937" y="651573"/>
                  <a:pt x="509438" y="651573"/>
                </a:cubicBezTo>
                <a:lnTo>
                  <a:pt x="142134" y="651573"/>
                </a:lnTo>
                <a:cubicBezTo>
                  <a:pt x="63636" y="651573"/>
                  <a:pt x="0" y="587937"/>
                  <a:pt x="0" y="509438"/>
                </a:cubicBezTo>
                <a:lnTo>
                  <a:pt x="0" y="142134"/>
                </a:lnTo>
                <a:cubicBezTo>
                  <a:pt x="0" y="63636"/>
                  <a:pt x="63636" y="0"/>
                  <a:pt x="142134"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18" name="TextBox 18">
            <a:extLst xmlns:a="http://schemas.openxmlformats.org/drawingml/2006/main">
              <a:ext uri="{FF2B5EF4-FFF2-40B4-BE49-F238E27FC236}">
                <a16:creationId xmlns:a16="http://schemas.microsoft.com/office/drawing/2014/main" id="{FF6AF60A-0686-4C62-BBC7-929870F4C3E7}"/>
              </a:ext>
            </a:extLst>
          </p:cNvPr>
          <p:cNvSpPr>
            <a:spLocks xmlns:a="http://schemas.openxmlformats.org/drawingml/2006/main" noGrp="1"/>
          </p:cNvSpPr>
          <p:nvPr/>
        </p:nvSpPr>
        <p:spPr>
          <a:xfrm xmlns:a="http://schemas.openxmlformats.org/drawingml/2006/main" rot="0" flipH="0" flipV="0">
            <a:off x="1463316" y="6988284"/>
            <a:ext cx="599159" cy="63419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075"/>
              </a:lnSpc>
              <a:buNone/>
            </a:pPr>
            <a:r>
              <a:rPr sz="2200" b="1">
                <a:solidFill>
                  <a:srgbClr val="FFFFFF"/>
                </a:solidFill>
                <a:latin typeface="Montserrat Bold"/>
                <a:ea typeface="Montserrat Bold"/>
                <a:cs typeface="Montserrat Bold"/>
              </a:rPr>
              <a:t>2</a:t>
            </a:r>
          </a:p>
        </p:txBody>
      </p:sp>
    </p:spTree>
    <p:extLst>
      <p:ext uri="{BB962C8B-B14F-4D97-AF65-F5344CB8AC3E}">
        <p14:creationId xmlns:p14="http://schemas.microsoft.com/office/powerpoint/2010/main" val="32823582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E30CF19D-490E-48FE-8307-BF9DD16B91F9}"/>
              </a:ext>
            </a:extLst>
          </p:cNvPr>
          <p:cNvSpPr>
            <a:spLocks xmlns:a="http://schemas.openxmlformats.org/drawingml/2006/main" noGrp="1"/>
          </p:cNvSpPr>
          <p:nvPr/>
        </p:nvSpPr>
        <p:spPr>
          <a:xfrm xmlns:a="http://schemas.openxmlformats.org/drawingml/2006/main" flipV="1">
            <a:off x="0" y="0"/>
            <a:ext cx="18288000" cy="10287000"/>
          </a:xfrm>
          <a:custGeom xmlns:a="http://schemas.openxmlformats.org/drawingml/2006/main">
            <a:rect l="l" t="t" r="r" b="b"/>
            <a:pathLst>
              <a:path w="18288000" h="10287000">
                <a:moveTo>
                  <a:pt x="0" y="10287000"/>
                </a:moveTo>
                <a:lnTo>
                  <a:pt x="18288000" y="10287000"/>
                </a:lnTo>
                <a:lnTo>
                  <a:pt x="18288000" y="0"/>
                </a:lnTo>
                <a:lnTo>
                  <a:pt x="0" y="0"/>
                </a:lnTo>
                <a:lnTo>
                  <a:pt x="0" y="10287000"/>
                </a:lnTo>
                <a:close/>
              </a:path>
            </a:pathLst>
          </a:custGeom>
          <a:blipFill xmlns:a="http://schemas.openxmlformats.org/drawingml/2006/main">
            <a:blip xmlns:r="http://schemas.openxmlformats.org/officeDocument/2006/relationships" r:embed="Ra99e6eae781345f6"/>
            <a:stretch>
              <a:fillRect l="0" t="-124631" r="-124631" b="0"/>
            </a:stretch>
          </a:blipFill>
        </p:spPr>
      </p:sp>
      <p:sp>
        <p:nvSpPr>
          <p:cNvPr id="4" name="Freeform 4">
            <a:extLst xmlns:a="http://schemas.openxmlformats.org/drawingml/2006/main">
              <a:ext uri="{FF2B5EF4-FFF2-40B4-BE49-F238E27FC236}">
                <a16:creationId xmlns:a16="http://schemas.microsoft.com/office/drawing/2014/main" id="{5342CE08-8E39-41CD-B416-117A3F9E42EA}"/>
              </a:ext>
            </a:extLst>
          </p:cNvPr>
          <p:cNvSpPr>
            <a:spLocks xmlns:a="http://schemas.openxmlformats.org/drawingml/2006/main" noGrp="1"/>
          </p:cNvSpPr>
          <p:nvPr/>
        </p:nvSpPr>
        <p:spPr>
          <a:xfrm xmlns:a="http://schemas.openxmlformats.org/drawingml/2006/main" rot="0" flipH="0" flipV="0">
            <a:off x="1552178" y="3577732"/>
            <a:ext cx="4402254" cy="4194921"/>
          </a:xfrm>
          <a:custGeom xmlns:a="http://schemas.openxmlformats.org/drawingml/2006/main">
            <a:rect l="l" t="t" r="r" b="b"/>
            <a:pathLst>
              <a:path w="493889" h="470628">
                <a:moveTo>
                  <a:pt x="43966" y="0"/>
                </a:moveTo>
                <a:lnTo>
                  <a:pt x="449923" y="0"/>
                </a:lnTo>
                <a:cubicBezTo>
                  <a:pt x="461583" y="0"/>
                  <a:pt x="472766" y="4632"/>
                  <a:pt x="481011" y="12877"/>
                </a:cubicBezTo>
                <a:cubicBezTo>
                  <a:pt x="489256" y="21122"/>
                  <a:pt x="493889" y="32305"/>
                  <a:pt x="493889" y="43966"/>
                </a:cubicBezTo>
                <a:lnTo>
                  <a:pt x="493889" y="426662"/>
                </a:lnTo>
                <a:cubicBezTo>
                  <a:pt x="493889" y="450944"/>
                  <a:pt x="474204" y="470628"/>
                  <a:pt x="449923" y="470628"/>
                </a:cubicBezTo>
                <a:lnTo>
                  <a:pt x="43966" y="470628"/>
                </a:lnTo>
                <a:cubicBezTo>
                  <a:pt x="19684" y="470628"/>
                  <a:pt x="0" y="450944"/>
                  <a:pt x="0" y="426662"/>
                </a:cubicBezTo>
                <a:lnTo>
                  <a:pt x="0" y="43966"/>
                </a:lnTo>
                <a:cubicBezTo>
                  <a:pt x="0" y="19684"/>
                  <a:pt x="19684" y="0"/>
                  <a:pt x="43966"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5" name="TextBox 5">
            <a:extLst xmlns:a="http://schemas.openxmlformats.org/drawingml/2006/main">
              <a:ext uri="{FF2B5EF4-FFF2-40B4-BE49-F238E27FC236}">
                <a16:creationId xmlns:a16="http://schemas.microsoft.com/office/drawing/2014/main" id="{C5963E15-4C46-4D5B-98E7-AD59443DE179}"/>
              </a:ext>
            </a:extLst>
          </p:cNvPr>
          <p:cNvSpPr>
            <a:spLocks xmlns:a="http://schemas.openxmlformats.org/drawingml/2006/main" noGrp="1"/>
          </p:cNvSpPr>
          <p:nvPr/>
        </p:nvSpPr>
        <p:spPr>
          <a:xfrm xmlns:a="http://schemas.openxmlformats.org/drawingml/2006/main" rot="0" flipH="0" flipV="0">
            <a:off x="1552178" y="3238130"/>
            <a:ext cx="4402254" cy="4534523"/>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7" name="Freeform 7">
            <a:extLst xmlns:a="http://schemas.openxmlformats.org/drawingml/2006/main">
              <a:ext uri="{FF2B5EF4-FFF2-40B4-BE49-F238E27FC236}">
                <a16:creationId xmlns:a16="http://schemas.microsoft.com/office/drawing/2014/main" id="{5F0F2C05-62C3-4813-9484-6512BAE1A457}"/>
              </a:ext>
            </a:extLst>
          </p:cNvPr>
          <p:cNvSpPr>
            <a:spLocks xmlns:a="http://schemas.openxmlformats.org/drawingml/2006/main" noGrp="1"/>
          </p:cNvSpPr>
          <p:nvPr/>
        </p:nvSpPr>
        <p:spPr>
          <a:xfrm xmlns:a="http://schemas.openxmlformats.org/drawingml/2006/main" rot="0" flipH="0" flipV="0">
            <a:off x="6974656" y="3577732"/>
            <a:ext cx="4402254" cy="4194921"/>
          </a:xfrm>
          <a:custGeom xmlns:a="http://schemas.openxmlformats.org/drawingml/2006/main">
            <a:rect l="l" t="t" r="r" b="b"/>
            <a:pathLst>
              <a:path w="493889" h="470628">
                <a:moveTo>
                  <a:pt x="43966" y="0"/>
                </a:moveTo>
                <a:lnTo>
                  <a:pt x="449923" y="0"/>
                </a:lnTo>
                <a:cubicBezTo>
                  <a:pt x="461583" y="0"/>
                  <a:pt x="472766" y="4632"/>
                  <a:pt x="481011" y="12877"/>
                </a:cubicBezTo>
                <a:cubicBezTo>
                  <a:pt x="489256" y="21122"/>
                  <a:pt x="493889" y="32305"/>
                  <a:pt x="493889" y="43966"/>
                </a:cubicBezTo>
                <a:lnTo>
                  <a:pt x="493889" y="426662"/>
                </a:lnTo>
                <a:cubicBezTo>
                  <a:pt x="493889" y="450944"/>
                  <a:pt x="474204" y="470628"/>
                  <a:pt x="449923" y="470628"/>
                </a:cubicBezTo>
                <a:lnTo>
                  <a:pt x="43966" y="470628"/>
                </a:lnTo>
                <a:cubicBezTo>
                  <a:pt x="19684" y="470628"/>
                  <a:pt x="0" y="450944"/>
                  <a:pt x="0" y="426662"/>
                </a:cubicBezTo>
                <a:lnTo>
                  <a:pt x="0" y="43966"/>
                </a:lnTo>
                <a:cubicBezTo>
                  <a:pt x="0" y="19684"/>
                  <a:pt x="19684" y="0"/>
                  <a:pt x="43966"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8" name="TextBox 8">
            <a:extLst xmlns:a="http://schemas.openxmlformats.org/drawingml/2006/main">
              <a:ext uri="{FF2B5EF4-FFF2-40B4-BE49-F238E27FC236}">
                <a16:creationId xmlns:a16="http://schemas.microsoft.com/office/drawing/2014/main" id="{7DCC70B3-E883-4A99-B987-7474B92CD568}"/>
              </a:ext>
            </a:extLst>
          </p:cNvPr>
          <p:cNvSpPr>
            <a:spLocks xmlns:a="http://schemas.openxmlformats.org/drawingml/2006/main" noGrp="1"/>
          </p:cNvSpPr>
          <p:nvPr/>
        </p:nvSpPr>
        <p:spPr>
          <a:xfrm xmlns:a="http://schemas.openxmlformats.org/drawingml/2006/main" rot="0" flipH="0" flipV="0">
            <a:off x="6974656" y="3238130"/>
            <a:ext cx="4402254" cy="4534523"/>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0" name="Freeform 10">
            <a:extLst xmlns:a="http://schemas.openxmlformats.org/drawingml/2006/main">
              <a:ext uri="{FF2B5EF4-FFF2-40B4-BE49-F238E27FC236}">
                <a16:creationId xmlns:a16="http://schemas.microsoft.com/office/drawing/2014/main" id="{9E967D03-4607-4849-8A41-1C755AD1A29B}"/>
              </a:ext>
            </a:extLst>
          </p:cNvPr>
          <p:cNvSpPr>
            <a:spLocks xmlns:a="http://schemas.openxmlformats.org/drawingml/2006/main" noGrp="1"/>
          </p:cNvSpPr>
          <p:nvPr/>
        </p:nvSpPr>
        <p:spPr>
          <a:xfrm xmlns:a="http://schemas.openxmlformats.org/drawingml/2006/main" rot="0" flipH="0" flipV="0">
            <a:off x="12397134" y="3577732"/>
            <a:ext cx="4402254" cy="4194921"/>
          </a:xfrm>
          <a:custGeom xmlns:a="http://schemas.openxmlformats.org/drawingml/2006/main">
            <a:rect l="l" t="t" r="r" b="b"/>
            <a:pathLst>
              <a:path w="493889" h="470628">
                <a:moveTo>
                  <a:pt x="43966" y="0"/>
                </a:moveTo>
                <a:lnTo>
                  <a:pt x="449923" y="0"/>
                </a:lnTo>
                <a:cubicBezTo>
                  <a:pt x="461583" y="0"/>
                  <a:pt x="472766" y="4632"/>
                  <a:pt x="481011" y="12877"/>
                </a:cubicBezTo>
                <a:cubicBezTo>
                  <a:pt x="489256" y="21122"/>
                  <a:pt x="493889" y="32305"/>
                  <a:pt x="493889" y="43966"/>
                </a:cubicBezTo>
                <a:lnTo>
                  <a:pt x="493889" y="426662"/>
                </a:lnTo>
                <a:cubicBezTo>
                  <a:pt x="493889" y="450944"/>
                  <a:pt x="474204" y="470628"/>
                  <a:pt x="449923" y="470628"/>
                </a:cubicBezTo>
                <a:lnTo>
                  <a:pt x="43966" y="470628"/>
                </a:lnTo>
                <a:cubicBezTo>
                  <a:pt x="19684" y="470628"/>
                  <a:pt x="0" y="450944"/>
                  <a:pt x="0" y="426662"/>
                </a:cubicBezTo>
                <a:lnTo>
                  <a:pt x="0" y="43966"/>
                </a:lnTo>
                <a:cubicBezTo>
                  <a:pt x="0" y="19684"/>
                  <a:pt x="19684" y="0"/>
                  <a:pt x="43966"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11" name="TextBox 11">
            <a:extLst xmlns:a="http://schemas.openxmlformats.org/drawingml/2006/main">
              <a:ext uri="{FF2B5EF4-FFF2-40B4-BE49-F238E27FC236}">
                <a16:creationId xmlns:a16="http://schemas.microsoft.com/office/drawing/2014/main" id="{E6346054-52F7-4B46-992A-D091BF18E82F}"/>
              </a:ext>
            </a:extLst>
          </p:cNvPr>
          <p:cNvSpPr>
            <a:spLocks xmlns:a="http://schemas.openxmlformats.org/drawingml/2006/main" noGrp="1"/>
          </p:cNvSpPr>
          <p:nvPr/>
        </p:nvSpPr>
        <p:spPr>
          <a:xfrm xmlns:a="http://schemas.openxmlformats.org/drawingml/2006/main" rot="0" flipH="0" flipV="0">
            <a:off x="12397134" y="3238130"/>
            <a:ext cx="4402254" cy="4534523"/>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2" name="TextBox 12">
            <a:extLst xmlns:a="http://schemas.openxmlformats.org/drawingml/2006/main">
              <a:ext uri="{FF2B5EF4-FFF2-40B4-BE49-F238E27FC236}">
                <a16:creationId xmlns:a16="http://schemas.microsoft.com/office/drawing/2014/main" id="{CD236DC4-45D6-48B4-A0CA-9D5D6648FB65}"/>
              </a:ext>
            </a:extLst>
          </p:cNvPr>
          <p:cNvSpPr>
            <a:spLocks xmlns:a="http://schemas.openxmlformats.org/drawingml/2006/main" noGrp="1"/>
          </p:cNvSpPr>
          <p:nvPr/>
        </p:nvSpPr>
        <p:spPr>
          <a:xfrm xmlns:a="http://schemas.openxmlformats.org/drawingml/2006/main">
            <a:off x="1488613" y="1302888"/>
            <a:ext cx="15229847" cy="1309884"/>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10660"/>
              </a:lnSpc>
              <a:spcBef>
                <a:spcPct val="0"/>
              </a:spcBef>
              <a:buNone/>
            </a:pPr>
            <a:r>
              <a:rPr sz="7610" b="1">
                <a:solidFill>
                  <a:srgbClr val="FFFFFF"/>
                </a:solidFill>
                <a:latin typeface="TT Lakes Neue Extended Bold"/>
                <a:ea typeface="TT Lakes Neue Extended Bold"/>
                <a:cs typeface="TT Lakes Neue Extended Bold"/>
              </a:rPr>
              <a:t>KIẾN TRÚC MÔ PHỎNG</a:t>
            </a:r>
          </a:p>
        </p:txBody>
      </p:sp>
      <p:sp>
        <p:nvSpPr>
          <p:cNvPr id="13" name="TextBox 13">
            <a:extLst xmlns:a="http://schemas.openxmlformats.org/drawingml/2006/main">
              <a:ext uri="{FF2B5EF4-FFF2-40B4-BE49-F238E27FC236}">
                <a16:creationId xmlns:a16="http://schemas.microsoft.com/office/drawing/2014/main" id="{DEEECB8E-5D7D-418D-8564-D1B3B4573DBD}"/>
              </a:ext>
            </a:extLst>
          </p:cNvPr>
          <p:cNvSpPr>
            <a:spLocks xmlns:a="http://schemas.openxmlformats.org/drawingml/2006/main" noGrp="1"/>
          </p:cNvSpPr>
          <p:nvPr/>
        </p:nvSpPr>
        <p:spPr>
          <a:xfrm xmlns:a="http://schemas.openxmlformats.org/drawingml/2006/main">
            <a:off x="1757015" y="4413188"/>
            <a:ext cx="4069263" cy="2841484"/>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315"/>
              </a:lnSpc>
              <a:buNone/>
            </a:pPr>
            <a:r>
              <a:rPr sz="2365">
                <a:solidFill>
                  <a:srgbClr val="C6C6C6"/>
                </a:solidFill>
                <a:latin typeface="Montserrat Light"/>
                <a:ea typeface="Montserrat Light"/>
                <a:cs typeface="Montserrat Light"/>
              </a:rPr>
              <a:t>- Tạo firmware và manifest.</a:t>
            </a:r>
          </a:p>
          <a:p xmlns:a="http://schemas.openxmlformats.org/drawingml/2006/main">
            <a:pPr algn="l">
              <a:lnSpc>
                <a:spcPts val="3315"/>
              </a:lnSpc>
              <a:buNone/>
            </a:pPr>
            <a:r>
              <a:rPr sz="2365">
                <a:solidFill>
                  <a:srgbClr val="C6C6C6"/>
                </a:solidFill>
                <a:latin typeface="Montserrat Light"/>
                <a:ea typeface="Montserrat Light"/>
                <a:cs typeface="Montserrat Light"/>
              </a:rPr>
              <a:t>- Tính SHA-256.</a:t>
            </a:r>
          </a:p>
          <a:p xmlns:a="http://schemas.openxmlformats.org/drawingml/2006/main">
            <a:pPr algn="l">
              <a:lnSpc>
                <a:spcPts val="3315"/>
              </a:lnSpc>
              <a:spcBef>
                <a:spcPct val="0"/>
              </a:spcBef>
              <a:buNone/>
            </a:pPr>
            <a:r>
              <a:rPr sz="2365">
                <a:solidFill>
                  <a:srgbClr val="C6C6C6"/>
                </a:solidFill>
                <a:latin typeface="Montserrat Light"/>
                <a:ea typeface="Montserrat Light"/>
                <a:cs typeface="Montserrat Light"/>
              </a:rPr>
              <a:t>- Ký manifest bằng khóa riêng của nhà phát hành.</a:t>
            </a:r>
          </a:p>
          <a:p xmlns:a="http://schemas.openxmlformats.org/drawingml/2006/main">
            <a:pPr algn="l">
              <a:lnSpc>
                <a:spcPts val="3315"/>
              </a:lnSpc>
              <a:spcBef>
                <a:spcPct val="0"/>
              </a:spcBef>
              <a:buNone/>
            </a:pPr>
            <a:r>
              <a:rPr sz="2365">
                <a:solidFill>
                  <a:srgbClr val="C6C6C6"/>
                </a:solidFill>
                <a:latin typeface="Montserrat Light"/>
                <a:ea typeface="Montserrat Light"/>
                <a:cs typeface="Montserrat Light"/>
              </a:rPr>
              <a:t>- Mã hóa firmware trước khi phân phối.</a:t>
            </a:r>
          </a:p>
          <a:p xmlns:a="http://schemas.openxmlformats.org/drawingml/2006/main">
            <a:pPr algn="l">
              <a:lnSpc>
                <a:spcPts val="3315"/>
              </a:lnSpc>
              <a:spcBef>
                <a:spcPct val="0"/>
              </a:spcBef>
              <a:buNone/>
            </a:pPr>
          </a:p>
        </p:txBody>
      </p:sp>
      <p:sp>
        <p:nvSpPr>
          <p:cNvPr id="14" name="TextBox 14">
            <a:extLst xmlns:a="http://schemas.openxmlformats.org/drawingml/2006/main">
              <a:ext uri="{FF2B5EF4-FFF2-40B4-BE49-F238E27FC236}">
                <a16:creationId xmlns:a16="http://schemas.microsoft.com/office/drawing/2014/main" id="{4E40FC82-1905-4ED4-99F5-783EBB051FAD}"/>
              </a:ext>
            </a:extLst>
          </p:cNvPr>
          <p:cNvSpPr>
            <a:spLocks xmlns:a="http://schemas.openxmlformats.org/drawingml/2006/main" noGrp="1"/>
          </p:cNvSpPr>
          <p:nvPr/>
        </p:nvSpPr>
        <p:spPr>
          <a:xfrm xmlns:a="http://schemas.openxmlformats.org/drawingml/2006/main">
            <a:off x="7230462" y="4549679"/>
            <a:ext cx="3890641" cy="220340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25"/>
              </a:lnSpc>
              <a:buNone/>
            </a:pPr>
            <a:r>
              <a:rPr sz="2590">
                <a:solidFill>
                  <a:srgbClr val="C6C6C6"/>
                </a:solidFill>
                <a:latin typeface="Montserrat Light"/>
                <a:ea typeface="Montserrat Light"/>
                <a:cs typeface="Montserrat Light"/>
              </a:rPr>
              <a:t>- </a:t>
            </a:r>
            <a:r>
              <a:rPr sz="2590">
                <a:solidFill>
                  <a:srgbClr val="C6C6C6"/>
                </a:solidFill>
                <a:latin typeface="Montserrat Light"/>
                <a:ea typeface="Montserrat Light"/>
                <a:cs typeface="Montserrat Light"/>
              </a:rPr>
              <a:t>Lưu trữ và phân phối gói cập nhật.</a:t>
            </a:r>
          </a:p>
          <a:p xmlns:a="http://schemas.openxmlformats.org/drawingml/2006/main">
            <a:pPr algn="l">
              <a:lnSpc>
                <a:spcPts val="3625"/>
              </a:lnSpc>
              <a:spcBef>
                <a:spcPct val="0"/>
              </a:spcBef>
              <a:buNone/>
            </a:pPr>
            <a:r>
              <a:rPr sz="2590">
                <a:solidFill>
                  <a:srgbClr val="C6C6C6"/>
                </a:solidFill>
                <a:latin typeface="Montserrat Light"/>
                <a:ea typeface="Montserrat Light"/>
                <a:cs typeface="Montserrat Light"/>
              </a:rPr>
              <a:t>   - Không được thiết bị tin cậy tuyệt đối.</a:t>
            </a:r>
          </a:p>
          <a:p xmlns:a="http://schemas.openxmlformats.org/drawingml/2006/main">
            <a:pPr algn="l">
              <a:lnSpc>
                <a:spcPts val="3625"/>
              </a:lnSpc>
              <a:spcBef>
                <a:spcPct val="0"/>
              </a:spcBef>
              <a:buNone/>
            </a:pPr>
          </a:p>
        </p:txBody>
      </p:sp>
      <p:sp>
        <p:nvSpPr>
          <p:cNvPr id="15" name="TextBox 15">
            <a:extLst xmlns:a="http://schemas.openxmlformats.org/drawingml/2006/main">
              <a:ext uri="{FF2B5EF4-FFF2-40B4-BE49-F238E27FC236}">
                <a16:creationId xmlns:a16="http://schemas.microsoft.com/office/drawing/2014/main" id="{29C243F2-308B-4BA8-B53E-62AD8DDC5112}"/>
              </a:ext>
            </a:extLst>
          </p:cNvPr>
          <p:cNvSpPr>
            <a:spLocks xmlns:a="http://schemas.openxmlformats.org/drawingml/2006/main" noGrp="1"/>
          </p:cNvSpPr>
          <p:nvPr/>
        </p:nvSpPr>
        <p:spPr>
          <a:xfrm xmlns:a="http://schemas.openxmlformats.org/drawingml/2006/main">
            <a:off x="1884769" y="3793742"/>
            <a:ext cx="3737071"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1. Môi trường phá</a:t>
            </a:r>
            <a:r>
              <a:rPr sz="2200" b="1">
                <a:solidFill>
                  <a:srgbClr val="FFFFFF"/>
                </a:solidFill>
                <a:latin typeface="Montserrat Bold"/>
                <a:ea typeface="Montserrat Bold"/>
                <a:cs typeface="Montserrat Bold"/>
              </a:rPr>
              <a:t>t hành</a:t>
            </a:r>
          </a:p>
        </p:txBody>
      </p:sp>
      <p:sp>
        <p:nvSpPr>
          <p:cNvPr id="16" name="TextBox 16">
            <a:extLst xmlns:a="http://schemas.openxmlformats.org/drawingml/2006/main">
              <a:ext uri="{FF2B5EF4-FFF2-40B4-BE49-F238E27FC236}">
                <a16:creationId xmlns:a16="http://schemas.microsoft.com/office/drawing/2014/main" id="{E6053B4A-32F5-4FDB-8334-DB17470ADB3B}"/>
              </a:ext>
            </a:extLst>
          </p:cNvPr>
          <p:cNvSpPr>
            <a:spLocks xmlns:a="http://schemas.openxmlformats.org/drawingml/2006/main" noGrp="1"/>
          </p:cNvSpPr>
          <p:nvPr/>
        </p:nvSpPr>
        <p:spPr>
          <a:xfrm xmlns:a="http://schemas.openxmlformats.org/drawingml/2006/main">
            <a:off x="8011190" y="3793742"/>
            <a:ext cx="2329185"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2.</a:t>
            </a:r>
            <a:r>
              <a:rPr sz="2200" b="1">
                <a:solidFill>
                  <a:srgbClr val="FFFFFF"/>
                </a:solidFill>
                <a:latin typeface="Montserrat Bold"/>
                <a:ea typeface="Montserrat Bold"/>
                <a:cs typeface="Montserrat Bold"/>
              </a:rPr>
              <a:t> Máy chủ OTA</a:t>
            </a:r>
          </a:p>
        </p:txBody>
      </p:sp>
      <p:sp>
        <p:nvSpPr>
          <p:cNvPr id="17" name="TextBox 17">
            <a:extLst xmlns:a="http://schemas.openxmlformats.org/drawingml/2006/main">
              <a:ext uri="{FF2B5EF4-FFF2-40B4-BE49-F238E27FC236}">
                <a16:creationId xmlns:a16="http://schemas.microsoft.com/office/drawing/2014/main" id="{E5608F17-43C1-469D-A1DD-33FC53A597FD}"/>
              </a:ext>
            </a:extLst>
          </p:cNvPr>
          <p:cNvSpPr>
            <a:spLocks xmlns:a="http://schemas.openxmlformats.org/drawingml/2006/main" noGrp="1"/>
          </p:cNvSpPr>
          <p:nvPr/>
        </p:nvSpPr>
        <p:spPr>
          <a:xfrm xmlns:a="http://schemas.openxmlformats.org/drawingml/2006/main">
            <a:off x="12653259" y="4549679"/>
            <a:ext cx="3926825" cy="249868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415"/>
              </a:lnSpc>
              <a:buNone/>
            </a:pPr>
            <a:r>
              <a:rPr sz="2440">
                <a:solidFill>
                  <a:srgbClr val="C6C6C6"/>
                </a:solidFill>
                <a:latin typeface="Montserrat Light"/>
                <a:ea typeface="Montserrat Light"/>
                <a:cs typeface="Montserrat Light"/>
              </a:rPr>
              <a:t>-</a:t>
            </a:r>
            <a:r>
              <a:rPr sz="2440">
                <a:solidFill>
                  <a:srgbClr val="C6C6C6"/>
                </a:solidFill>
                <a:latin typeface="Montserrat Light"/>
                <a:ea typeface="Montserrat Light"/>
                <a:cs typeface="Montserrat Light"/>
              </a:rPr>
              <a:t> Lưu khóa công khai của nhà phát hành.</a:t>
            </a:r>
          </a:p>
          <a:p xmlns:a="http://schemas.openxmlformats.org/drawingml/2006/main">
            <a:pPr algn="l">
              <a:lnSpc>
                <a:spcPts val="3415"/>
              </a:lnSpc>
              <a:buNone/>
            </a:pPr>
            <a:r>
              <a:rPr sz="2440">
                <a:solidFill>
                  <a:srgbClr val="C6C6C6"/>
                </a:solidFill>
                <a:latin typeface="Montserrat Light"/>
                <a:ea typeface="Montserrat Light"/>
                <a:cs typeface="Montserrat Light"/>
              </a:rPr>
              <a:t>- Xác minh gói cập nhật trước khi cài đặt.</a:t>
            </a:r>
          </a:p>
          <a:p xmlns:a="http://schemas.openxmlformats.org/drawingml/2006/main">
            <a:pPr algn="l">
              <a:lnSpc>
                <a:spcPts val="3415"/>
              </a:lnSpc>
              <a:spcBef>
                <a:spcPct val="0"/>
              </a:spcBef>
              <a:buNone/>
            </a:pPr>
            <a:r>
              <a:rPr sz="2440">
                <a:solidFill>
                  <a:srgbClr val="C6C6C6"/>
                </a:solidFill>
                <a:latin typeface="Montserrat Light"/>
                <a:ea typeface="Montserrat Light"/>
                <a:cs typeface="Montserrat Light"/>
              </a:rPr>
              <a:t>- Từ chối firmware không hợp lệ hoặc quá cũ.</a:t>
            </a:r>
          </a:p>
        </p:txBody>
      </p:sp>
      <p:sp>
        <p:nvSpPr>
          <p:cNvPr id="18" name="TextBox 18">
            <a:extLst xmlns:a="http://schemas.openxmlformats.org/drawingml/2006/main">
              <a:ext uri="{FF2B5EF4-FFF2-40B4-BE49-F238E27FC236}">
                <a16:creationId xmlns:a16="http://schemas.microsoft.com/office/drawing/2014/main" id="{B6E4EE52-9CA3-4A4C-821B-573E59C940B8}"/>
              </a:ext>
            </a:extLst>
          </p:cNvPr>
          <p:cNvSpPr>
            <a:spLocks xmlns:a="http://schemas.openxmlformats.org/drawingml/2006/main" noGrp="1"/>
          </p:cNvSpPr>
          <p:nvPr/>
        </p:nvSpPr>
        <p:spPr>
          <a:xfrm xmlns:a="http://schemas.openxmlformats.org/drawingml/2006/main">
            <a:off x="13532007" y="3793742"/>
            <a:ext cx="2132507"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3.</a:t>
            </a:r>
            <a:r>
              <a:rPr sz="2200" b="1">
                <a:solidFill>
                  <a:srgbClr val="FFFFFF"/>
                </a:solidFill>
                <a:latin typeface="Montserrat Bold"/>
                <a:ea typeface="Montserrat Bold"/>
                <a:cs typeface="Montserrat Bold"/>
              </a:rPr>
              <a:t> Thiết bị IoT</a:t>
            </a:r>
          </a:p>
        </p:txBody>
      </p:sp>
      <p:sp>
        <p:nvSpPr>
          <p:cNvPr id="19" name="TextBox 19">
            <a:extLst xmlns:a="http://schemas.openxmlformats.org/drawingml/2006/main">
              <a:ext uri="{FF2B5EF4-FFF2-40B4-BE49-F238E27FC236}">
                <a16:creationId xmlns:a16="http://schemas.microsoft.com/office/drawing/2014/main" id="{1DD17BA7-4E5E-43A9-A441-31EF516C4D56}"/>
              </a:ext>
            </a:extLst>
          </p:cNvPr>
          <p:cNvSpPr>
            <a:spLocks xmlns:a="http://schemas.openxmlformats.org/drawingml/2006/main" noGrp="1"/>
          </p:cNvSpPr>
          <p:nvPr/>
        </p:nvSpPr>
        <p:spPr>
          <a:xfrm xmlns:a="http://schemas.openxmlformats.org/drawingml/2006/main">
            <a:off x="1581207" y="2935857"/>
            <a:ext cx="4245071"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Ba thành</a:t>
            </a:r>
            <a:r>
              <a:rPr sz="2200" b="1">
                <a:solidFill>
                  <a:srgbClr val="FFFFFF"/>
                </a:solidFill>
                <a:latin typeface="Montserrat Bold"/>
                <a:ea typeface="Montserrat Bold"/>
                <a:cs typeface="Montserrat Bold"/>
              </a:rPr>
              <a:t> phần chính</a:t>
            </a:r>
          </a:p>
        </p:txBody>
      </p:sp>
      <p:sp>
        <p:nvSpPr>
          <p:cNvPr id="20" name="TextBox 20">
            <a:extLst xmlns:a="http://schemas.openxmlformats.org/drawingml/2006/main">
              <a:ext uri="{FF2B5EF4-FFF2-40B4-BE49-F238E27FC236}">
                <a16:creationId xmlns:a16="http://schemas.microsoft.com/office/drawing/2014/main" id="{8AA7F961-1DE5-4F74-B90F-53FBA7DCA6F9}"/>
              </a:ext>
            </a:extLst>
          </p:cNvPr>
          <p:cNvSpPr>
            <a:spLocks xmlns:a="http://schemas.openxmlformats.org/drawingml/2006/main" noGrp="1"/>
          </p:cNvSpPr>
          <p:nvPr/>
        </p:nvSpPr>
        <p:spPr>
          <a:xfrm xmlns:a="http://schemas.openxmlformats.org/drawingml/2006/main">
            <a:off x="1573939" y="8223071"/>
            <a:ext cx="14883087" cy="907284"/>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605"/>
              </a:lnSpc>
              <a:buNone/>
            </a:pPr>
            <a:r>
              <a:rPr sz="2575" b="1">
                <a:solidFill>
                  <a:srgbClr val="FFFFFF"/>
                </a:solidFill>
                <a:latin typeface="Montserrat Bold"/>
                <a:ea typeface="Montserrat Bold"/>
                <a:cs typeface="Montserrat Bold"/>
              </a:rPr>
              <a:t>→ Thông</a:t>
            </a:r>
            <a:r>
              <a:rPr sz="2575" b="1">
                <a:solidFill>
                  <a:srgbClr val="FFFFFF"/>
                </a:solidFill>
                <a:latin typeface="Montserrat Bold"/>
                <a:ea typeface="Montserrat Bold"/>
                <a:cs typeface="Montserrat Bold"/>
              </a:rPr>
              <a:t> điệp chính: Thiết bị tự xác minh firmware, không chỉ dựa vào máy chủ hoặc HTTPS.</a:t>
            </a:r>
          </a:p>
        </p:txBody>
      </p:sp>
    </p:spTree>
    <p:extLst>
      <p:ext uri="{BB962C8B-B14F-4D97-AF65-F5344CB8AC3E}">
        <p14:creationId xmlns:p14="http://schemas.microsoft.com/office/powerpoint/2010/main" val="17552184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2AA9E77F-5A7A-4E9A-9527-2422A1EB1551}"/>
              </a:ext>
            </a:extLst>
          </p:cNvPr>
          <p:cNvSpPr>
            <a:spLocks xmlns:a="http://schemas.openxmlformats.org/drawingml/2006/main" noGrp="1"/>
          </p:cNvSpPr>
          <p:nvPr/>
        </p:nvSpPr>
        <p:spPr>
          <a:xfrm xmlns:a="http://schemas.openxmlformats.org/drawingml/2006/main" flipV="1">
            <a:off x="0" y="0"/>
            <a:ext cx="18288000" cy="10287000"/>
          </a:xfrm>
          <a:custGeom xmlns:a="http://schemas.openxmlformats.org/drawingml/2006/main">
            <a:rect l="l" t="t" r="r" b="b"/>
            <a:pathLst>
              <a:path w="18288000" h="10287000">
                <a:moveTo>
                  <a:pt x="0" y="10287000"/>
                </a:moveTo>
                <a:lnTo>
                  <a:pt x="18288000" y="10287000"/>
                </a:lnTo>
                <a:lnTo>
                  <a:pt x="18288000" y="0"/>
                </a:lnTo>
                <a:lnTo>
                  <a:pt x="0" y="0"/>
                </a:lnTo>
                <a:lnTo>
                  <a:pt x="0" y="10287000"/>
                </a:lnTo>
                <a:close/>
              </a:path>
            </a:pathLst>
          </a:custGeom>
          <a:blipFill xmlns:a="http://schemas.openxmlformats.org/drawingml/2006/main">
            <a:blip xmlns:r="http://schemas.openxmlformats.org/officeDocument/2006/relationships" r:embed="R509f4d7909af4040"/>
            <a:stretch>
              <a:fillRect l="0" t="-124631" r="-124631" b="0"/>
            </a:stretch>
          </a:blipFill>
        </p:spPr>
      </p:sp>
      <p:sp>
        <p:nvSpPr>
          <p:cNvPr id="3" name="TextBox 3">
            <a:extLst xmlns:a="http://schemas.openxmlformats.org/drawingml/2006/main">
              <a:ext uri="{FF2B5EF4-FFF2-40B4-BE49-F238E27FC236}">
                <a16:creationId xmlns:a16="http://schemas.microsoft.com/office/drawing/2014/main" id="{B938240A-F0BA-40E3-9B25-031DA49D4718}"/>
              </a:ext>
            </a:extLst>
          </p:cNvPr>
          <p:cNvSpPr>
            <a:spLocks xmlns:a="http://schemas.openxmlformats.org/drawingml/2006/main" noGrp="1"/>
          </p:cNvSpPr>
          <p:nvPr/>
        </p:nvSpPr>
        <p:spPr>
          <a:xfrm xmlns:a="http://schemas.openxmlformats.org/drawingml/2006/main">
            <a:off x="9637445" y="1206096"/>
            <a:ext cx="6730661" cy="113005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9265"/>
              </a:lnSpc>
              <a:spcBef>
                <a:spcPct val="0"/>
              </a:spcBef>
              <a:buNone/>
            </a:pPr>
            <a:r>
              <a:rPr sz="6620" b="1">
                <a:solidFill>
                  <a:srgbClr val="FFFFFF"/>
                </a:solidFill>
                <a:latin typeface="TT Lakes Neue Extended Bold"/>
                <a:ea typeface="TT Lakes Neue Extended Bold"/>
                <a:cs typeface="TT Lakes Neue Extended Bold"/>
              </a:rPr>
              <a:t>QUY TRÌNH </a:t>
            </a:r>
          </a:p>
        </p:txBody>
      </p:sp>
      <p:sp>
        <p:nvSpPr>
          <p:cNvPr id="5" name="Freeform 5">
            <a:extLst xmlns:a="http://schemas.openxmlformats.org/drawingml/2006/main">
              <a:ext uri="{FF2B5EF4-FFF2-40B4-BE49-F238E27FC236}">
                <a16:creationId xmlns:a16="http://schemas.microsoft.com/office/drawing/2014/main" id="{19BD3359-EF48-4214-94C8-1A096235DC8F}"/>
              </a:ext>
            </a:extLst>
          </p:cNvPr>
          <p:cNvSpPr>
            <a:spLocks xmlns:a="http://schemas.openxmlformats.org/drawingml/2006/main" noGrp="1"/>
          </p:cNvSpPr>
          <p:nvPr/>
        </p:nvSpPr>
        <p:spPr>
          <a:xfrm xmlns:a="http://schemas.openxmlformats.org/drawingml/2006/main" rot="0" flipH="0" flipV="0">
            <a:off x="1296008" y="4360702"/>
            <a:ext cx="7244857" cy="616879"/>
          </a:xfrm>
          <a:custGeom xmlns:a="http://schemas.openxmlformats.org/drawingml/2006/main">
            <a:rect l="l" t="t" r="r" b="b"/>
            <a:pathLst>
              <a:path w="4772913" h="406400">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6" name="TextBox 6">
            <a:extLst xmlns:a="http://schemas.openxmlformats.org/drawingml/2006/main">
              <a:ext uri="{FF2B5EF4-FFF2-40B4-BE49-F238E27FC236}">
                <a16:creationId xmlns:a16="http://schemas.microsoft.com/office/drawing/2014/main" id="{A55AF834-63AB-48EE-8AED-95E3673FE0C3}"/>
              </a:ext>
            </a:extLst>
          </p:cNvPr>
          <p:cNvSpPr>
            <a:spLocks xmlns:a="http://schemas.openxmlformats.org/drawingml/2006/main" noGrp="1"/>
          </p:cNvSpPr>
          <p:nvPr/>
        </p:nvSpPr>
        <p:spPr>
          <a:xfrm xmlns:a="http://schemas.openxmlformats.org/drawingml/2006/main" rot="0" flipH="0" flipV="0">
            <a:off x="1296008" y="4302870"/>
            <a:ext cx="7244857"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8" name="Freeform 8">
            <a:extLst xmlns:a="http://schemas.openxmlformats.org/drawingml/2006/main">
              <a:ext uri="{FF2B5EF4-FFF2-40B4-BE49-F238E27FC236}">
                <a16:creationId xmlns:a16="http://schemas.microsoft.com/office/drawing/2014/main" id="{D4D82C15-638C-4F48-9F20-95A65921CE8D}"/>
              </a:ext>
            </a:extLst>
          </p:cNvPr>
          <p:cNvSpPr>
            <a:spLocks xmlns:a="http://schemas.openxmlformats.org/drawingml/2006/main" noGrp="1"/>
          </p:cNvSpPr>
          <p:nvPr/>
        </p:nvSpPr>
        <p:spPr>
          <a:xfrm xmlns:a="http://schemas.openxmlformats.org/drawingml/2006/main" rot="0" flipH="0" flipV="0">
            <a:off x="1296008" y="5255656"/>
            <a:ext cx="7244857" cy="616879"/>
          </a:xfrm>
          <a:custGeom xmlns:a="http://schemas.openxmlformats.org/drawingml/2006/main">
            <a:rect l="l" t="t" r="r" b="b"/>
            <a:pathLst>
              <a:path w="4772913" h="406400">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9" name="TextBox 9">
            <a:extLst xmlns:a="http://schemas.openxmlformats.org/drawingml/2006/main">
              <a:ext uri="{FF2B5EF4-FFF2-40B4-BE49-F238E27FC236}">
                <a16:creationId xmlns:a16="http://schemas.microsoft.com/office/drawing/2014/main" id="{07B10E22-281D-417D-8F8F-758405801D88}"/>
              </a:ext>
            </a:extLst>
          </p:cNvPr>
          <p:cNvSpPr>
            <a:spLocks xmlns:a="http://schemas.openxmlformats.org/drawingml/2006/main" noGrp="1"/>
          </p:cNvSpPr>
          <p:nvPr/>
        </p:nvSpPr>
        <p:spPr>
          <a:xfrm xmlns:a="http://schemas.openxmlformats.org/drawingml/2006/main" rot="0" flipH="0" flipV="0">
            <a:off x="1296008" y="5197824"/>
            <a:ext cx="7244857"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1" name="Freeform 11">
            <a:extLst xmlns:a="http://schemas.openxmlformats.org/drawingml/2006/main">
              <a:ext uri="{FF2B5EF4-FFF2-40B4-BE49-F238E27FC236}">
                <a16:creationId xmlns:a16="http://schemas.microsoft.com/office/drawing/2014/main" id="{3FDD8C6C-404A-4644-B809-C2DCBAACE97A}"/>
              </a:ext>
            </a:extLst>
          </p:cNvPr>
          <p:cNvSpPr>
            <a:spLocks xmlns:a="http://schemas.openxmlformats.org/drawingml/2006/main" noGrp="1"/>
          </p:cNvSpPr>
          <p:nvPr/>
        </p:nvSpPr>
        <p:spPr>
          <a:xfrm xmlns:a="http://schemas.openxmlformats.org/drawingml/2006/main" rot="0" flipH="0" flipV="0">
            <a:off x="1296008" y="6150611"/>
            <a:ext cx="7244857" cy="616879"/>
          </a:xfrm>
          <a:custGeom xmlns:a="http://schemas.openxmlformats.org/drawingml/2006/main">
            <a:rect l="l" t="t" r="r" b="b"/>
            <a:pathLst>
              <a:path w="4772913" h="406400">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12" name="TextBox 12">
            <a:extLst xmlns:a="http://schemas.openxmlformats.org/drawingml/2006/main">
              <a:ext uri="{FF2B5EF4-FFF2-40B4-BE49-F238E27FC236}">
                <a16:creationId xmlns:a16="http://schemas.microsoft.com/office/drawing/2014/main" id="{0A6BCEBD-28F2-425C-9188-50B51779ED35}"/>
              </a:ext>
            </a:extLst>
          </p:cNvPr>
          <p:cNvSpPr>
            <a:spLocks xmlns:a="http://schemas.openxmlformats.org/drawingml/2006/main" noGrp="1"/>
          </p:cNvSpPr>
          <p:nvPr/>
        </p:nvSpPr>
        <p:spPr>
          <a:xfrm xmlns:a="http://schemas.openxmlformats.org/drawingml/2006/main" rot="0" flipH="0" flipV="0">
            <a:off x="1296008" y="6092779"/>
            <a:ext cx="7244857"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4" name="Freeform 14">
            <a:extLst xmlns:a="http://schemas.openxmlformats.org/drawingml/2006/main">
              <a:ext uri="{FF2B5EF4-FFF2-40B4-BE49-F238E27FC236}">
                <a16:creationId xmlns:a16="http://schemas.microsoft.com/office/drawing/2014/main" id="{1E2A4253-0B79-4EF7-B912-9ED4B90C8C78}"/>
              </a:ext>
            </a:extLst>
          </p:cNvPr>
          <p:cNvSpPr>
            <a:spLocks xmlns:a="http://schemas.openxmlformats.org/drawingml/2006/main" noGrp="1"/>
          </p:cNvSpPr>
          <p:nvPr/>
        </p:nvSpPr>
        <p:spPr>
          <a:xfrm xmlns:a="http://schemas.openxmlformats.org/drawingml/2006/main" rot="0" flipH="0" flipV="0">
            <a:off x="1296008" y="7045565"/>
            <a:ext cx="7244857" cy="616879"/>
          </a:xfrm>
          <a:custGeom xmlns:a="http://schemas.openxmlformats.org/drawingml/2006/main">
            <a:rect l="l" t="t" r="r" b="b"/>
            <a:pathLst>
              <a:path w="4772913" h="406400">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15" name="TextBox 15">
            <a:extLst xmlns:a="http://schemas.openxmlformats.org/drawingml/2006/main">
              <a:ext uri="{FF2B5EF4-FFF2-40B4-BE49-F238E27FC236}">
                <a16:creationId xmlns:a16="http://schemas.microsoft.com/office/drawing/2014/main" id="{B2EACD1A-2CB9-421C-8DFF-C2766087CB8B}"/>
              </a:ext>
            </a:extLst>
          </p:cNvPr>
          <p:cNvSpPr>
            <a:spLocks xmlns:a="http://schemas.openxmlformats.org/drawingml/2006/main" noGrp="1"/>
          </p:cNvSpPr>
          <p:nvPr/>
        </p:nvSpPr>
        <p:spPr>
          <a:xfrm xmlns:a="http://schemas.openxmlformats.org/drawingml/2006/main" rot="0" flipH="0" flipV="0">
            <a:off x="1296008" y="6987733"/>
            <a:ext cx="7244857"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7" name="Freeform 17">
            <a:extLst xmlns:a="http://schemas.openxmlformats.org/drawingml/2006/main">
              <a:ext uri="{FF2B5EF4-FFF2-40B4-BE49-F238E27FC236}">
                <a16:creationId xmlns:a16="http://schemas.microsoft.com/office/drawing/2014/main" id="{5E1A9B4B-9997-4221-B5E9-6050DAA51CDA}"/>
              </a:ext>
            </a:extLst>
          </p:cNvPr>
          <p:cNvSpPr>
            <a:spLocks xmlns:a="http://schemas.openxmlformats.org/drawingml/2006/main" noGrp="1"/>
          </p:cNvSpPr>
          <p:nvPr/>
        </p:nvSpPr>
        <p:spPr>
          <a:xfrm xmlns:a="http://schemas.openxmlformats.org/drawingml/2006/main" rot="0" flipH="0" flipV="0">
            <a:off x="1296008" y="1329921"/>
            <a:ext cx="7244857" cy="2668863"/>
          </a:xfrm>
          <a:custGeom xmlns:a="http://schemas.openxmlformats.org/drawingml/2006/main">
            <a:rect l="l" t="t" r="r" b="b"/>
            <a:pathLst>
              <a:path w="1122418" h="413477">
                <a:moveTo>
                  <a:pt x="26715" y="0"/>
                </a:moveTo>
                <a:lnTo>
                  <a:pt x="1095703" y="0"/>
                </a:lnTo>
                <a:cubicBezTo>
                  <a:pt x="1110457" y="0"/>
                  <a:pt x="1122418" y="11961"/>
                  <a:pt x="1122418" y="26715"/>
                </a:cubicBezTo>
                <a:lnTo>
                  <a:pt x="1122418" y="386761"/>
                </a:lnTo>
                <a:cubicBezTo>
                  <a:pt x="1122418" y="401516"/>
                  <a:pt x="1110457" y="413477"/>
                  <a:pt x="1095703" y="413477"/>
                </a:cubicBezTo>
                <a:lnTo>
                  <a:pt x="26715" y="413477"/>
                </a:lnTo>
                <a:cubicBezTo>
                  <a:pt x="11961" y="413477"/>
                  <a:pt x="0" y="401516"/>
                  <a:pt x="0" y="386761"/>
                </a:cubicBezTo>
                <a:lnTo>
                  <a:pt x="0" y="26715"/>
                </a:lnTo>
                <a:cubicBezTo>
                  <a:pt x="0" y="11961"/>
                  <a:pt x="11961" y="0"/>
                  <a:pt x="26715" y="0"/>
                </a:cubicBezTo>
                <a:close/>
              </a:path>
            </a:pathLst>
          </a:custGeom>
          <a:blipFill xmlns:a="http://schemas.openxmlformats.org/drawingml/2006/main">
            <a:blip xmlns:r="http://schemas.openxmlformats.org/officeDocument/2006/relationships" r:embed="R569a8c04c1c3470b"/>
            <a:stretch>
              <a:fillRect l="0" t="-26109" r="0" b="-26109"/>
            </a:stretch>
          </a:blipFill>
        </p:spPr>
      </p:sp>
      <p:sp>
        <p:nvSpPr>
          <p:cNvPr id="18" name="Freeform 18">
            <a:extLst xmlns:a="http://schemas.openxmlformats.org/drawingml/2006/main">
              <a:ext uri="{FF2B5EF4-FFF2-40B4-BE49-F238E27FC236}">
                <a16:creationId xmlns:a16="http://schemas.microsoft.com/office/drawing/2014/main" id="{ABE4BBC8-6B18-4287-BF7C-DCE9EFD84D45}"/>
              </a:ext>
            </a:extLst>
          </p:cNvPr>
          <p:cNvSpPr>
            <a:spLocks xmlns:a="http://schemas.openxmlformats.org/drawingml/2006/main" noGrp="1"/>
          </p:cNvSpPr>
          <p:nvPr/>
        </p:nvSpPr>
        <p:spPr>
          <a:xfrm xmlns:a="http://schemas.openxmlformats.org/drawingml/2006/main">
            <a:off x="13568711" y="-4805116"/>
            <a:ext cx="9438577" cy="6748583"/>
          </a:xfrm>
          <a:custGeom xmlns:a="http://schemas.openxmlformats.org/drawingml/2006/main">
            <a:rect l="l" t="t" r="r" b="b"/>
            <a:pathLst>
              <a:path w="9438577" h="6748583">
                <a:moveTo>
                  <a:pt x="0" y="0"/>
                </a:moveTo>
                <a:lnTo>
                  <a:pt x="9438578" y="0"/>
                </a:lnTo>
                <a:lnTo>
                  <a:pt x="9438578" y="6748583"/>
                </a:lnTo>
                <a:lnTo>
                  <a:pt x="0" y="6748583"/>
                </a:lnTo>
                <a:lnTo>
                  <a:pt x="0" y="0"/>
                </a:lnTo>
                <a:close/>
              </a:path>
            </a:pathLst>
          </a:custGeom>
          <a:blipFill xmlns:a="http://schemas.openxmlformats.org/drawingml/2006/main">
            <a:blip xmlns:r="http://schemas.openxmlformats.org/officeDocument/2006/relationships" r:embed="R509f4d7909af4040">
              <a:extLst>
                <a:ext uri="{96DAC541-7B7A-43D3-8B79-37D633B846F1}">
                  <asvg:svgBlip xmlns:asvg="http://schemas.microsoft.com/office/drawing/2016/SVG/main" r:embed="Rc00d460348cc40f1"/>
                </a:ext>
              </a:extLst>
            </a:blip>
            <a:stretch>
              <a:fillRect l="0" t="0" r="0" b="0"/>
            </a:stretch>
          </a:blipFill>
        </p:spPr>
      </p:sp>
      <p:sp>
        <p:nvSpPr>
          <p:cNvPr id="20" name="Freeform 20">
            <a:extLst xmlns:a="http://schemas.openxmlformats.org/drawingml/2006/main">
              <a:ext uri="{FF2B5EF4-FFF2-40B4-BE49-F238E27FC236}">
                <a16:creationId xmlns:a16="http://schemas.microsoft.com/office/drawing/2014/main" id="{6172088A-0F6B-431C-87BC-01320FA0F2D3}"/>
              </a:ext>
            </a:extLst>
          </p:cNvPr>
          <p:cNvSpPr>
            <a:spLocks xmlns:a="http://schemas.openxmlformats.org/drawingml/2006/main" noGrp="1"/>
          </p:cNvSpPr>
          <p:nvPr/>
        </p:nvSpPr>
        <p:spPr>
          <a:xfrm xmlns:a="http://schemas.openxmlformats.org/drawingml/2006/main" rot="0" flipH="0" flipV="0">
            <a:off x="16128358" y="-1345011"/>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21" name="TextBox 21">
            <a:extLst xmlns:a="http://schemas.openxmlformats.org/drawingml/2006/main">
              <a:ext uri="{FF2B5EF4-FFF2-40B4-BE49-F238E27FC236}">
                <a16:creationId xmlns:a16="http://schemas.microsoft.com/office/drawing/2014/main" id="{3EF590A2-2A94-4D3D-B6E3-EDCF8E627540}"/>
              </a:ext>
            </a:extLst>
          </p:cNvPr>
          <p:cNvSpPr>
            <a:spLocks xmlns:a="http://schemas.openxmlformats.org/drawingml/2006/main" noGrp="1"/>
          </p:cNvSpPr>
          <p:nvPr/>
        </p:nvSpPr>
        <p:spPr>
          <a:xfrm xmlns:a="http://schemas.openxmlformats.org/drawingml/2006/main" rot="0" flipH="0" flipV="0">
            <a:off x="16712733" y="-1539802"/>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3" name="Freeform 23">
            <a:extLst xmlns:a="http://schemas.openxmlformats.org/drawingml/2006/main">
              <a:ext uri="{FF2B5EF4-FFF2-40B4-BE49-F238E27FC236}">
                <a16:creationId xmlns:a16="http://schemas.microsoft.com/office/drawing/2014/main" id="{412AAE70-6003-4A8D-B673-21FC762AFC05}"/>
              </a:ext>
            </a:extLst>
          </p:cNvPr>
          <p:cNvSpPr>
            <a:spLocks xmlns:a="http://schemas.openxmlformats.org/drawingml/2006/main" noGrp="1"/>
          </p:cNvSpPr>
          <p:nvPr/>
        </p:nvSpPr>
        <p:spPr>
          <a:xfrm xmlns:a="http://schemas.openxmlformats.org/drawingml/2006/main" rot="0" flipH="0" flipV="0">
            <a:off x="15234643" y="-327456"/>
            <a:ext cx="1787431" cy="153607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24" name="TextBox 24">
            <a:extLst xmlns:a="http://schemas.openxmlformats.org/drawingml/2006/main">
              <a:ext uri="{FF2B5EF4-FFF2-40B4-BE49-F238E27FC236}">
                <a16:creationId xmlns:a16="http://schemas.microsoft.com/office/drawing/2014/main" id="{D2F9A353-DE00-4844-81EC-FE83AA2C03FF}"/>
              </a:ext>
            </a:extLst>
          </p:cNvPr>
          <p:cNvSpPr>
            <a:spLocks xmlns:a="http://schemas.openxmlformats.org/drawingml/2006/main" noGrp="1"/>
          </p:cNvSpPr>
          <p:nvPr/>
        </p:nvSpPr>
        <p:spPr>
          <a:xfrm xmlns:a="http://schemas.openxmlformats.org/drawingml/2006/main" rot="0" flipH="0" flipV="0">
            <a:off x="15486000" y="-411241"/>
            <a:ext cx="1284716" cy="1619858"/>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6" name="Freeform 26">
            <a:extLst xmlns:a="http://schemas.openxmlformats.org/drawingml/2006/main">
              <a:ext uri="{FF2B5EF4-FFF2-40B4-BE49-F238E27FC236}">
                <a16:creationId xmlns:a16="http://schemas.microsoft.com/office/drawing/2014/main" id="{D13B7C20-1FC3-4158-975B-2599EEF7D8EF}"/>
              </a:ext>
            </a:extLst>
          </p:cNvPr>
          <p:cNvSpPr>
            <a:spLocks xmlns:a="http://schemas.openxmlformats.org/drawingml/2006/main" noGrp="1"/>
          </p:cNvSpPr>
          <p:nvPr/>
        </p:nvSpPr>
        <p:spPr>
          <a:xfrm xmlns:a="http://schemas.openxmlformats.org/drawingml/2006/main" rot="0" flipH="0" flipV="0">
            <a:off x="9637445" y="4360702"/>
            <a:ext cx="7935404" cy="616879"/>
          </a:xfrm>
          <a:custGeom xmlns:a="http://schemas.openxmlformats.org/drawingml/2006/main">
            <a:rect l="l" t="t" r="r" b="b"/>
            <a:pathLst>
              <a:path w="5227846" h="406400">
                <a:moveTo>
                  <a:pt x="5024646" y="0"/>
                </a:moveTo>
                <a:cubicBezTo>
                  <a:pt x="5136871" y="0"/>
                  <a:pt x="5227846" y="90976"/>
                  <a:pt x="5227846" y="203200"/>
                </a:cubicBezTo>
                <a:cubicBezTo>
                  <a:pt x="5227846" y="315424"/>
                  <a:pt x="5136871" y="406400"/>
                  <a:pt x="5024646" y="406400"/>
                </a:cubicBezTo>
                <a:lnTo>
                  <a:pt x="203200" y="406400"/>
                </a:lnTo>
                <a:cubicBezTo>
                  <a:pt x="90976" y="406400"/>
                  <a:pt x="0" y="315424"/>
                  <a:pt x="0" y="203200"/>
                </a:cubicBezTo>
                <a:cubicBezTo>
                  <a:pt x="0" y="90976"/>
                  <a:pt x="90976" y="0"/>
                  <a:pt x="203200"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27" name="TextBox 27">
            <a:extLst xmlns:a="http://schemas.openxmlformats.org/drawingml/2006/main">
              <a:ext uri="{FF2B5EF4-FFF2-40B4-BE49-F238E27FC236}">
                <a16:creationId xmlns:a16="http://schemas.microsoft.com/office/drawing/2014/main" id="{02917AB7-7081-4513-BAD1-167DD7CD2A33}"/>
              </a:ext>
            </a:extLst>
          </p:cNvPr>
          <p:cNvSpPr>
            <a:spLocks xmlns:a="http://schemas.openxmlformats.org/drawingml/2006/main" noGrp="1"/>
          </p:cNvSpPr>
          <p:nvPr/>
        </p:nvSpPr>
        <p:spPr>
          <a:xfrm xmlns:a="http://schemas.openxmlformats.org/drawingml/2006/main" rot="0" flipH="0" flipV="0">
            <a:off x="9637445" y="4302870"/>
            <a:ext cx="7935406"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9" name="Freeform 29">
            <a:extLst xmlns:a="http://schemas.openxmlformats.org/drawingml/2006/main">
              <a:ext uri="{FF2B5EF4-FFF2-40B4-BE49-F238E27FC236}">
                <a16:creationId xmlns:a16="http://schemas.microsoft.com/office/drawing/2014/main" id="{E2974BC3-4372-470B-8F61-B856C5C6BD0A}"/>
              </a:ext>
            </a:extLst>
          </p:cNvPr>
          <p:cNvSpPr>
            <a:spLocks xmlns:a="http://schemas.openxmlformats.org/drawingml/2006/main" noGrp="1"/>
          </p:cNvSpPr>
          <p:nvPr/>
        </p:nvSpPr>
        <p:spPr>
          <a:xfrm xmlns:a="http://schemas.openxmlformats.org/drawingml/2006/main" rot="0" flipH="0" flipV="0">
            <a:off x="9637445" y="5255656"/>
            <a:ext cx="7935404" cy="616879"/>
          </a:xfrm>
          <a:custGeom xmlns:a="http://schemas.openxmlformats.org/drawingml/2006/main">
            <a:rect l="l" t="t" r="r" b="b"/>
            <a:pathLst>
              <a:path w="5227846" h="406400">
                <a:moveTo>
                  <a:pt x="5024646" y="0"/>
                </a:moveTo>
                <a:cubicBezTo>
                  <a:pt x="5136871" y="0"/>
                  <a:pt x="5227846" y="90976"/>
                  <a:pt x="5227846" y="203200"/>
                </a:cubicBezTo>
                <a:cubicBezTo>
                  <a:pt x="5227846" y="315424"/>
                  <a:pt x="5136871" y="406400"/>
                  <a:pt x="5024646" y="406400"/>
                </a:cubicBezTo>
                <a:lnTo>
                  <a:pt x="203200" y="406400"/>
                </a:lnTo>
                <a:cubicBezTo>
                  <a:pt x="90976" y="406400"/>
                  <a:pt x="0" y="315424"/>
                  <a:pt x="0" y="203200"/>
                </a:cubicBezTo>
                <a:cubicBezTo>
                  <a:pt x="0" y="90976"/>
                  <a:pt x="90976" y="0"/>
                  <a:pt x="203200"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30" name="TextBox 30">
            <a:extLst xmlns:a="http://schemas.openxmlformats.org/drawingml/2006/main">
              <a:ext uri="{FF2B5EF4-FFF2-40B4-BE49-F238E27FC236}">
                <a16:creationId xmlns:a16="http://schemas.microsoft.com/office/drawing/2014/main" id="{0322DEEF-A363-4E98-B2E0-127D5EFC7F7D}"/>
              </a:ext>
            </a:extLst>
          </p:cNvPr>
          <p:cNvSpPr>
            <a:spLocks xmlns:a="http://schemas.openxmlformats.org/drawingml/2006/main" noGrp="1"/>
          </p:cNvSpPr>
          <p:nvPr/>
        </p:nvSpPr>
        <p:spPr>
          <a:xfrm xmlns:a="http://schemas.openxmlformats.org/drawingml/2006/main" rot="0" flipH="0" flipV="0">
            <a:off x="9637445" y="5197824"/>
            <a:ext cx="7935406"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32" name="Freeform 32">
            <a:extLst xmlns:a="http://schemas.openxmlformats.org/drawingml/2006/main">
              <a:ext uri="{FF2B5EF4-FFF2-40B4-BE49-F238E27FC236}">
                <a16:creationId xmlns:a16="http://schemas.microsoft.com/office/drawing/2014/main" id="{777A8F56-EA89-435E-8A25-A2DE1F70E2F9}"/>
              </a:ext>
            </a:extLst>
          </p:cNvPr>
          <p:cNvSpPr>
            <a:spLocks xmlns:a="http://schemas.openxmlformats.org/drawingml/2006/main" noGrp="1"/>
          </p:cNvSpPr>
          <p:nvPr/>
        </p:nvSpPr>
        <p:spPr>
          <a:xfrm xmlns:a="http://schemas.openxmlformats.org/drawingml/2006/main" rot="0" flipH="0" flipV="0">
            <a:off x="9637445" y="6150611"/>
            <a:ext cx="7935404" cy="616879"/>
          </a:xfrm>
          <a:custGeom xmlns:a="http://schemas.openxmlformats.org/drawingml/2006/main">
            <a:rect l="l" t="t" r="r" b="b"/>
            <a:pathLst>
              <a:path w="5227846" h="406400">
                <a:moveTo>
                  <a:pt x="5024646" y="0"/>
                </a:moveTo>
                <a:cubicBezTo>
                  <a:pt x="5136871" y="0"/>
                  <a:pt x="5227846" y="90976"/>
                  <a:pt x="5227846" y="203200"/>
                </a:cubicBezTo>
                <a:cubicBezTo>
                  <a:pt x="5227846" y="315424"/>
                  <a:pt x="5136871" y="406400"/>
                  <a:pt x="5024646" y="406400"/>
                </a:cubicBezTo>
                <a:lnTo>
                  <a:pt x="203200" y="406400"/>
                </a:lnTo>
                <a:cubicBezTo>
                  <a:pt x="90976" y="406400"/>
                  <a:pt x="0" y="315424"/>
                  <a:pt x="0" y="203200"/>
                </a:cubicBezTo>
                <a:cubicBezTo>
                  <a:pt x="0" y="90976"/>
                  <a:pt x="90976" y="0"/>
                  <a:pt x="203200"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33" name="TextBox 33">
            <a:extLst xmlns:a="http://schemas.openxmlformats.org/drawingml/2006/main">
              <a:ext uri="{FF2B5EF4-FFF2-40B4-BE49-F238E27FC236}">
                <a16:creationId xmlns:a16="http://schemas.microsoft.com/office/drawing/2014/main" id="{7718BF67-7C4F-45B3-82A6-B3FF5E356951}"/>
              </a:ext>
            </a:extLst>
          </p:cNvPr>
          <p:cNvSpPr>
            <a:spLocks xmlns:a="http://schemas.openxmlformats.org/drawingml/2006/main" noGrp="1"/>
          </p:cNvSpPr>
          <p:nvPr/>
        </p:nvSpPr>
        <p:spPr>
          <a:xfrm xmlns:a="http://schemas.openxmlformats.org/drawingml/2006/main" rot="0" flipH="0" flipV="0">
            <a:off x="9637445" y="6092779"/>
            <a:ext cx="7935406"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35" name="Freeform 35">
            <a:extLst xmlns:a="http://schemas.openxmlformats.org/drawingml/2006/main">
              <a:ext uri="{FF2B5EF4-FFF2-40B4-BE49-F238E27FC236}">
                <a16:creationId xmlns:a16="http://schemas.microsoft.com/office/drawing/2014/main" id="{DB18F682-BFE1-4FB1-A84B-963493C012DC}"/>
              </a:ext>
            </a:extLst>
          </p:cNvPr>
          <p:cNvSpPr>
            <a:spLocks xmlns:a="http://schemas.openxmlformats.org/drawingml/2006/main" noGrp="1"/>
          </p:cNvSpPr>
          <p:nvPr/>
        </p:nvSpPr>
        <p:spPr>
          <a:xfrm xmlns:a="http://schemas.openxmlformats.org/drawingml/2006/main" rot="0" flipH="0" flipV="0">
            <a:off x="9637445" y="7045565"/>
            <a:ext cx="7935404" cy="616879"/>
          </a:xfrm>
          <a:custGeom xmlns:a="http://schemas.openxmlformats.org/drawingml/2006/main">
            <a:rect l="l" t="t" r="r" b="b"/>
            <a:pathLst>
              <a:path w="5227846" h="406400">
                <a:moveTo>
                  <a:pt x="5024646" y="0"/>
                </a:moveTo>
                <a:cubicBezTo>
                  <a:pt x="5136871" y="0"/>
                  <a:pt x="5227846" y="90976"/>
                  <a:pt x="5227846" y="203200"/>
                </a:cubicBezTo>
                <a:cubicBezTo>
                  <a:pt x="5227846" y="315424"/>
                  <a:pt x="5136871" y="406400"/>
                  <a:pt x="5024646" y="406400"/>
                </a:cubicBezTo>
                <a:lnTo>
                  <a:pt x="203200" y="406400"/>
                </a:lnTo>
                <a:cubicBezTo>
                  <a:pt x="90976" y="406400"/>
                  <a:pt x="0" y="315424"/>
                  <a:pt x="0" y="203200"/>
                </a:cubicBezTo>
                <a:cubicBezTo>
                  <a:pt x="0" y="90976"/>
                  <a:pt x="90976" y="0"/>
                  <a:pt x="203200"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36" name="TextBox 36">
            <a:extLst xmlns:a="http://schemas.openxmlformats.org/drawingml/2006/main">
              <a:ext uri="{FF2B5EF4-FFF2-40B4-BE49-F238E27FC236}">
                <a16:creationId xmlns:a16="http://schemas.microsoft.com/office/drawing/2014/main" id="{67229B06-3CD4-45A1-B02A-B7057858A2F5}"/>
              </a:ext>
            </a:extLst>
          </p:cNvPr>
          <p:cNvSpPr>
            <a:spLocks xmlns:a="http://schemas.openxmlformats.org/drawingml/2006/main" noGrp="1"/>
          </p:cNvSpPr>
          <p:nvPr/>
        </p:nvSpPr>
        <p:spPr>
          <a:xfrm xmlns:a="http://schemas.openxmlformats.org/drawingml/2006/main" rot="0" flipH="0" flipV="0">
            <a:off x="9637445" y="6987733"/>
            <a:ext cx="7935406"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38" name="Freeform 38">
            <a:extLst xmlns:a="http://schemas.openxmlformats.org/drawingml/2006/main">
              <a:ext uri="{FF2B5EF4-FFF2-40B4-BE49-F238E27FC236}">
                <a16:creationId xmlns:a16="http://schemas.microsoft.com/office/drawing/2014/main" id="{74D284E3-B239-4FD7-9BEC-B2F959333719}"/>
              </a:ext>
            </a:extLst>
          </p:cNvPr>
          <p:cNvSpPr>
            <a:spLocks xmlns:a="http://schemas.openxmlformats.org/drawingml/2006/main" noGrp="1"/>
          </p:cNvSpPr>
          <p:nvPr/>
        </p:nvSpPr>
        <p:spPr>
          <a:xfrm xmlns:a="http://schemas.openxmlformats.org/drawingml/2006/main" rot="0" flipH="0" flipV="0">
            <a:off x="9637445" y="7938669"/>
            <a:ext cx="7935404" cy="616879"/>
          </a:xfrm>
          <a:custGeom xmlns:a="http://schemas.openxmlformats.org/drawingml/2006/main">
            <a:rect l="l" t="t" r="r" b="b"/>
            <a:pathLst>
              <a:path w="5227846" h="406400">
                <a:moveTo>
                  <a:pt x="5024646" y="0"/>
                </a:moveTo>
                <a:cubicBezTo>
                  <a:pt x="5136871" y="0"/>
                  <a:pt x="5227846" y="90976"/>
                  <a:pt x="5227846" y="203200"/>
                </a:cubicBezTo>
                <a:cubicBezTo>
                  <a:pt x="5227846" y="315424"/>
                  <a:pt x="5136871" y="406400"/>
                  <a:pt x="5024646" y="406400"/>
                </a:cubicBezTo>
                <a:lnTo>
                  <a:pt x="203200" y="406400"/>
                </a:lnTo>
                <a:cubicBezTo>
                  <a:pt x="90976" y="406400"/>
                  <a:pt x="0" y="315424"/>
                  <a:pt x="0" y="203200"/>
                </a:cubicBezTo>
                <a:cubicBezTo>
                  <a:pt x="0" y="90976"/>
                  <a:pt x="90976" y="0"/>
                  <a:pt x="203200"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39" name="TextBox 39">
            <a:extLst xmlns:a="http://schemas.openxmlformats.org/drawingml/2006/main">
              <a:ext uri="{FF2B5EF4-FFF2-40B4-BE49-F238E27FC236}">
                <a16:creationId xmlns:a16="http://schemas.microsoft.com/office/drawing/2014/main" id="{0C5D22EB-30A2-45C8-8F09-A4FFB3E67EAE}"/>
              </a:ext>
            </a:extLst>
          </p:cNvPr>
          <p:cNvSpPr>
            <a:spLocks xmlns:a="http://schemas.openxmlformats.org/drawingml/2006/main" noGrp="1"/>
          </p:cNvSpPr>
          <p:nvPr/>
        </p:nvSpPr>
        <p:spPr>
          <a:xfrm xmlns:a="http://schemas.openxmlformats.org/drawingml/2006/main" rot="0" flipH="0" flipV="0">
            <a:off x="9637445" y="7880837"/>
            <a:ext cx="7935406"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41" name="Freeform 41">
            <a:extLst xmlns:a="http://schemas.openxmlformats.org/drawingml/2006/main">
              <a:ext uri="{FF2B5EF4-FFF2-40B4-BE49-F238E27FC236}">
                <a16:creationId xmlns:a16="http://schemas.microsoft.com/office/drawing/2014/main" id="{567DA89A-4085-4140-AF19-25507E796B8D}"/>
              </a:ext>
            </a:extLst>
          </p:cNvPr>
          <p:cNvSpPr>
            <a:spLocks xmlns:a="http://schemas.openxmlformats.org/drawingml/2006/main" noGrp="1"/>
          </p:cNvSpPr>
          <p:nvPr/>
        </p:nvSpPr>
        <p:spPr>
          <a:xfrm xmlns:a="http://schemas.openxmlformats.org/drawingml/2006/main" rot="0" flipH="0" flipV="0">
            <a:off x="1296008" y="7938669"/>
            <a:ext cx="7244857" cy="616879"/>
          </a:xfrm>
          <a:custGeom xmlns:a="http://schemas.openxmlformats.org/drawingml/2006/main">
            <a:rect l="l" t="t" r="r" b="b"/>
            <a:pathLst>
              <a:path w="4772913" h="406400">
                <a:moveTo>
                  <a:pt x="4569713" y="0"/>
                </a:moveTo>
                <a:cubicBezTo>
                  <a:pt x="4681937" y="0"/>
                  <a:pt x="4772913" y="90976"/>
                  <a:pt x="4772913" y="203200"/>
                </a:cubicBezTo>
                <a:cubicBezTo>
                  <a:pt x="4772913" y="315424"/>
                  <a:pt x="4681937" y="406400"/>
                  <a:pt x="4569713" y="406400"/>
                </a:cubicBezTo>
                <a:lnTo>
                  <a:pt x="203200" y="406400"/>
                </a:lnTo>
                <a:cubicBezTo>
                  <a:pt x="90976" y="406400"/>
                  <a:pt x="0" y="315424"/>
                  <a:pt x="0" y="203200"/>
                </a:cubicBezTo>
                <a:cubicBezTo>
                  <a:pt x="0" y="90976"/>
                  <a:pt x="90976" y="0"/>
                  <a:pt x="203200" y="0"/>
                </a:cubicBezTo>
                <a:close/>
              </a:path>
            </a:pathLst>
          </a:custGeom>
          <a:gradFill xmlns:a="http://schemas.openxmlformats.org/drawingml/2006/main" rotWithShape="1">
            <a:gsLst>
              <a:gs pos="0">
                <a:srgbClr val="31A1D4">
                  <a:alpha val="100000"/>
                </a:srgbClr>
              </a:gs>
              <a:gs pos="100000">
                <a:srgbClr val="035E8E">
                  <a:alpha val="100000"/>
                </a:srgbClr>
              </a:gs>
            </a:gsLst>
            <a:lin ang="0"/>
          </a:gradFill>
        </p:spPr>
      </p:sp>
      <p:sp>
        <p:nvSpPr>
          <p:cNvPr id="42" name="TextBox 42">
            <a:extLst xmlns:a="http://schemas.openxmlformats.org/drawingml/2006/main">
              <a:ext uri="{FF2B5EF4-FFF2-40B4-BE49-F238E27FC236}">
                <a16:creationId xmlns:a16="http://schemas.microsoft.com/office/drawing/2014/main" id="{B2E33E7A-1120-4DC2-AFC4-5655792FB1F8}"/>
              </a:ext>
            </a:extLst>
          </p:cNvPr>
          <p:cNvSpPr>
            <a:spLocks xmlns:a="http://schemas.openxmlformats.org/drawingml/2006/main" noGrp="1"/>
          </p:cNvSpPr>
          <p:nvPr/>
        </p:nvSpPr>
        <p:spPr>
          <a:xfrm xmlns:a="http://schemas.openxmlformats.org/drawingml/2006/main" rot="0" flipH="0" flipV="0">
            <a:off x="1296008" y="7880837"/>
            <a:ext cx="7244857" cy="674711"/>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43" name="TextBox 43">
            <a:extLst xmlns:a="http://schemas.openxmlformats.org/drawingml/2006/main">
              <a:ext uri="{FF2B5EF4-FFF2-40B4-BE49-F238E27FC236}">
                <a16:creationId xmlns:a16="http://schemas.microsoft.com/office/drawing/2014/main" id="{7FA03366-45F5-4C1C-927D-0049F4DD12BC}"/>
              </a:ext>
            </a:extLst>
          </p:cNvPr>
          <p:cNvSpPr>
            <a:spLocks xmlns:a="http://schemas.openxmlformats.org/drawingml/2006/main" noGrp="1"/>
          </p:cNvSpPr>
          <p:nvPr/>
        </p:nvSpPr>
        <p:spPr>
          <a:xfrm xmlns:a="http://schemas.openxmlformats.org/drawingml/2006/main">
            <a:off x="9637445" y="2212363"/>
            <a:ext cx="8313658" cy="113005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9265"/>
              </a:lnSpc>
              <a:spcBef>
                <a:spcPct val="0"/>
              </a:spcBef>
              <a:buNone/>
            </a:pPr>
            <a:r>
              <a:rPr sz="6620" b="1">
                <a:solidFill>
                  <a:srgbClr val="FFFFFF"/>
                </a:solidFill>
                <a:latin typeface="TT Lakes Neue Extended Bold"/>
                <a:ea typeface="TT Lakes Neue Extended Bold"/>
                <a:cs typeface="TT Lakes Neue Extended Bold"/>
              </a:rPr>
              <a:t>OTA AN TOÀN</a:t>
            </a:r>
          </a:p>
        </p:txBody>
      </p:sp>
      <p:sp>
        <p:nvSpPr>
          <p:cNvPr id="44" name="TextBox 44">
            <a:extLst xmlns:a="http://schemas.openxmlformats.org/drawingml/2006/main">
              <a:ext uri="{FF2B5EF4-FFF2-40B4-BE49-F238E27FC236}">
                <a16:creationId xmlns:a16="http://schemas.microsoft.com/office/drawing/2014/main" id="{F15909CE-9FD0-49DC-B3E4-7EBEB34DA7B5}"/>
              </a:ext>
            </a:extLst>
          </p:cNvPr>
          <p:cNvSpPr>
            <a:spLocks xmlns:a="http://schemas.openxmlformats.org/drawingml/2006/main" noGrp="1"/>
          </p:cNvSpPr>
          <p:nvPr/>
        </p:nvSpPr>
        <p:spPr>
          <a:xfrm xmlns:a="http://schemas.openxmlformats.org/drawingml/2006/main">
            <a:off x="1519577" y="4463699"/>
            <a:ext cx="7021288"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1. Thiết bị nhận gói firmwar</a:t>
            </a:r>
            <a:r>
              <a:rPr sz="2200" b="1">
                <a:solidFill>
                  <a:srgbClr val="FFFFFF"/>
                </a:solidFill>
                <a:latin typeface="Montserrat Bold"/>
                <a:ea typeface="Montserrat Bold"/>
                <a:cs typeface="Montserrat Bold"/>
              </a:rPr>
              <a:t>e và manifest.</a:t>
            </a:r>
          </a:p>
        </p:txBody>
      </p:sp>
      <p:sp>
        <p:nvSpPr>
          <p:cNvPr id="45" name="TextBox 45">
            <a:extLst xmlns:a="http://schemas.openxmlformats.org/drawingml/2006/main">
              <a:ext uri="{FF2B5EF4-FFF2-40B4-BE49-F238E27FC236}">
                <a16:creationId xmlns:a16="http://schemas.microsoft.com/office/drawing/2014/main" id="{35BFDE0B-EF51-4FED-9481-A9466D38E769}"/>
              </a:ext>
            </a:extLst>
          </p:cNvPr>
          <p:cNvSpPr>
            <a:spLocks xmlns:a="http://schemas.openxmlformats.org/drawingml/2006/main" noGrp="1"/>
          </p:cNvSpPr>
          <p:nvPr/>
        </p:nvSpPr>
        <p:spPr>
          <a:xfrm xmlns:a="http://schemas.openxmlformats.org/drawingml/2006/main">
            <a:off x="1519577" y="5358653"/>
            <a:ext cx="7021288"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2. Kiểm</a:t>
            </a:r>
            <a:r>
              <a:rPr sz="2200" b="1">
                <a:solidFill>
                  <a:srgbClr val="FFFFFF"/>
                </a:solidFill>
                <a:latin typeface="Montserrat Bold"/>
                <a:ea typeface="Montserrat Bold"/>
                <a:cs typeface="Montserrat Bold"/>
              </a:rPr>
              <a:t> tra cấu trúc, kích thước và thiết bị đích.</a:t>
            </a:r>
          </a:p>
        </p:txBody>
      </p:sp>
      <p:sp>
        <p:nvSpPr>
          <p:cNvPr id="46" name="TextBox 46">
            <a:extLst xmlns:a="http://schemas.openxmlformats.org/drawingml/2006/main">
              <a:ext uri="{FF2B5EF4-FFF2-40B4-BE49-F238E27FC236}">
                <a16:creationId xmlns:a16="http://schemas.microsoft.com/office/drawing/2014/main" id="{DEEE8DB4-4668-4966-B53A-D9F6CFDE6192}"/>
              </a:ext>
            </a:extLst>
          </p:cNvPr>
          <p:cNvSpPr>
            <a:spLocks xmlns:a="http://schemas.openxmlformats.org/drawingml/2006/main" noGrp="1"/>
          </p:cNvSpPr>
          <p:nvPr/>
        </p:nvSpPr>
        <p:spPr>
          <a:xfrm xmlns:a="http://schemas.openxmlformats.org/drawingml/2006/main">
            <a:off x="1519577" y="6253607"/>
            <a:ext cx="7021288"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3. Xác minh</a:t>
            </a:r>
            <a:r>
              <a:rPr sz="2200" b="1">
                <a:solidFill>
                  <a:srgbClr val="FFFFFF"/>
                </a:solidFill>
                <a:latin typeface="Montserrat Bold"/>
                <a:ea typeface="Montserrat Bold"/>
                <a:cs typeface="Montserrat Bold"/>
              </a:rPr>
              <a:t> chữ ký số của manifest.</a:t>
            </a:r>
          </a:p>
        </p:txBody>
      </p:sp>
      <p:sp>
        <p:nvSpPr>
          <p:cNvPr id="47" name="TextBox 47">
            <a:extLst xmlns:a="http://schemas.openxmlformats.org/drawingml/2006/main">
              <a:ext uri="{FF2B5EF4-FFF2-40B4-BE49-F238E27FC236}">
                <a16:creationId xmlns:a16="http://schemas.microsoft.com/office/drawing/2014/main" id="{27D9A0E9-5B75-4C61-B6BE-C457AD25BB30}"/>
              </a:ext>
            </a:extLst>
          </p:cNvPr>
          <p:cNvSpPr>
            <a:spLocks xmlns:a="http://schemas.openxmlformats.org/drawingml/2006/main" noGrp="1"/>
          </p:cNvSpPr>
          <p:nvPr/>
        </p:nvSpPr>
        <p:spPr>
          <a:xfrm xmlns:a="http://schemas.openxmlformats.org/drawingml/2006/main">
            <a:off x="1519577" y="7148562"/>
            <a:ext cx="7021288"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4. So</a:t>
            </a:r>
            <a:r>
              <a:rPr sz="2200" b="1">
                <a:solidFill>
                  <a:srgbClr val="FFFFFF"/>
                </a:solidFill>
                <a:latin typeface="Montserrat Bold"/>
                <a:ea typeface="Montserrat Bold"/>
                <a:cs typeface="Montserrat Bold"/>
              </a:rPr>
              <a:t> sánh sequence để chống rollback.</a:t>
            </a:r>
          </a:p>
        </p:txBody>
      </p:sp>
      <p:sp>
        <p:nvSpPr>
          <p:cNvPr id="48" name="TextBox 48">
            <a:extLst xmlns:a="http://schemas.openxmlformats.org/drawingml/2006/main">
              <a:ext uri="{FF2B5EF4-FFF2-40B4-BE49-F238E27FC236}">
                <a16:creationId xmlns:a16="http://schemas.microsoft.com/office/drawing/2014/main" id="{F53D946A-F5D7-4735-8609-C818084D110B}"/>
              </a:ext>
            </a:extLst>
          </p:cNvPr>
          <p:cNvSpPr>
            <a:spLocks xmlns:a="http://schemas.openxmlformats.org/drawingml/2006/main" noGrp="1"/>
          </p:cNvSpPr>
          <p:nvPr/>
        </p:nvSpPr>
        <p:spPr>
          <a:xfrm xmlns:a="http://schemas.openxmlformats.org/drawingml/2006/main">
            <a:off x="9933585" y="4454018"/>
            <a:ext cx="6513288"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6. Đối chiếu kích thước</a:t>
            </a:r>
            <a:r>
              <a:rPr sz="2200" b="1">
                <a:solidFill>
                  <a:srgbClr val="FFFFFF"/>
                </a:solidFill>
                <a:latin typeface="Montserrat Bold"/>
                <a:ea typeface="Montserrat Bold"/>
                <a:cs typeface="Montserrat Bold"/>
              </a:rPr>
              <a:t> và SHA-256.</a:t>
            </a:r>
          </a:p>
        </p:txBody>
      </p:sp>
      <p:sp>
        <p:nvSpPr>
          <p:cNvPr id="49" name="TextBox 49">
            <a:extLst xmlns:a="http://schemas.openxmlformats.org/drawingml/2006/main">
              <a:ext uri="{FF2B5EF4-FFF2-40B4-BE49-F238E27FC236}">
                <a16:creationId xmlns:a16="http://schemas.microsoft.com/office/drawing/2014/main" id="{6C8D7D23-44EC-41FD-BB45-89C27675BFF0}"/>
              </a:ext>
            </a:extLst>
          </p:cNvPr>
          <p:cNvSpPr>
            <a:spLocks xmlns:a="http://schemas.openxmlformats.org/drawingml/2006/main" noGrp="1"/>
          </p:cNvSpPr>
          <p:nvPr/>
        </p:nvSpPr>
        <p:spPr>
          <a:xfrm xmlns:a="http://schemas.openxmlformats.org/drawingml/2006/main">
            <a:off x="9933585" y="5358623"/>
            <a:ext cx="6513288"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7. Ghi</a:t>
            </a:r>
            <a:r>
              <a:rPr sz="2200" b="1">
                <a:solidFill>
                  <a:srgbClr val="FFFFFF"/>
                </a:solidFill>
                <a:latin typeface="Montserrat Bold"/>
                <a:ea typeface="Montserrat Bold"/>
                <a:cs typeface="Montserrat Bold"/>
              </a:rPr>
              <a:t> firmware vào vùng staging.</a:t>
            </a:r>
          </a:p>
        </p:txBody>
      </p:sp>
      <p:sp>
        <p:nvSpPr>
          <p:cNvPr id="50" name="TextBox 50">
            <a:extLst xmlns:a="http://schemas.openxmlformats.org/drawingml/2006/main">
              <a:ext uri="{FF2B5EF4-FFF2-40B4-BE49-F238E27FC236}">
                <a16:creationId xmlns:a16="http://schemas.microsoft.com/office/drawing/2014/main" id="{DF3BEF50-DD2D-4659-8D4C-761CD4A816A3}"/>
              </a:ext>
            </a:extLst>
          </p:cNvPr>
          <p:cNvSpPr>
            <a:spLocks xmlns:a="http://schemas.openxmlformats.org/drawingml/2006/main" noGrp="1"/>
          </p:cNvSpPr>
          <p:nvPr/>
        </p:nvSpPr>
        <p:spPr>
          <a:xfrm xmlns:a="http://schemas.openxmlformats.org/drawingml/2006/main">
            <a:off x="9933585" y="6253535"/>
            <a:ext cx="6513288"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8. Khởi động và thự</a:t>
            </a:r>
            <a:r>
              <a:rPr sz="2200" b="1">
                <a:solidFill>
                  <a:srgbClr val="FFFFFF"/>
                </a:solidFill>
                <a:latin typeface="Montserrat Bold"/>
                <a:ea typeface="Montserrat Bold"/>
                <a:cs typeface="Montserrat Bold"/>
              </a:rPr>
              <a:t>c hiện self-test.</a:t>
            </a:r>
          </a:p>
        </p:txBody>
      </p:sp>
      <p:sp>
        <p:nvSpPr>
          <p:cNvPr id="51" name="TextBox 51">
            <a:extLst xmlns:a="http://schemas.openxmlformats.org/drawingml/2006/main">
              <a:ext uri="{FF2B5EF4-FFF2-40B4-BE49-F238E27FC236}">
                <a16:creationId xmlns:a16="http://schemas.microsoft.com/office/drawing/2014/main" id="{FE13A66D-50D4-4CAB-BDAB-2459E5A63642}"/>
              </a:ext>
            </a:extLst>
          </p:cNvPr>
          <p:cNvSpPr>
            <a:spLocks xmlns:a="http://schemas.openxmlformats.org/drawingml/2006/main" noGrp="1"/>
          </p:cNvSpPr>
          <p:nvPr/>
        </p:nvSpPr>
        <p:spPr>
          <a:xfrm xmlns:a="http://schemas.openxmlformats.org/drawingml/2006/main">
            <a:off x="9933585" y="7148490"/>
            <a:ext cx="6513288"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9. S</a:t>
            </a:r>
            <a:r>
              <a:rPr sz="2200" b="1">
                <a:solidFill>
                  <a:srgbClr val="FFFFFF"/>
                </a:solidFill>
                <a:latin typeface="Montserrat Bold"/>
                <a:ea typeface="Montserrat Bold"/>
                <a:cs typeface="Montserrat Bold"/>
              </a:rPr>
              <a:t>elf-test đạt: kích hoạt phiên bản mới.</a:t>
            </a:r>
          </a:p>
        </p:txBody>
      </p:sp>
      <p:sp>
        <p:nvSpPr>
          <p:cNvPr id="52" name="TextBox 52">
            <a:extLst xmlns:a="http://schemas.openxmlformats.org/drawingml/2006/main">
              <a:ext uri="{FF2B5EF4-FFF2-40B4-BE49-F238E27FC236}">
                <a16:creationId xmlns:a16="http://schemas.microsoft.com/office/drawing/2014/main" id="{62FFC014-0E3F-41A3-A5AB-AF06EEA96F16}"/>
              </a:ext>
            </a:extLst>
          </p:cNvPr>
          <p:cNvSpPr>
            <a:spLocks xmlns:a="http://schemas.openxmlformats.org/drawingml/2006/main" noGrp="1"/>
          </p:cNvSpPr>
          <p:nvPr/>
        </p:nvSpPr>
        <p:spPr>
          <a:xfrm xmlns:a="http://schemas.openxmlformats.org/drawingml/2006/main">
            <a:off x="9735597" y="8039595"/>
            <a:ext cx="8029388"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10. Self-te</a:t>
            </a:r>
            <a:r>
              <a:rPr sz="2200" b="1">
                <a:solidFill>
                  <a:srgbClr val="FFFFFF"/>
                </a:solidFill>
                <a:latin typeface="Montserrat Bold"/>
                <a:ea typeface="Montserrat Bold"/>
                <a:cs typeface="Montserrat Bold"/>
              </a:rPr>
              <a:t>st thất bại: giữ hoặc khôi phục firmware cũ.</a:t>
            </a:r>
          </a:p>
        </p:txBody>
      </p:sp>
      <p:sp>
        <p:nvSpPr>
          <p:cNvPr id="53" name="TextBox 53">
            <a:extLst xmlns:a="http://schemas.openxmlformats.org/drawingml/2006/main">
              <a:ext uri="{FF2B5EF4-FFF2-40B4-BE49-F238E27FC236}">
                <a16:creationId xmlns:a16="http://schemas.microsoft.com/office/drawing/2014/main" id="{BD9C9EF4-3A61-46D2-928C-A8930D1A8215}"/>
              </a:ext>
            </a:extLst>
          </p:cNvPr>
          <p:cNvSpPr>
            <a:spLocks xmlns:a="http://schemas.openxmlformats.org/drawingml/2006/main" noGrp="1"/>
          </p:cNvSpPr>
          <p:nvPr/>
        </p:nvSpPr>
        <p:spPr>
          <a:xfrm xmlns:a="http://schemas.openxmlformats.org/drawingml/2006/main">
            <a:off x="1519577" y="8043444"/>
            <a:ext cx="7021288"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75"/>
              </a:lnSpc>
              <a:spcBef>
                <a:spcPct val="0"/>
              </a:spcBef>
              <a:buNone/>
            </a:pPr>
            <a:r>
              <a:rPr sz="2200" b="1">
                <a:solidFill>
                  <a:srgbClr val="FFFFFF"/>
                </a:solidFill>
                <a:latin typeface="Montserrat Bold"/>
                <a:ea typeface="Montserrat Bold"/>
                <a:cs typeface="Montserrat Bold"/>
              </a:rPr>
              <a:t>5. Giải mã và</a:t>
            </a:r>
            <a:r>
              <a:rPr sz="2200" b="1">
                <a:solidFill>
                  <a:srgbClr val="FFFFFF"/>
                </a:solidFill>
                <a:latin typeface="Montserrat Bold"/>
                <a:ea typeface="Montserrat Bold"/>
                <a:cs typeface="Montserrat Bold"/>
              </a:rPr>
              <a:t> xác thực firmware bằng AES-GCM.</a:t>
            </a:r>
          </a:p>
        </p:txBody>
      </p:sp>
      <p:sp>
        <p:nvSpPr>
          <p:cNvPr id="54" name="TextBox 54">
            <a:extLst xmlns:a="http://schemas.openxmlformats.org/drawingml/2006/main">
              <a:ext uri="{FF2B5EF4-FFF2-40B4-BE49-F238E27FC236}">
                <a16:creationId xmlns:a16="http://schemas.microsoft.com/office/drawing/2014/main" id="{FCC924BE-2CA5-41FA-A71B-7DE832ED3C50}"/>
              </a:ext>
            </a:extLst>
          </p:cNvPr>
          <p:cNvSpPr>
            <a:spLocks xmlns:a="http://schemas.openxmlformats.org/drawingml/2006/main" noGrp="1"/>
          </p:cNvSpPr>
          <p:nvPr/>
        </p:nvSpPr>
        <p:spPr>
          <a:xfrm xmlns:a="http://schemas.openxmlformats.org/drawingml/2006/main">
            <a:off x="1324567" y="8918373"/>
            <a:ext cx="14877596" cy="46553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755"/>
              </a:lnSpc>
              <a:spcBef>
                <a:spcPct val="0"/>
              </a:spcBef>
              <a:buNone/>
            </a:pPr>
            <a:r>
              <a:rPr sz="2680" b="1">
                <a:solidFill>
                  <a:srgbClr val="FFFFFF"/>
                </a:solidFill>
                <a:latin typeface="Montserrat Bold"/>
                <a:ea typeface="Montserrat Bold"/>
                <a:cs typeface="Montserrat Bold"/>
              </a:rPr>
              <a:t>Nguyên tắc: Chỉ cài đặt sau khi tất cả bước xác minh đều thành công.</a:t>
            </a:r>
          </a:p>
        </p:txBody>
      </p:sp>
    </p:spTree>
    <p:extLst>
      <p:ext uri="{BB962C8B-B14F-4D97-AF65-F5344CB8AC3E}">
        <p14:creationId xmlns:p14="http://schemas.microsoft.com/office/powerpoint/2010/main" val="162405509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DD2FD007-DE89-406F-B7F0-CB30610D9CFB}"/>
              </a:ext>
            </a:extLst>
          </p:cNvPr>
          <p:cNvSpPr>
            <a:spLocks xmlns:a="http://schemas.openxmlformats.org/drawingml/2006/main" noGrp="1"/>
          </p:cNvSpPr>
          <p:nvPr/>
        </p:nvSpPr>
        <p:spPr>
          <a:xfrm xmlns:a="http://schemas.openxmlformats.org/drawingml/2006/main" flipV="1">
            <a:off x="0" y="0"/>
            <a:ext cx="18288000" cy="10287000"/>
          </a:xfrm>
          <a:custGeom xmlns:a="http://schemas.openxmlformats.org/drawingml/2006/main">
            <a:rect l="l" t="t" r="r" b="b"/>
            <a:pathLst>
              <a:path w="18288000" h="10287000">
                <a:moveTo>
                  <a:pt x="0" y="10287000"/>
                </a:moveTo>
                <a:lnTo>
                  <a:pt x="18288000" y="10287000"/>
                </a:lnTo>
                <a:lnTo>
                  <a:pt x="18288000" y="0"/>
                </a:lnTo>
                <a:lnTo>
                  <a:pt x="0" y="0"/>
                </a:lnTo>
                <a:lnTo>
                  <a:pt x="0" y="10287000"/>
                </a:lnTo>
                <a:close/>
              </a:path>
            </a:pathLst>
          </a:custGeom>
          <a:blipFill xmlns:a="http://schemas.openxmlformats.org/drawingml/2006/main">
            <a:blip xmlns:r="http://schemas.openxmlformats.org/officeDocument/2006/relationships" r:embed="Rc60cb98051844b79"/>
            <a:stretch>
              <a:fillRect l="0" t="-124631" r="-124631" b="0"/>
            </a:stretch>
          </a:blipFill>
        </p:spPr>
      </p:sp>
      <p:sp>
        <p:nvSpPr>
          <p:cNvPr id="4" name="Freeform 4">
            <a:extLst xmlns:a="http://schemas.openxmlformats.org/drawingml/2006/main">
              <a:ext uri="{FF2B5EF4-FFF2-40B4-BE49-F238E27FC236}">
                <a16:creationId xmlns:a16="http://schemas.microsoft.com/office/drawing/2014/main" id="{30F4ED53-C30B-489E-AC71-C21456B4912D}"/>
              </a:ext>
            </a:extLst>
          </p:cNvPr>
          <p:cNvSpPr>
            <a:spLocks xmlns:a="http://schemas.openxmlformats.org/drawingml/2006/main" noGrp="1"/>
          </p:cNvSpPr>
          <p:nvPr/>
        </p:nvSpPr>
        <p:spPr>
          <a:xfrm xmlns:a="http://schemas.openxmlformats.org/drawingml/2006/main" rot="0" flipH="0" flipV="0">
            <a:off x="1028700" y="5443906"/>
            <a:ext cx="4003288" cy="3374910"/>
          </a:xfrm>
          <a:custGeom xmlns:a="http://schemas.openxmlformats.org/drawingml/2006/main">
            <a:rect l="l" t="t" r="r" b="b"/>
            <a:pathLst>
              <a:path w="390981" h="329610">
                <a:moveTo>
                  <a:pt x="48347" y="0"/>
                </a:moveTo>
                <a:lnTo>
                  <a:pt x="342633" y="0"/>
                </a:lnTo>
                <a:cubicBezTo>
                  <a:pt x="369335" y="0"/>
                  <a:pt x="390981" y="21646"/>
                  <a:pt x="390981" y="48347"/>
                </a:cubicBezTo>
                <a:lnTo>
                  <a:pt x="390981" y="281263"/>
                </a:lnTo>
                <a:cubicBezTo>
                  <a:pt x="390981" y="294085"/>
                  <a:pt x="385887" y="306383"/>
                  <a:pt x="376820" y="315450"/>
                </a:cubicBezTo>
                <a:cubicBezTo>
                  <a:pt x="367753" y="324516"/>
                  <a:pt x="355456" y="329610"/>
                  <a:pt x="342633" y="329610"/>
                </a:cubicBezTo>
                <a:lnTo>
                  <a:pt x="48347" y="329610"/>
                </a:lnTo>
                <a:cubicBezTo>
                  <a:pt x="21646" y="329610"/>
                  <a:pt x="0" y="307964"/>
                  <a:pt x="0" y="281263"/>
                </a:cubicBezTo>
                <a:lnTo>
                  <a:pt x="0" y="48347"/>
                </a:lnTo>
                <a:cubicBezTo>
                  <a:pt x="0" y="21646"/>
                  <a:pt x="21646" y="0"/>
                  <a:pt x="48347"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5" name="TextBox 5">
            <a:extLst xmlns:a="http://schemas.openxmlformats.org/drawingml/2006/main">
              <a:ext uri="{FF2B5EF4-FFF2-40B4-BE49-F238E27FC236}">
                <a16:creationId xmlns:a16="http://schemas.microsoft.com/office/drawing/2014/main" id="{9063D820-A5A9-4FA0-8EC2-DA8F8321C27F}"/>
              </a:ext>
            </a:extLst>
          </p:cNvPr>
          <p:cNvSpPr>
            <a:spLocks xmlns:a="http://schemas.openxmlformats.org/drawingml/2006/main" noGrp="1"/>
          </p:cNvSpPr>
          <p:nvPr/>
        </p:nvSpPr>
        <p:spPr>
          <a:xfrm xmlns:a="http://schemas.openxmlformats.org/drawingml/2006/main" rot="0" flipH="0" flipV="0">
            <a:off x="1028700" y="5053797"/>
            <a:ext cx="4003288" cy="3765019"/>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7" name="Freeform 7">
            <a:extLst xmlns:a="http://schemas.openxmlformats.org/drawingml/2006/main">
              <a:ext uri="{FF2B5EF4-FFF2-40B4-BE49-F238E27FC236}">
                <a16:creationId xmlns:a16="http://schemas.microsoft.com/office/drawing/2014/main" id="{DE28B016-AA68-4A1A-B855-76FA7AE6A19A}"/>
              </a:ext>
            </a:extLst>
          </p:cNvPr>
          <p:cNvSpPr>
            <a:spLocks xmlns:a="http://schemas.openxmlformats.org/drawingml/2006/main" noGrp="1"/>
          </p:cNvSpPr>
          <p:nvPr/>
        </p:nvSpPr>
        <p:spPr>
          <a:xfrm xmlns:a="http://schemas.openxmlformats.org/drawingml/2006/main" rot="0" flipH="0" flipV="0">
            <a:off x="5907411" y="5443906"/>
            <a:ext cx="4774405" cy="3374910"/>
          </a:xfrm>
          <a:custGeom xmlns:a="http://schemas.openxmlformats.org/drawingml/2006/main">
            <a:rect l="l" t="t" r="r" b="b"/>
            <a:pathLst>
              <a:path w="466292" h="329610">
                <a:moveTo>
                  <a:pt x="40539" y="0"/>
                </a:moveTo>
                <a:lnTo>
                  <a:pt x="425753" y="0"/>
                </a:lnTo>
                <a:cubicBezTo>
                  <a:pt x="448142" y="0"/>
                  <a:pt x="466292" y="18150"/>
                  <a:pt x="466292" y="40539"/>
                </a:cubicBezTo>
                <a:lnTo>
                  <a:pt x="466292" y="289072"/>
                </a:lnTo>
                <a:cubicBezTo>
                  <a:pt x="466292" y="299823"/>
                  <a:pt x="462021" y="310134"/>
                  <a:pt x="454418" y="317737"/>
                </a:cubicBezTo>
                <a:cubicBezTo>
                  <a:pt x="446816" y="325339"/>
                  <a:pt x="436505" y="329610"/>
                  <a:pt x="425753" y="329610"/>
                </a:cubicBezTo>
                <a:lnTo>
                  <a:pt x="40539" y="329610"/>
                </a:lnTo>
                <a:cubicBezTo>
                  <a:pt x="29787" y="329610"/>
                  <a:pt x="19476" y="325339"/>
                  <a:pt x="11873" y="317737"/>
                </a:cubicBezTo>
                <a:cubicBezTo>
                  <a:pt x="4271" y="310134"/>
                  <a:pt x="0" y="299823"/>
                  <a:pt x="0" y="289072"/>
                </a:cubicBezTo>
                <a:lnTo>
                  <a:pt x="0" y="40539"/>
                </a:lnTo>
                <a:cubicBezTo>
                  <a:pt x="0" y="29787"/>
                  <a:pt x="4271" y="19476"/>
                  <a:pt x="11873" y="11873"/>
                </a:cubicBezTo>
                <a:cubicBezTo>
                  <a:pt x="19476" y="4271"/>
                  <a:pt x="29787" y="0"/>
                  <a:pt x="40539"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8" name="TextBox 8">
            <a:extLst xmlns:a="http://schemas.openxmlformats.org/drawingml/2006/main">
              <a:ext uri="{FF2B5EF4-FFF2-40B4-BE49-F238E27FC236}">
                <a16:creationId xmlns:a16="http://schemas.microsoft.com/office/drawing/2014/main" id="{AA124B09-288D-4DB7-88CC-E85F7A21024A}"/>
              </a:ext>
            </a:extLst>
          </p:cNvPr>
          <p:cNvSpPr>
            <a:spLocks xmlns:a="http://schemas.openxmlformats.org/drawingml/2006/main" noGrp="1"/>
          </p:cNvSpPr>
          <p:nvPr/>
        </p:nvSpPr>
        <p:spPr>
          <a:xfrm xmlns:a="http://schemas.openxmlformats.org/drawingml/2006/main" rot="0" flipH="0" flipV="0">
            <a:off x="5907411" y="5053797"/>
            <a:ext cx="4774405" cy="3765019"/>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0" name="Freeform 10">
            <a:extLst xmlns:a="http://schemas.openxmlformats.org/drawingml/2006/main">
              <a:ext uri="{FF2B5EF4-FFF2-40B4-BE49-F238E27FC236}">
                <a16:creationId xmlns:a16="http://schemas.microsoft.com/office/drawing/2014/main" id="{6A862AAA-0620-4588-9B3D-6CA4C2D74F7B}"/>
              </a:ext>
            </a:extLst>
          </p:cNvPr>
          <p:cNvSpPr>
            <a:spLocks xmlns:a="http://schemas.openxmlformats.org/drawingml/2006/main" noGrp="1"/>
          </p:cNvSpPr>
          <p:nvPr/>
        </p:nvSpPr>
        <p:spPr>
          <a:xfrm xmlns:a="http://schemas.openxmlformats.org/drawingml/2006/main" rot="0" flipH="0" flipV="0">
            <a:off x="12015415" y="2874842"/>
            <a:ext cx="4297788" cy="2937965"/>
          </a:xfrm>
          <a:custGeom xmlns:a="http://schemas.openxmlformats.org/drawingml/2006/main">
            <a:rect l="l" t="t" r="r" b="b"/>
            <a:pathLst>
              <a:path w="482169" h="329610">
                <a:moveTo>
                  <a:pt x="45034" y="0"/>
                </a:moveTo>
                <a:lnTo>
                  <a:pt x="437134" y="0"/>
                </a:lnTo>
                <a:cubicBezTo>
                  <a:pt x="462006" y="0"/>
                  <a:pt x="482169" y="20163"/>
                  <a:pt x="482169" y="45034"/>
                </a:cubicBezTo>
                <a:lnTo>
                  <a:pt x="482169" y="284576"/>
                </a:lnTo>
                <a:cubicBezTo>
                  <a:pt x="482169" y="309448"/>
                  <a:pt x="462006" y="329610"/>
                  <a:pt x="437134" y="329610"/>
                </a:cubicBezTo>
                <a:lnTo>
                  <a:pt x="45034" y="329610"/>
                </a:lnTo>
                <a:cubicBezTo>
                  <a:pt x="20163" y="329610"/>
                  <a:pt x="0" y="309448"/>
                  <a:pt x="0" y="284576"/>
                </a:cubicBezTo>
                <a:lnTo>
                  <a:pt x="0" y="45034"/>
                </a:lnTo>
                <a:cubicBezTo>
                  <a:pt x="0" y="20163"/>
                  <a:pt x="20163" y="0"/>
                  <a:pt x="45034"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11" name="TextBox 11">
            <a:extLst xmlns:a="http://schemas.openxmlformats.org/drawingml/2006/main">
              <a:ext uri="{FF2B5EF4-FFF2-40B4-BE49-F238E27FC236}">
                <a16:creationId xmlns:a16="http://schemas.microsoft.com/office/drawing/2014/main" id="{049C34A5-59A8-446D-B189-EE585CC043DA}"/>
              </a:ext>
            </a:extLst>
          </p:cNvPr>
          <p:cNvSpPr>
            <a:spLocks xmlns:a="http://schemas.openxmlformats.org/drawingml/2006/main" noGrp="1"/>
          </p:cNvSpPr>
          <p:nvPr/>
        </p:nvSpPr>
        <p:spPr>
          <a:xfrm xmlns:a="http://schemas.openxmlformats.org/drawingml/2006/main" rot="0" flipH="0" flipV="0">
            <a:off x="12015415" y="2535240"/>
            <a:ext cx="4297788" cy="3277568"/>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2" name="Freeform 12">
            <a:extLst xmlns:a="http://schemas.openxmlformats.org/drawingml/2006/main">
              <a:ext uri="{FF2B5EF4-FFF2-40B4-BE49-F238E27FC236}">
                <a16:creationId xmlns:a16="http://schemas.microsoft.com/office/drawing/2014/main" id="{C5463F85-81F5-4F18-8A8F-E7671259C96D}"/>
              </a:ext>
            </a:extLst>
          </p:cNvPr>
          <p:cNvSpPr>
            <a:spLocks xmlns:a="http://schemas.openxmlformats.org/drawingml/2006/main" noGrp="1"/>
          </p:cNvSpPr>
          <p:nvPr/>
        </p:nvSpPr>
        <p:spPr>
          <a:xfrm xmlns:a="http://schemas.openxmlformats.org/drawingml/2006/main">
            <a:off x="11129690" y="-4363431"/>
            <a:ext cx="9438577" cy="6748583"/>
          </a:xfrm>
          <a:custGeom xmlns:a="http://schemas.openxmlformats.org/drawingml/2006/main">
            <a:rect l="l" t="t" r="r" b="b"/>
            <a:pathLst>
              <a:path w="9438577" h="6748583">
                <a:moveTo>
                  <a:pt x="0" y="0"/>
                </a:moveTo>
                <a:lnTo>
                  <a:pt x="9438577" y="0"/>
                </a:lnTo>
                <a:lnTo>
                  <a:pt x="9438577" y="6748583"/>
                </a:lnTo>
                <a:lnTo>
                  <a:pt x="0" y="6748583"/>
                </a:lnTo>
                <a:lnTo>
                  <a:pt x="0" y="0"/>
                </a:lnTo>
                <a:close/>
              </a:path>
            </a:pathLst>
          </a:custGeom>
          <a:blipFill xmlns:a="http://schemas.openxmlformats.org/drawingml/2006/main">
            <a:blip xmlns:r="http://schemas.openxmlformats.org/officeDocument/2006/relationships" r:embed="Rc60cb98051844b79">
              <a:extLst>
                <a:ext uri="{96DAC541-7B7A-43D3-8B79-37D633B846F1}">
                  <asvg:svgBlip xmlns:asvg="http://schemas.microsoft.com/office/drawing/2016/SVG/main" r:embed="R789744a8e6714994"/>
                </a:ext>
              </a:extLst>
            </a:blip>
            <a:stretch>
              <a:fillRect l="0" t="0" r="0" b="0"/>
            </a:stretch>
          </a:blipFill>
        </p:spPr>
      </p:sp>
      <p:sp>
        <p:nvSpPr>
          <p:cNvPr id="13" name="TextBox 13">
            <a:extLst xmlns:a="http://schemas.openxmlformats.org/drawingml/2006/main">
              <a:ext uri="{FF2B5EF4-FFF2-40B4-BE49-F238E27FC236}">
                <a16:creationId xmlns:a16="http://schemas.microsoft.com/office/drawing/2014/main" id="{34B90D20-8277-4C8A-A58C-7A8C69000B29}"/>
              </a:ext>
            </a:extLst>
          </p:cNvPr>
          <p:cNvSpPr>
            <a:spLocks xmlns:a="http://schemas.openxmlformats.org/drawingml/2006/main" noGrp="1"/>
          </p:cNvSpPr>
          <p:nvPr/>
        </p:nvSpPr>
        <p:spPr>
          <a:xfrm xmlns:a="http://schemas.openxmlformats.org/drawingml/2006/main">
            <a:off x="1520396" y="2533016"/>
            <a:ext cx="9651782" cy="1206239"/>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9880"/>
              </a:lnSpc>
              <a:spcBef>
                <a:spcPct val="0"/>
              </a:spcBef>
              <a:buNone/>
            </a:pPr>
            <a:r>
              <a:rPr sz="7055" b="1">
                <a:solidFill>
                  <a:srgbClr val="FFFFFF"/>
                </a:solidFill>
                <a:latin typeface="TT Lakes Neue Extended Bold"/>
                <a:ea typeface="TT Lakes Neue Extended Bold"/>
                <a:cs typeface="TT Lakes Neue Extended Bold"/>
              </a:rPr>
              <a:t>KẾT QUẢ DEMO</a:t>
            </a:r>
          </a:p>
        </p:txBody>
      </p:sp>
      <p:sp>
        <p:nvSpPr>
          <p:cNvPr id="14" name="TextBox 14">
            <a:extLst xmlns:a="http://schemas.openxmlformats.org/drawingml/2006/main">
              <a:ext uri="{FF2B5EF4-FFF2-40B4-BE49-F238E27FC236}">
                <a16:creationId xmlns:a16="http://schemas.microsoft.com/office/drawing/2014/main" id="{9EE7B4C4-1010-4B31-A608-AFFFFF1D4B31}"/>
              </a:ext>
            </a:extLst>
          </p:cNvPr>
          <p:cNvSpPr>
            <a:spLocks xmlns:a="http://schemas.openxmlformats.org/drawingml/2006/main" noGrp="1"/>
          </p:cNvSpPr>
          <p:nvPr/>
        </p:nvSpPr>
        <p:spPr>
          <a:xfrm xmlns:a="http://schemas.openxmlformats.org/drawingml/2006/main">
            <a:off x="1524365" y="4767924"/>
            <a:ext cx="3011959" cy="432154"/>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535"/>
              </a:lnSpc>
              <a:spcBef>
                <a:spcPct val="0"/>
              </a:spcBef>
              <a:buNone/>
            </a:pPr>
            <a:r>
              <a:rPr sz="2525" b="1">
                <a:solidFill>
                  <a:srgbClr val="FFFFFF"/>
                </a:solidFill>
                <a:latin typeface="Montserrat Bold"/>
                <a:ea typeface="Montserrat Bold"/>
                <a:cs typeface="Montserrat Bold"/>
              </a:rPr>
              <a:t>Môi t</a:t>
            </a:r>
            <a:r>
              <a:rPr sz="2525" b="1">
                <a:solidFill>
                  <a:srgbClr val="FFFFFF"/>
                </a:solidFill>
                <a:latin typeface="Montserrat Bold"/>
                <a:ea typeface="Montserrat Bold"/>
                <a:cs typeface="Montserrat Bold"/>
              </a:rPr>
              <a:t>rường</a:t>
            </a:r>
          </a:p>
        </p:txBody>
      </p:sp>
      <p:sp>
        <p:nvSpPr>
          <p:cNvPr id="15" name="TextBox 15">
            <a:extLst xmlns:a="http://schemas.openxmlformats.org/drawingml/2006/main">
              <a:ext uri="{FF2B5EF4-FFF2-40B4-BE49-F238E27FC236}">
                <a16:creationId xmlns:a16="http://schemas.microsoft.com/office/drawing/2014/main" id="{A9F03553-6231-4CEE-8E6D-E3B65C7CDBC2}"/>
              </a:ext>
            </a:extLst>
          </p:cNvPr>
          <p:cNvSpPr>
            <a:spLocks xmlns:a="http://schemas.openxmlformats.org/drawingml/2006/main" noGrp="1"/>
          </p:cNvSpPr>
          <p:nvPr/>
        </p:nvSpPr>
        <p:spPr>
          <a:xfrm xmlns:a="http://schemas.openxmlformats.org/drawingml/2006/main">
            <a:off x="6478521" y="4767924"/>
            <a:ext cx="3011959" cy="432154"/>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535"/>
              </a:lnSpc>
              <a:spcBef>
                <a:spcPct val="0"/>
              </a:spcBef>
              <a:buNone/>
            </a:pPr>
            <a:r>
              <a:rPr sz="2525" b="1">
                <a:solidFill>
                  <a:srgbClr val="FFFFFF"/>
                </a:solidFill>
                <a:latin typeface="Montserrat Bold"/>
                <a:ea typeface="Montserrat Bold"/>
                <a:cs typeface="Montserrat Bold"/>
              </a:rPr>
              <a:t>Kết q</a:t>
            </a:r>
            <a:r>
              <a:rPr sz="2525" b="1">
                <a:solidFill>
                  <a:srgbClr val="FFFFFF"/>
                </a:solidFill>
                <a:latin typeface="Montserrat Bold"/>
                <a:ea typeface="Montserrat Bold"/>
                <a:cs typeface="Montserrat Bold"/>
              </a:rPr>
              <a:t>uả kiểm thử</a:t>
            </a:r>
          </a:p>
        </p:txBody>
      </p:sp>
      <p:sp>
        <p:nvSpPr>
          <p:cNvPr id="16" name="TextBox 16">
            <a:extLst xmlns:a="http://schemas.openxmlformats.org/drawingml/2006/main">
              <a:ext uri="{FF2B5EF4-FFF2-40B4-BE49-F238E27FC236}">
                <a16:creationId xmlns:a16="http://schemas.microsoft.com/office/drawing/2014/main" id="{EAA1ABDA-982E-415A-97B6-CB820FFB5A5F}"/>
              </a:ext>
            </a:extLst>
          </p:cNvPr>
          <p:cNvSpPr>
            <a:spLocks xmlns:a="http://schemas.openxmlformats.org/drawingml/2006/main" noGrp="1"/>
          </p:cNvSpPr>
          <p:nvPr/>
        </p:nvSpPr>
        <p:spPr>
          <a:xfrm xmlns:a="http://schemas.openxmlformats.org/drawingml/2006/main">
            <a:off x="12830879" y="2347052"/>
            <a:ext cx="2622005"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075"/>
              </a:lnSpc>
              <a:spcBef>
                <a:spcPct val="0"/>
              </a:spcBef>
              <a:buNone/>
            </a:pPr>
            <a:r>
              <a:rPr sz="2200" b="1">
                <a:solidFill>
                  <a:srgbClr val="FFFFFF"/>
                </a:solidFill>
                <a:latin typeface="Montserrat Bold"/>
                <a:ea typeface="Montserrat Bold"/>
                <a:cs typeface="Montserrat Bold"/>
              </a:rPr>
              <a:t>Minh </a:t>
            </a:r>
            <a:r>
              <a:rPr sz="2200" b="1">
                <a:solidFill>
                  <a:srgbClr val="FFFFFF"/>
                </a:solidFill>
                <a:latin typeface="Montserrat Bold"/>
                <a:ea typeface="Montserrat Bold"/>
                <a:cs typeface="Montserrat Bold"/>
              </a:rPr>
              <a:t>chứng</a:t>
            </a:r>
          </a:p>
        </p:txBody>
      </p:sp>
      <p:sp>
        <p:nvSpPr>
          <p:cNvPr id="18" name="Freeform 18">
            <a:extLst xmlns:a="http://schemas.openxmlformats.org/drawingml/2006/main">
              <a:ext uri="{FF2B5EF4-FFF2-40B4-BE49-F238E27FC236}">
                <a16:creationId xmlns:a16="http://schemas.microsoft.com/office/drawing/2014/main" id="{62481EF8-680B-4EA8-B3CB-80975E234914}"/>
              </a:ext>
            </a:extLst>
          </p:cNvPr>
          <p:cNvSpPr>
            <a:spLocks xmlns:a="http://schemas.openxmlformats.org/drawingml/2006/main" noGrp="1"/>
          </p:cNvSpPr>
          <p:nvPr/>
        </p:nvSpPr>
        <p:spPr>
          <a:xfrm xmlns:a="http://schemas.openxmlformats.org/drawingml/2006/main" rot="0" flipH="0" flipV="0">
            <a:off x="16885087" y="-1481594"/>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9" name="TextBox 19">
            <a:extLst xmlns:a="http://schemas.openxmlformats.org/drawingml/2006/main">
              <a:ext uri="{FF2B5EF4-FFF2-40B4-BE49-F238E27FC236}">
                <a16:creationId xmlns:a16="http://schemas.microsoft.com/office/drawing/2014/main" id="{499E294E-6C3E-4FBD-ABB3-CF8C62510354}"/>
              </a:ext>
            </a:extLst>
          </p:cNvPr>
          <p:cNvSpPr>
            <a:spLocks xmlns:a="http://schemas.openxmlformats.org/drawingml/2006/main" noGrp="1"/>
          </p:cNvSpPr>
          <p:nvPr/>
        </p:nvSpPr>
        <p:spPr>
          <a:xfrm xmlns:a="http://schemas.openxmlformats.org/drawingml/2006/main" rot="0" flipH="0" flipV="0">
            <a:off x="17469462" y="-1676385"/>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0" name="TextBox 20">
            <a:extLst xmlns:a="http://schemas.openxmlformats.org/drawingml/2006/main">
              <a:ext uri="{FF2B5EF4-FFF2-40B4-BE49-F238E27FC236}">
                <a16:creationId xmlns:a16="http://schemas.microsoft.com/office/drawing/2014/main" id="{584DA57E-19F4-4615-B042-5E4587FC38E0}"/>
              </a:ext>
            </a:extLst>
          </p:cNvPr>
          <p:cNvSpPr>
            <a:spLocks xmlns:a="http://schemas.openxmlformats.org/drawingml/2006/main" noGrp="1"/>
          </p:cNvSpPr>
          <p:nvPr/>
        </p:nvSpPr>
        <p:spPr>
          <a:xfrm xmlns:a="http://schemas.openxmlformats.org/drawingml/2006/main">
            <a:off x="1293081" y="5923512"/>
            <a:ext cx="3474526" cy="235092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210"/>
              </a:lnSpc>
              <a:buNone/>
            </a:pPr>
            <a:r>
              <a:rPr sz="2295">
                <a:solidFill>
                  <a:srgbClr val="C6C6C6"/>
                </a:solidFill>
                <a:latin typeface="Montserrat Light"/>
                <a:ea typeface="Montserrat Light"/>
                <a:cs typeface="Montserrat Light"/>
              </a:rPr>
              <a:t>- Python 3.11+</a:t>
            </a:r>
          </a:p>
          <a:p xmlns:a="http://schemas.openxmlformats.org/drawingml/2006/main">
            <a:pPr algn="l">
              <a:lnSpc>
                <a:spcPts val="3210"/>
              </a:lnSpc>
              <a:buNone/>
            </a:pPr>
            <a:r>
              <a:rPr sz="2295">
                <a:solidFill>
                  <a:srgbClr val="C6C6C6"/>
                </a:solidFill>
                <a:latin typeface="Montserrat Light"/>
                <a:ea typeface="Montserrat Light"/>
                <a:cs typeface="Montserrat Light"/>
              </a:rPr>
              <a:t>- Thư viện cryptography</a:t>
            </a:r>
          </a:p>
          <a:p xmlns:a="http://schemas.openxmlformats.org/drawingml/2006/main">
            <a:pPr algn="l">
              <a:lnSpc>
                <a:spcPts val="3210"/>
              </a:lnSpc>
              <a:spcBef>
                <a:spcPct val="0"/>
              </a:spcBef>
              <a:buNone/>
            </a:pPr>
            <a:r>
              <a:rPr sz="2295">
                <a:solidFill>
                  <a:srgbClr val="C6C6C6"/>
                </a:solidFill>
                <a:latin typeface="Montserrat Light"/>
                <a:ea typeface="Montserrat Light"/>
                <a:cs typeface="Montserrat Light"/>
              </a:rPr>
              <a:t>- Firmware và dữ liệu hoàn toàn giả lập</a:t>
            </a:r>
          </a:p>
          <a:p xmlns:a="http://schemas.openxmlformats.org/drawingml/2006/main">
            <a:pPr algn="l">
              <a:lnSpc>
                <a:spcPts val="3210"/>
              </a:lnSpc>
              <a:spcBef>
                <a:spcPct val="0"/>
              </a:spcBef>
              <a:buNone/>
            </a:pPr>
            <a:r>
              <a:rPr sz="2295">
                <a:solidFill>
                  <a:srgbClr val="C6C6C6"/>
                </a:solidFill>
                <a:latin typeface="Montserrat Light"/>
                <a:ea typeface="Montserrat Light"/>
                <a:cs typeface="Montserrat Light"/>
              </a:rPr>
              <a:t>- Chạy cục bộ trên máy cá nhân</a:t>
            </a:r>
          </a:p>
        </p:txBody>
      </p:sp>
      <p:sp>
        <p:nvSpPr>
          <p:cNvPr id="21" name="TextBox 21">
            <a:extLst xmlns:a="http://schemas.openxmlformats.org/drawingml/2006/main">
              <a:ext uri="{FF2B5EF4-FFF2-40B4-BE49-F238E27FC236}">
                <a16:creationId xmlns:a16="http://schemas.microsoft.com/office/drawing/2014/main" id="{62B302F8-4D31-40BB-9729-5FD39547971E}"/>
              </a:ext>
            </a:extLst>
          </p:cNvPr>
          <p:cNvSpPr>
            <a:spLocks xmlns:a="http://schemas.openxmlformats.org/drawingml/2006/main" noGrp="1"/>
          </p:cNvSpPr>
          <p:nvPr/>
        </p:nvSpPr>
        <p:spPr>
          <a:xfrm xmlns:a="http://schemas.openxmlformats.org/drawingml/2006/main">
            <a:off x="6045858" y="5774708"/>
            <a:ext cx="4539572" cy="300228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955"/>
              </a:lnSpc>
              <a:buNone/>
            </a:pPr>
            <a:r>
              <a:rPr sz="2110">
                <a:solidFill>
                  <a:srgbClr val="C6C6C6"/>
                </a:solidFill>
                <a:latin typeface="Montserrat Light"/>
                <a:ea typeface="Montserrat Light"/>
                <a:cs typeface="Montserrat Light"/>
              </a:rPr>
              <a:t>- Bản v2 hợp lệ → ACCEPT — PASS
- Chữ ký manifest bị sửa → REJECT — PASS</a:t>
            </a:r>
          </a:p>
          <a:p xmlns:a="http://schemas.openxmlformats.org/drawingml/2006/main">
            <a:pPr algn="l">
              <a:lnSpc>
                <a:spcPts val="2955"/>
              </a:lnSpc>
              <a:buNone/>
            </a:pPr>
            <a:r>
              <a:rPr sz="2110">
                <a:solidFill>
                  <a:srgbClr val="C6C6C6"/>
                </a:solidFill>
                <a:latin typeface="Montserrat Light"/>
                <a:ea typeface="Montserrat Light"/>
                <a:cs typeface="Montserrat Light"/>
              </a:rPr>
              <a:t>- Payload bị sửa 1 bit → REJECT — PASS</a:t>
            </a:r>
          </a:p>
          <a:p xmlns:a="http://schemas.openxmlformats.org/drawingml/2006/main">
            <a:pPr algn="l">
              <a:lnSpc>
                <a:spcPts val="2955"/>
              </a:lnSpc>
              <a:spcBef>
                <a:spcPct val="0"/>
              </a:spcBef>
              <a:buNone/>
            </a:pPr>
            <a:r>
              <a:rPr sz="2110">
                <a:solidFill>
                  <a:srgbClr val="C6C6C6"/>
                </a:solidFill>
                <a:latin typeface="Montserrat Light"/>
                <a:ea typeface="Montserrat Light"/>
                <a:cs typeface="Montserrat Light"/>
              </a:rPr>
              <a:t>- Bản v1 có sequence cũ → REJECT — PASS</a:t>
            </a:r>
          </a:p>
          <a:p xmlns:a="http://schemas.openxmlformats.org/drawingml/2006/main">
            <a:pPr algn="l">
              <a:lnSpc>
                <a:spcPts val="2955"/>
              </a:lnSpc>
              <a:spcBef>
                <a:spcPct val="0"/>
              </a:spcBef>
              <a:buNone/>
            </a:pPr>
            <a:r>
              <a:rPr sz="2110">
                <a:solidFill>
                  <a:srgbClr val="C6C6C6"/>
                </a:solidFill>
                <a:latin typeface="Montserrat Light"/>
                <a:ea typeface="Montserrat Light"/>
                <a:cs typeface="Montserrat Light"/>
              </a:rPr>
              <a:t>- Bản v3 lỗi self-test → REJECT và rollback — PASS</a:t>
            </a:r>
          </a:p>
        </p:txBody>
      </p:sp>
      <p:sp>
        <p:nvSpPr>
          <p:cNvPr id="22" name="TextBox 22">
            <a:extLst xmlns:a="http://schemas.openxmlformats.org/drawingml/2006/main">
              <a:ext uri="{FF2B5EF4-FFF2-40B4-BE49-F238E27FC236}">
                <a16:creationId xmlns:a16="http://schemas.microsoft.com/office/drawing/2014/main" id="{257ED44B-99B1-446B-8C03-A9DCF0E8A6E8}"/>
              </a:ext>
            </a:extLst>
          </p:cNvPr>
          <p:cNvSpPr>
            <a:spLocks xmlns:a="http://schemas.openxmlformats.org/drawingml/2006/main" noGrp="1"/>
          </p:cNvSpPr>
          <p:nvPr/>
        </p:nvSpPr>
        <p:spPr>
          <a:xfrm xmlns:a="http://schemas.openxmlformats.org/drawingml/2006/main">
            <a:off x="12529732" y="6482227"/>
            <a:ext cx="5183013" cy="117157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3075"/>
              </a:lnSpc>
              <a:spcBef>
                <a:spcPct val="0"/>
              </a:spcBef>
              <a:buNone/>
            </a:pPr>
          </a:p>
          <a:p xmlns:a="http://schemas.openxmlformats.org/drawingml/2006/main">
            <a:pPr>
              <a:lnSpc>
                <a:spcPts val="3075"/>
              </a:lnSpc>
              <a:spcBef>
                <a:spcPct val="0"/>
              </a:spcBef>
              <a:buNone/>
            </a:pPr>
            <a:r>
              <a:rPr sz="2200" b="1">
                <a:solidFill>
                  <a:srgbClr val="FFFFFF"/>
                </a:solidFill>
                <a:latin typeface="Montserrat Bold"/>
                <a:ea typeface="Montserrat Bold"/>
                <a:cs typeface="Montserrat Bold"/>
              </a:rPr>
              <a:t>Kết quả tổng hợp: </a:t>
            </a:r>
            <a:r>
              <a:rPr sz="2200" b="1">
                <a:solidFill>
                  <a:srgbClr val="FFFFFF"/>
                </a:solidFill>
                <a:latin typeface="Montserrat Bold"/>
                <a:ea typeface="Montserrat Bold"/>
                <a:cs typeface="Montserrat Bold"/>
              </a:rPr>
              <a:t>5/5</a:t>
            </a:r>
            <a:r>
              <a:rPr sz="2200" b="1">
                <a:solidFill>
                  <a:srgbClr val="FFFFFF"/>
                </a:solidFill>
                <a:latin typeface="Montserrat Bold"/>
                <a:ea typeface="Montserrat Bold"/>
                <a:cs typeface="Montserrat Bold"/>
              </a:rPr>
              <a:t> ca kiểm thử đạt kỳ vọng.</a:t>
            </a:r>
          </a:p>
        </p:txBody>
      </p:sp>
      <p:sp>
        <p:nvSpPr>
          <p:cNvPr id="23" name="TextBox 23">
            <a:extLst xmlns:a="http://schemas.openxmlformats.org/drawingml/2006/main">
              <a:ext uri="{FF2B5EF4-FFF2-40B4-BE49-F238E27FC236}">
                <a16:creationId xmlns:a16="http://schemas.microsoft.com/office/drawing/2014/main" id="{E6C5100D-3F3E-4D93-BA5F-386C910693A7}"/>
              </a:ext>
            </a:extLst>
          </p:cNvPr>
          <p:cNvSpPr>
            <a:spLocks xmlns:a="http://schemas.openxmlformats.org/drawingml/2006/main" noGrp="1"/>
          </p:cNvSpPr>
          <p:nvPr/>
        </p:nvSpPr>
        <p:spPr>
          <a:xfrm xmlns:a="http://schemas.openxmlformats.org/drawingml/2006/main">
            <a:off x="12274908" y="3209475"/>
            <a:ext cx="3733948" cy="230886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30"/>
              </a:lnSpc>
              <a:buNone/>
            </a:pPr>
            <a:r>
              <a:rPr sz="2165">
                <a:solidFill>
                  <a:srgbClr val="C6C6C6"/>
                </a:solidFill>
                <a:latin typeface="Montserrat Light"/>
                <a:ea typeface="Montserrat Light"/>
                <a:cs typeface="Montserrat Light"/>
              </a:rPr>
              <a:t>test_matrix.csv</a:t>
            </a:r>
          </a:p>
          <a:p xmlns:a="http://schemas.openxmlformats.org/drawingml/2006/main">
            <a:pPr algn="l">
              <a:lnSpc>
                <a:spcPts val="3030"/>
              </a:lnSpc>
              <a:buNone/>
            </a:pPr>
            <a:r>
              <a:rPr sz="2165">
                <a:solidFill>
                  <a:srgbClr val="C6C6C6"/>
                </a:solidFill>
                <a:latin typeface="Montserrat Light"/>
                <a:ea typeface="Montserrat Light"/>
                <a:cs typeface="Montserrat Light"/>
              </a:rPr>
              <a:t> </a:t>
            </a:r>
            <a:r>
              <a:rPr sz="2165">
                <a:solidFill>
                  <a:srgbClr val="C6C6C6"/>
                </a:solidFill>
                <a:latin typeface="Montserrat Light"/>
                <a:ea typeface="Montserrat Light"/>
                <a:cs typeface="Montserrat Light"/>
              </a:rPr>
              <a:t>secure_update_demo.log</a:t>
            </a:r>
          </a:p>
          <a:p xmlns:a="http://schemas.openxmlformats.org/drawingml/2006/main">
            <a:pPr algn="l">
              <a:lnSpc>
                <a:spcPts val="3030"/>
              </a:lnSpc>
              <a:spcBef>
                <a:spcPct val="0"/>
              </a:spcBef>
              <a:buNone/>
            </a:pPr>
          </a:p>
          <a:p xmlns:a="http://schemas.openxmlformats.org/drawingml/2006/main">
            <a:pPr algn="l">
              <a:lnSpc>
                <a:spcPts val="3030"/>
              </a:lnSpc>
              <a:spcBef>
                <a:spcPct val="0"/>
              </a:spcBef>
              <a:buNone/>
            </a:pPr>
            <a:r>
              <a:rPr sz="2165">
                <a:solidFill>
                  <a:srgbClr val="C6C6C6"/>
                </a:solidFill>
                <a:latin typeface="Montserrat Light"/>
                <a:ea typeface="Montserrat Light"/>
                <a:cs typeface="Montserrat Light"/>
              </a:rPr>
              <a:t> </a:t>
            </a:r>
            <a:r>
              <a:rPr sz="2165">
                <a:solidFill>
                  <a:srgbClr val="C6C6C6"/>
                </a:solidFill>
                <a:latin typeface="Montserrat Light"/>
                <a:ea typeface="Montserrat Light"/>
                <a:cs typeface="Montserrat Light"/>
              </a:rPr>
              <a:t>signed_manifest_v2.json</a:t>
            </a:r>
          </a:p>
        </p:txBody>
      </p:sp>
      <p:sp>
        <p:nvSpPr>
          <p:cNvPr id="24" name="TextBox 24">
            <a:extLst xmlns:a="http://schemas.openxmlformats.org/drawingml/2006/main">
              <a:ext uri="{FF2B5EF4-FFF2-40B4-BE49-F238E27FC236}">
                <a16:creationId xmlns:a16="http://schemas.microsoft.com/office/drawing/2014/main" id="{39A12A8E-1B11-4959-B660-003F9DAE2B83}"/>
              </a:ext>
            </a:extLst>
          </p:cNvPr>
          <p:cNvSpPr>
            <a:spLocks xmlns:a="http://schemas.openxmlformats.org/drawingml/2006/main" noGrp="1"/>
          </p:cNvSpPr>
          <p:nvPr/>
        </p:nvSpPr>
        <p:spPr>
          <a:xfrm xmlns:a="http://schemas.openxmlformats.org/drawingml/2006/main">
            <a:off x="11129690" y="6328786"/>
            <a:ext cx="3629601" cy="1346596"/>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10980"/>
              </a:lnSpc>
              <a:spcBef>
                <a:spcPct val="0"/>
              </a:spcBef>
              <a:buNone/>
            </a:pPr>
            <a:r>
              <a:rPr sz="7840">
                <a:solidFill>
                  <a:srgbClr val="FFFFFF"/>
                </a:solidFill>
                <a:latin typeface="Montserrat"/>
                <a:ea typeface="Montserrat"/>
                <a:cs typeface="Montserrat"/>
              </a:rPr>
              <a:t>-&gt;</a:t>
            </a:r>
          </a:p>
        </p:txBody>
      </p:sp>
    </p:spTree>
    <p:extLst>
      <p:ext uri="{BB962C8B-B14F-4D97-AF65-F5344CB8AC3E}">
        <p14:creationId xmlns:p14="http://schemas.microsoft.com/office/powerpoint/2010/main" val="34443320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1FA86017-9174-4D19-B410-9EEF1FBC00A9}"/>
              </a:ext>
            </a:extLst>
          </p:cNvPr>
          <p:cNvSpPr>
            <a:spLocks xmlns:a="http://schemas.openxmlformats.org/drawingml/2006/main" noGrp="1"/>
          </p:cNvSpPr>
          <p:nvPr/>
        </p:nvSpPr>
        <p:spPr>
          <a:xfrm xmlns:a="http://schemas.openxmlformats.org/drawingml/2006/main" flipV="1">
            <a:off x="0" y="0"/>
            <a:ext cx="18288000" cy="10287000"/>
          </a:xfrm>
          <a:custGeom xmlns:a="http://schemas.openxmlformats.org/drawingml/2006/main">
            <a:rect l="l" t="t" r="r" b="b"/>
            <a:pathLst>
              <a:path w="18288000" h="10287000">
                <a:moveTo>
                  <a:pt x="0" y="10287000"/>
                </a:moveTo>
                <a:lnTo>
                  <a:pt x="18288000" y="10287000"/>
                </a:lnTo>
                <a:lnTo>
                  <a:pt x="18288000" y="0"/>
                </a:lnTo>
                <a:lnTo>
                  <a:pt x="0" y="0"/>
                </a:lnTo>
                <a:lnTo>
                  <a:pt x="0" y="10287000"/>
                </a:lnTo>
                <a:close/>
              </a:path>
            </a:pathLst>
          </a:custGeom>
          <a:blipFill xmlns:a="http://schemas.openxmlformats.org/drawingml/2006/main">
            <a:blip xmlns:r="http://schemas.openxmlformats.org/officeDocument/2006/relationships" r:embed="R4e43ac9e9aa94479"/>
            <a:stretch>
              <a:fillRect l="0" t="-124631" r="-124631" b="0"/>
            </a:stretch>
          </a:blipFill>
        </p:spPr>
      </p:sp>
      <p:sp>
        <p:nvSpPr>
          <p:cNvPr id="3" name="TextBox 3">
            <a:extLst xmlns:a="http://schemas.openxmlformats.org/drawingml/2006/main">
              <a:ext uri="{FF2B5EF4-FFF2-40B4-BE49-F238E27FC236}">
                <a16:creationId xmlns:a16="http://schemas.microsoft.com/office/drawing/2014/main" id="{CD0F0D7E-F2E0-4088-9655-8515445E3C9E}"/>
              </a:ext>
            </a:extLst>
          </p:cNvPr>
          <p:cNvSpPr>
            <a:spLocks xmlns:a="http://schemas.openxmlformats.org/drawingml/2006/main" noGrp="1"/>
          </p:cNvSpPr>
          <p:nvPr/>
        </p:nvSpPr>
        <p:spPr>
          <a:xfrm xmlns:a="http://schemas.openxmlformats.org/drawingml/2006/main">
            <a:off x="1028700" y="920783"/>
            <a:ext cx="10299735" cy="2053639"/>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8240"/>
              </a:lnSpc>
              <a:spcBef>
                <a:spcPct val="0"/>
              </a:spcBef>
              <a:buNone/>
            </a:pPr>
            <a:r>
              <a:rPr sz="5885" b="1">
                <a:solidFill>
                  <a:srgbClr val="FFFFFF"/>
                </a:solidFill>
                <a:latin typeface="TT Lakes Neue Extended Bold"/>
                <a:ea typeface="TT Lakes Neue Extended Bold"/>
                <a:cs typeface="TT Lakes Neue Extended Bold"/>
              </a:rPr>
              <a:t>RỦI RO VÀ BIỆN PHÁP GIẢM THIỂU</a:t>
            </a:r>
          </a:p>
        </p:txBody>
      </p:sp>
      <p:sp>
        <p:nvSpPr>
          <p:cNvPr id="5" name="Freeform 5">
            <a:extLst xmlns:a="http://schemas.openxmlformats.org/drawingml/2006/main">
              <a:ext uri="{FF2B5EF4-FFF2-40B4-BE49-F238E27FC236}">
                <a16:creationId xmlns:a16="http://schemas.microsoft.com/office/drawing/2014/main" id="{8727AD03-9AAB-4B40-9A8E-9A08311EC4D7}"/>
              </a:ext>
            </a:extLst>
          </p:cNvPr>
          <p:cNvSpPr>
            <a:spLocks xmlns:a="http://schemas.openxmlformats.org/drawingml/2006/main" noGrp="1"/>
          </p:cNvSpPr>
          <p:nvPr/>
        </p:nvSpPr>
        <p:spPr>
          <a:xfrm xmlns:a="http://schemas.openxmlformats.org/drawingml/2006/main" rot="0" flipH="0" flipV="0">
            <a:off x="1028700" y="4642071"/>
            <a:ext cx="8564110" cy="2318856"/>
          </a:xfrm>
          <a:custGeom xmlns:a="http://schemas.openxmlformats.org/drawingml/2006/main">
            <a:rect l="l" t="t" r="r" b="b"/>
            <a:pathLst>
              <a:path w="960807" h="260152">
                <a:moveTo>
                  <a:pt x="22600" y="0"/>
                </a:moveTo>
                <a:lnTo>
                  <a:pt x="938207" y="0"/>
                </a:lnTo>
                <a:cubicBezTo>
                  <a:pt x="944201" y="0"/>
                  <a:pt x="949949" y="2381"/>
                  <a:pt x="954188" y="6619"/>
                </a:cubicBezTo>
                <a:cubicBezTo>
                  <a:pt x="958426" y="10858"/>
                  <a:pt x="960807" y="16606"/>
                  <a:pt x="960807" y="22600"/>
                </a:cubicBezTo>
                <a:lnTo>
                  <a:pt x="960807" y="237552"/>
                </a:lnTo>
                <a:cubicBezTo>
                  <a:pt x="960807" y="243546"/>
                  <a:pt x="958426" y="249295"/>
                  <a:pt x="954188" y="253533"/>
                </a:cubicBezTo>
                <a:cubicBezTo>
                  <a:pt x="949949" y="257771"/>
                  <a:pt x="944201" y="260152"/>
                  <a:pt x="938207" y="260152"/>
                </a:cubicBezTo>
                <a:lnTo>
                  <a:pt x="22600" y="260152"/>
                </a:lnTo>
                <a:cubicBezTo>
                  <a:pt x="16606" y="260152"/>
                  <a:pt x="10858" y="257771"/>
                  <a:pt x="6619" y="253533"/>
                </a:cubicBezTo>
                <a:cubicBezTo>
                  <a:pt x="2381" y="249295"/>
                  <a:pt x="0" y="243546"/>
                  <a:pt x="0" y="237552"/>
                </a:cubicBezTo>
                <a:lnTo>
                  <a:pt x="0" y="22600"/>
                </a:lnTo>
                <a:cubicBezTo>
                  <a:pt x="0" y="16606"/>
                  <a:pt x="2381" y="10858"/>
                  <a:pt x="6619" y="6619"/>
                </a:cubicBezTo>
                <a:cubicBezTo>
                  <a:pt x="10858" y="2381"/>
                  <a:pt x="16606" y="0"/>
                  <a:pt x="22600"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6" name="TextBox 6">
            <a:extLst xmlns:a="http://schemas.openxmlformats.org/drawingml/2006/main">
              <a:ext uri="{FF2B5EF4-FFF2-40B4-BE49-F238E27FC236}">
                <a16:creationId xmlns:a16="http://schemas.microsoft.com/office/drawing/2014/main" id="{1C926D3A-848B-46AE-9849-45E2B8B9A925}"/>
              </a:ext>
            </a:extLst>
          </p:cNvPr>
          <p:cNvSpPr>
            <a:spLocks xmlns:a="http://schemas.openxmlformats.org/drawingml/2006/main" noGrp="1"/>
          </p:cNvSpPr>
          <p:nvPr/>
        </p:nvSpPr>
        <p:spPr>
          <a:xfrm xmlns:a="http://schemas.openxmlformats.org/drawingml/2006/main" rot="0" flipH="0" flipV="0">
            <a:off x="1028700" y="4302468"/>
            <a:ext cx="8564110" cy="2658459"/>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8" name="Freeform 8">
            <a:extLst xmlns:a="http://schemas.openxmlformats.org/drawingml/2006/main">
              <a:ext uri="{FF2B5EF4-FFF2-40B4-BE49-F238E27FC236}">
                <a16:creationId xmlns:a16="http://schemas.microsoft.com/office/drawing/2014/main" id="{D141C63D-DD78-43F2-B6AF-ECF1314390A7}"/>
              </a:ext>
            </a:extLst>
          </p:cNvPr>
          <p:cNvSpPr>
            <a:spLocks xmlns:a="http://schemas.openxmlformats.org/drawingml/2006/main" noGrp="1"/>
          </p:cNvSpPr>
          <p:nvPr/>
        </p:nvSpPr>
        <p:spPr>
          <a:xfrm xmlns:a="http://schemas.openxmlformats.org/drawingml/2006/main" rot="0" flipH="0" flipV="0">
            <a:off x="9592810" y="3369076"/>
            <a:ext cx="9329646" cy="2318856"/>
          </a:xfrm>
          <a:custGeom xmlns:a="http://schemas.openxmlformats.org/drawingml/2006/main">
            <a:rect l="l" t="t" r="r" b="b"/>
            <a:pathLst>
              <a:path w="1046692" h="260152">
                <a:moveTo>
                  <a:pt x="20745" y="0"/>
                </a:moveTo>
                <a:lnTo>
                  <a:pt x="1025947" y="0"/>
                </a:lnTo>
                <a:cubicBezTo>
                  <a:pt x="1037404" y="0"/>
                  <a:pt x="1046692" y="9288"/>
                  <a:pt x="1046692" y="20745"/>
                </a:cubicBezTo>
                <a:lnTo>
                  <a:pt x="1046692" y="239407"/>
                </a:lnTo>
                <a:cubicBezTo>
                  <a:pt x="1046692" y="250864"/>
                  <a:pt x="1037404" y="260152"/>
                  <a:pt x="1025947" y="260152"/>
                </a:cubicBezTo>
                <a:lnTo>
                  <a:pt x="20745" y="260152"/>
                </a:lnTo>
                <a:cubicBezTo>
                  <a:pt x="9288" y="260152"/>
                  <a:pt x="0" y="250864"/>
                  <a:pt x="0" y="239407"/>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9" name="TextBox 9">
            <a:extLst xmlns:a="http://schemas.openxmlformats.org/drawingml/2006/main">
              <a:ext uri="{FF2B5EF4-FFF2-40B4-BE49-F238E27FC236}">
                <a16:creationId xmlns:a16="http://schemas.microsoft.com/office/drawing/2014/main" id="{B15D5798-488E-4CE5-B877-991FC8D79421}"/>
              </a:ext>
            </a:extLst>
          </p:cNvPr>
          <p:cNvSpPr>
            <a:spLocks xmlns:a="http://schemas.openxmlformats.org/drawingml/2006/main" noGrp="1"/>
          </p:cNvSpPr>
          <p:nvPr/>
        </p:nvSpPr>
        <p:spPr>
          <a:xfrm xmlns:a="http://schemas.openxmlformats.org/drawingml/2006/main" rot="0" flipH="0" flipV="0">
            <a:off x="9592810" y="3029473"/>
            <a:ext cx="9329646" cy="2658459"/>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0" name="TextBox 10">
            <a:extLst xmlns:a="http://schemas.openxmlformats.org/drawingml/2006/main">
              <a:ext uri="{FF2B5EF4-FFF2-40B4-BE49-F238E27FC236}">
                <a16:creationId xmlns:a16="http://schemas.microsoft.com/office/drawing/2014/main" id="{3BF3D944-7CB7-4981-AC01-32DA9FDA6F61}"/>
              </a:ext>
            </a:extLst>
          </p:cNvPr>
          <p:cNvSpPr>
            <a:spLocks xmlns:a="http://schemas.openxmlformats.org/drawingml/2006/main" noGrp="1"/>
          </p:cNvSpPr>
          <p:nvPr/>
        </p:nvSpPr>
        <p:spPr>
          <a:xfrm xmlns:a="http://schemas.openxmlformats.org/drawingml/2006/main">
            <a:off x="1507444" y="5512550"/>
            <a:ext cx="7648285" cy="1105292"/>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50"/>
              </a:lnSpc>
              <a:buNone/>
            </a:pPr>
            <a:r>
              <a:rPr sz="2180">
                <a:solidFill>
                  <a:srgbClr val="C6C6C6"/>
                </a:solidFill>
                <a:latin typeface="Montserrat Light"/>
                <a:ea typeface="Montserrat Light"/>
                <a:cs typeface="Montserrat Light"/>
              </a:rPr>
              <a:t>-</a:t>
            </a:r>
            <a:r>
              <a:rPr sz="2180">
                <a:solidFill>
                  <a:srgbClr val="C6C6C6"/>
                </a:solidFill>
                <a:latin typeface="Montserrat Light"/>
                <a:ea typeface="Montserrat Light"/>
                <a:cs typeface="Montserrat Light"/>
              </a:rPr>
              <a:t> Hậu quả: thiết bị thực thi mã độc.</a:t>
            </a:r>
          </a:p>
          <a:p xmlns:a="http://schemas.openxmlformats.org/drawingml/2006/main">
            <a:pPr algn="l">
              <a:lnSpc>
                <a:spcPts val="3050"/>
              </a:lnSpc>
              <a:spcBef>
                <a:spcPct val="0"/>
              </a:spcBef>
              <a:buNone/>
            </a:pPr>
            <a:r>
              <a:rPr sz="2180">
                <a:solidFill>
                  <a:srgbClr val="C6C6C6"/>
                </a:solidFill>
                <a:latin typeface="Montserrat Light"/>
                <a:ea typeface="Montserrat Light"/>
                <a:cs typeface="Montserrat Light"/>
              </a:rPr>
              <a:t>- Giảm thiểu: ký manifest bằng RSA-PSS và neo khóa công khai tin cậy.</a:t>
            </a:r>
          </a:p>
        </p:txBody>
      </p:sp>
      <p:sp>
        <p:nvSpPr>
          <p:cNvPr id="11" name="TextBox 11">
            <a:extLst xmlns:a="http://schemas.openxmlformats.org/drawingml/2006/main">
              <a:ext uri="{FF2B5EF4-FFF2-40B4-BE49-F238E27FC236}">
                <a16:creationId xmlns:a16="http://schemas.microsoft.com/office/drawing/2014/main" id="{79F5BD81-521B-455D-B12A-E4CE445E31CB}"/>
              </a:ext>
            </a:extLst>
          </p:cNvPr>
          <p:cNvSpPr>
            <a:spLocks xmlns:a="http://schemas.openxmlformats.org/drawingml/2006/main" noGrp="1"/>
          </p:cNvSpPr>
          <p:nvPr/>
        </p:nvSpPr>
        <p:spPr>
          <a:xfrm xmlns:a="http://schemas.openxmlformats.org/drawingml/2006/main">
            <a:off x="2546553" y="4885155"/>
            <a:ext cx="6609175" cy="478032"/>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870"/>
              </a:lnSpc>
              <a:spcBef>
                <a:spcPct val="0"/>
              </a:spcBef>
              <a:buNone/>
            </a:pPr>
            <a:r>
              <a:rPr sz="2765" b="1">
                <a:solidFill>
                  <a:srgbClr val="FFFFFF"/>
                </a:solidFill>
                <a:latin typeface="Montserrat Bold"/>
                <a:ea typeface="Montserrat Bold"/>
                <a:cs typeface="Montserrat Bold"/>
              </a:rPr>
              <a:t>Giả</a:t>
            </a:r>
            <a:r>
              <a:rPr sz="2765" b="1">
                <a:solidFill>
                  <a:srgbClr val="FFFFFF"/>
                </a:solidFill>
                <a:latin typeface="Montserrat Bold"/>
                <a:ea typeface="Montserrat Bold"/>
                <a:cs typeface="Montserrat Bold"/>
              </a:rPr>
              <a:t> mạo firmware</a:t>
            </a:r>
          </a:p>
        </p:txBody>
      </p:sp>
      <p:sp>
        <p:nvSpPr>
          <p:cNvPr id="12" name="TextBox 12">
            <a:extLst xmlns:a="http://schemas.openxmlformats.org/drawingml/2006/main">
              <a:ext uri="{FF2B5EF4-FFF2-40B4-BE49-F238E27FC236}">
                <a16:creationId xmlns:a16="http://schemas.microsoft.com/office/drawing/2014/main" id="{69891994-7711-42A8-B166-50ED00003E12}"/>
              </a:ext>
            </a:extLst>
          </p:cNvPr>
          <p:cNvSpPr>
            <a:spLocks xmlns:a="http://schemas.openxmlformats.org/drawingml/2006/main" noGrp="1"/>
          </p:cNvSpPr>
          <p:nvPr/>
        </p:nvSpPr>
        <p:spPr>
          <a:xfrm xmlns:a="http://schemas.openxmlformats.org/drawingml/2006/main">
            <a:off x="1507444" y="4903351"/>
            <a:ext cx="1039109" cy="477957"/>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870"/>
              </a:lnSpc>
              <a:spcBef>
                <a:spcPct val="0"/>
              </a:spcBef>
              <a:buNone/>
            </a:pPr>
            <a:r>
              <a:rPr sz="2765" b="1">
                <a:solidFill>
                  <a:srgbClr val="FFFFFF"/>
                </a:solidFill>
                <a:latin typeface="Montserrat Bold"/>
                <a:ea typeface="Montserrat Bold"/>
                <a:cs typeface="Montserrat Bold"/>
              </a:rPr>
              <a:t>01</a:t>
            </a:r>
          </a:p>
        </p:txBody>
      </p:sp>
      <p:sp>
        <p:nvSpPr>
          <p:cNvPr id="13" name="TextBox 13">
            <a:extLst xmlns:a="http://schemas.openxmlformats.org/drawingml/2006/main">
              <a:ext uri="{FF2B5EF4-FFF2-40B4-BE49-F238E27FC236}">
                <a16:creationId xmlns:a16="http://schemas.microsoft.com/office/drawing/2014/main" id="{3F0D7BF4-F105-4AFB-B4AF-05C2E1AD446F}"/>
              </a:ext>
            </a:extLst>
          </p:cNvPr>
          <p:cNvSpPr>
            <a:spLocks xmlns:a="http://schemas.openxmlformats.org/drawingml/2006/main" noGrp="1"/>
          </p:cNvSpPr>
          <p:nvPr/>
        </p:nvSpPr>
        <p:spPr>
          <a:xfrm xmlns:a="http://schemas.openxmlformats.org/drawingml/2006/main">
            <a:off x="10071554" y="3610938"/>
            <a:ext cx="1022862" cy="47137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810"/>
              </a:lnSpc>
              <a:spcBef>
                <a:spcPct val="0"/>
              </a:spcBef>
              <a:buNone/>
            </a:pPr>
            <a:r>
              <a:rPr sz="2720" b="1">
                <a:solidFill>
                  <a:srgbClr val="FFFFFF"/>
                </a:solidFill>
                <a:latin typeface="Montserrat Bold"/>
                <a:ea typeface="Montserrat Bold"/>
                <a:cs typeface="Montserrat Bold"/>
              </a:rPr>
              <a:t>02</a:t>
            </a:r>
          </a:p>
        </p:txBody>
      </p:sp>
      <p:sp>
        <p:nvSpPr>
          <p:cNvPr id="14" name="TextBox 14">
            <a:extLst xmlns:a="http://schemas.openxmlformats.org/drawingml/2006/main">
              <a:ext uri="{FF2B5EF4-FFF2-40B4-BE49-F238E27FC236}">
                <a16:creationId xmlns:a16="http://schemas.microsoft.com/office/drawing/2014/main" id="{9009CA9C-9700-4B54-9BB9-3A890D7EE903}"/>
              </a:ext>
            </a:extLst>
          </p:cNvPr>
          <p:cNvSpPr>
            <a:spLocks xmlns:a="http://schemas.openxmlformats.org/drawingml/2006/main" noGrp="1"/>
          </p:cNvSpPr>
          <p:nvPr/>
        </p:nvSpPr>
        <p:spPr>
          <a:xfrm xmlns:a="http://schemas.openxmlformats.org/drawingml/2006/main">
            <a:off x="11094416" y="3610938"/>
            <a:ext cx="6505834" cy="47145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810"/>
              </a:lnSpc>
              <a:spcBef>
                <a:spcPct val="0"/>
              </a:spcBef>
              <a:buNone/>
            </a:pPr>
            <a:r>
              <a:rPr sz="2720" b="1">
                <a:solidFill>
                  <a:srgbClr val="FFFFFF"/>
                </a:solidFill>
                <a:latin typeface="Montserrat Bold"/>
                <a:ea typeface="Montserrat Bold"/>
                <a:cs typeface="Montserrat Bold"/>
              </a:rPr>
              <a:t>Sửa</a:t>
            </a:r>
            <a:r>
              <a:rPr sz="2720" b="1">
                <a:solidFill>
                  <a:srgbClr val="FFFFFF"/>
                </a:solidFill>
                <a:latin typeface="Montserrat Bold"/>
                <a:ea typeface="Montserrat Bold"/>
                <a:cs typeface="Montserrat Bold"/>
              </a:rPr>
              <a:t> đổi firmware</a:t>
            </a:r>
          </a:p>
        </p:txBody>
      </p:sp>
      <p:sp>
        <p:nvSpPr>
          <p:cNvPr id="16" name="Freeform 16">
            <a:extLst xmlns:a="http://schemas.openxmlformats.org/drawingml/2006/main">
              <a:ext uri="{FF2B5EF4-FFF2-40B4-BE49-F238E27FC236}">
                <a16:creationId xmlns:a16="http://schemas.microsoft.com/office/drawing/2014/main" id="{E4FAE663-9B47-4620-92BD-A5292B68B751}"/>
              </a:ext>
            </a:extLst>
          </p:cNvPr>
          <p:cNvSpPr>
            <a:spLocks xmlns:a="http://schemas.openxmlformats.org/drawingml/2006/main" noGrp="1"/>
          </p:cNvSpPr>
          <p:nvPr/>
        </p:nvSpPr>
        <p:spPr>
          <a:xfrm xmlns:a="http://schemas.openxmlformats.org/drawingml/2006/main" rot="0" flipH="0" flipV="0">
            <a:off x="9592810" y="6135409"/>
            <a:ext cx="9329646" cy="2318856"/>
          </a:xfrm>
          <a:custGeom xmlns:a="http://schemas.openxmlformats.org/drawingml/2006/main">
            <a:rect l="l" t="t" r="r" b="b"/>
            <a:pathLst>
              <a:path w="1046692" h="260152">
                <a:moveTo>
                  <a:pt x="20745" y="0"/>
                </a:moveTo>
                <a:lnTo>
                  <a:pt x="1025947" y="0"/>
                </a:lnTo>
                <a:cubicBezTo>
                  <a:pt x="1037404" y="0"/>
                  <a:pt x="1046692" y="9288"/>
                  <a:pt x="1046692" y="20745"/>
                </a:cubicBezTo>
                <a:lnTo>
                  <a:pt x="1046692" y="239407"/>
                </a:lnTo>
                <a:cubicBezTo>
                  <a:pt x="1046692" y="250864"/>
                  <a:pt x="1037404" y="260152"/>
                  <a:pt x="1025947" y="260152"/>
                </a:cubicBezTo>
                <a:lnTo>
                  <a:pt x="20745" y="260152"/>
                </a:lnTo>
                <a:cubicBezTo>
                  <a:pt x="9288" y="260152"/>
                  <a:pt x="0" y="250864"/>
                  <a:pt x="0" y="239407"/>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17" name="TextBox 17">
            <a:extLst xmlns:a="http://schemas.openxmlformats.org/drawingml/2006/main">
              <a:ext uri="{FF2B5EF4-FFF2-40B4-BE49-F238E27FC236}">
                <a16:creationId xmlns:a16="http://schemas.microsoft.com/office/drawing/2014/main" id="{A2C5A39E-1752-4B87-86DA-920AFAB23381}"/>
              </a:ext>
            </a:extLst>
          </p:cNvPr>
          <p:cNvSpPr>
            <a:spLocks xmlns:a="http://schemas.openxmlformats.org/drawingml/2006/main" noGrp="1"/>
          </p:cNvSpPr>
          <p:nvPr/>
        </p:nvSpPr>
        <p:spPr>
          <a:xfrm xmlns:a="http://schemas.openxmlformats.org/drawingml/2006/main" rot="0" flipH="0" flipV="0">
            <a:off x="9592810" y="5795806"/>
            <a:ext cx="9329646" cy="2658459"/>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8" name="TextBox 18">
            <a:extLst xmlns:a="http://schemas.openxmlformats.org/drawingml/2006/main">
              <a:ext uri="{FF2B5EF4-FFF2-40B4-BE49-F238E27FC236}">
                <a16:creationId xmlns:a16="http://schemas.microsoft.com/office/drawing/2014/main" id="{8B2ECAB6-263E-46F3-A6DA-A5D0ACA584FE}"/>
              </a:ext>
            </a:extLst>
          </p:cNvPr>
          <p:cNvSpPr>
            <a:spLocks xmlns:a="http://schemas.openxmlformats.org/drawingml/2006/main" noGrp="1"/>
          </p:cNvSpPr>
          <p:nvPr/>
        </p:nvSpPr>
        <p:spPr>
          <a:xfrm xmlns:a="http://schemas.openxmlformats.org/drawingml/2006/main">
            <a:off x="11074697" y="6373731"/>
            <a:ext cx="6380410" cy="463464"/>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735"/>
              </a:lnSpc>
              <a:spcBef>
                <a:spcPct val="0"/>
              </a:spcBef>
              <a:buNone/>
            </a:pPr>
            <a:r>
              <a:rPr sz="2670" b="1">
                <a:solidFill>
                  <a:srgbClr val="FFFFFF"/>
                </a:solidFill>
                <a:latin typeface="Montserrat Bold"/>
                <a:ea typeface="Montserrat Bold"/>
                <a:cs typeface="Montserrat Bold"/>
              </a:rPr>
              <a:t>Phát lại</a:t>
            </a:r>
            <a:r>
              <a:rPr sz="2670" b="1">
                <a:solidFill>
                  <a:srgbClr val="FFFFFF"/>
                </a:solidFill>
                <a:latin typeface="Montserrat Bold"/>
                <a:ea typeface="Montserrat Bold"/>
                <a:cs typeface="Montserrat Bold"/>
              </a:rPr>
              <a:t> phiên bản cũ</a:t>
            </a:r>
          </a:p>
        </p:txBody>
      </p:sp>
      <p:sp>
        <p:nvSpPr>
          <p:cNvPr id="19" name="TextBox 19">
            <a:extLst xmlns:a="http://schemas.openxmlformats.org/drawingml/2006/main">
              <a:ext uri="{FF2B5EF4-FFF2-40B4-BE49-F238E27FC236}">
                <a16:creationId xmlns:a16="http://schemas.microsoft.com/office/drawing/2014/main" id="{6805BF0A-3884-48AF-B5E4-030AB10CD4D9}"/>
              </a:ext>
            </a:extLst>
          </p:cNvPr>
          <p:cNvSpPr>
            <a:spLocks xmlns:a="http://schemas.openxmlformats.org/drawingml/2006/main" noGrp="1"/>
          </p:cNvSpPr>
          <p:nvPr/>
        </p:nvSpPr>
        <p:spPr>
          <a:xfrm xmlns:a="http://schemas.openxmlformats.org/drawingml/2006/main">
            <a:off x="10071554" y="6373731"/>
            <a:ext cx="1003142" cy="463392"/>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735"/>
              </a:lnSpc>
              <a:spcBef>
                <a:spcPct val="0"/>
              </a:spcBef>
              <a:buNone/>
            </a:pPr>
            <a:r>
              <a:rPr sz="2670" b="1">
                <a:solidFill>
                  <a:srgbClr val="FFFFFF"/>
                </a:solidFill>
                <a:latin typeface="Montserrat Bold"/>
                <a:ea typeface="Montserrat Bold"/>
                <a:cs typeface="Montserrat Bold"/>
              </a:rPr>
              <a:t>03</a:t>
            </a:r>
          </a:p>
        </p:txBody>
      </p:sp>
      <p:sp>
        <p:nvSpPr>
          <p:cNvPr id="20" name="Freeform 20">
            <a:extLst xmlns:a="http://schemas.openxmlformats.org/drawingml/2006/main">
              <a:ext uri="{FF2B5EF4-FFF2-40B4-BE49-F238E27FC236}">
                <a16:creationId xmlns:a16="http://schemas.microsoft.com/office/drawing/2014/main" id="{D452C3AA-10CF-4544-B710-81E230028A8B}"/>
              </a:ext>
            </a:extLst>
          </p:cNvPr>
          <p:cNvSpPr>
            <a:spLocks xmlns:a="http://schemas.openxmlformats.org/drawingml/2006/main" noGrp="1"/>
          </p:cNvSpPr>
          <p:nvPr/>
        </p:nvSpPr>
        <p:spPr>
          <a:xfrm xmlns:a="http://schemas.openxmlformats.org/drawingml/2006/main">
            <a:off x="-2108849" y="7310674"/>
            <a:ext cx="9438577" cy="6748583"/>
          </a:xfrm>
          <a:custGeom xmlns:a="http://schemas.openxmlformats.org/drawingml/2006/main">
            <a:rect l="l" t="t" r="r" b="b"/>
            <a:pathLst>
              <a:path w="9438577" h="6748583">
                <a:moveTo>
                  <a:pt x="0" y="0"/>
                </a:moveTo>
                <a:lnTo>
                  <a:pt x="9438578" y="0"/>
                </a:lnTo>
                <a:lnTo>
                  <a:pt x="9438578" y="6748583"/>
                </a:lnTo>
                <a:lnTo>
                  <a:pt x="0" y="6748583"/>
                </a:lnTo>
                <a:lnTo>
                  <a:pt x="0" y="0"/>
                </a:lnTo>
                <a:close/>
              </a:path>
            </a:pathLst>
          </a:custGeom>
          <a:blipFill xmlns:a="http://schemas.openxmlformats.org/drawingml/2006/main">
            <a:blip xmlns:r="http://schemas.openxmlformats.org/officeDocument/2006/relationships" r:embed="R4e43ac9e9aa94479">
              <a:extLst>
                <a:ext uri="{96DAC541-7B7A-43D3-8B79-37D633B846F1}">
                  <asvg:svgBlip xmlns:asvg="http://schemas.microsoft.com/office/drawing/2016/SVG/main" r:embed="Rb69b7f1f390f40c5"/>
                </a:ext>
              </a:extLst>
            </a:blip>
            <a:stretch>
              <a:fillRect l="0" t="0" r="0" b="0"/>
            </a:stretch>
          </a:blipFill>
        </p:spPr>
      </p:sp>
      <p:sp>
        <p:nvSpPr>
          <p:cNvPr id="22" name="Freeform 22">
            <a:extLst xmlns:a="http://schemas.openxmlformats.org/drawingml/2006/main">
              <a:ext uri="{FF2B5EF4-FFF2-40B4-BE49-F238E27FC236}">
                <a16:creationId xmlns:a16="http://schemas.microsoft.com/office/drawing/2014/main" id="{C000CC87-097D-47D3-9184-166DD69EC920}"/>
              </a:ext>
            </a:extLst>
          </p:cNvPr>
          <p:cNvSpPr>
            <a:spLocks xmlns:a="http://schemas.openxmlformats.org/drawingml/2006/main" noGrp="1"/>
          </p:cNvSpPr>
          <p:nvPr/>
        </p:nvSpPr>
        <p:spPr>
          <a:xfrm xmlns:a="http://schemas.openxmlformats.org/drawingml/2006/main" rot="0" flipH="0" flipV="0">
            <a:off x="1028700" y="8848918"/>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23" name="TextBox 23">
            <a:extLst xmlns:a="http://schemas.openxmlformats.org/drawingml/2006/main">
              <a:ext uri="{FF2B5EF4-FFF2-40B4-BE49-F238E27FC236}">
                <a16:creationId xmlns:a16="http://schemas.microsoft.com/office/drawing/2014/main" id="{5DB91F78-C6B7-4289-8ADB-2C4F7D96C787}"/>
              </a:ext>
            </a:extLst>
          </p:cNvPr>
          <p:cNvSpPr>
            <a:spLocks xmlns:a="http://schemas.openxmlformats.org/drawingml/2006/main" noGrp="1"/>
          </p:cNvSpPr>
          <p:nvPr/>
        </p:nvSpPr>
        <p:spPr>
          <a:xfrm xmlns:a="http://schemas.openxmlformats.org/drawingml/2006/main" rot="0" flipH="0" flipV="0">
            <a:off x="1613075" y="8654127"/>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5" name="Freeform 25">
            <a:extLst xmlns:a="http://schemas.openxmlformats.org/drawingml/2006/main">
              <a:ext uri="{FF2B5EF4-FFF2-40B4-BE49-F238E27FC236}">
                <a16:creationId xmlns:a16="http://schemas.microsoft.com/office/drawing/2014/main" id="{D5355E4E-BCDD-48D5-8D13-1F52E4F281C9}"/>
              </a:ext>
            </a:extLst>
          </p:cNvPr>
          <p:cNvSpPr>
            <a:spLocks xmlns:a="http://schemas.openxmlformats.org/drawingml/2006/main" noGrp="1"/>
          </p:cNvSpPr>
          <p:nvPr/>
        </p:nvSpPr>
        <p:spPr>
          <a:xfrm xmlns:a="http://schemas.openxmlformats.org/drawingml/2006/main" rot="0" flipH="0" flipV="0">
            <a:off x="3746822" y="8848918"/>
            <a:ext cx="1510485" cy="129807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47000"/>
                </a:srgbClr>
              </a:gs>
              <a:gs pos="100000">
                <a:srgbClr val="035E8E">
                  <a:alpha val="0"/>
                </a:srgbClr>
              </a:gs>
            </a:gsLst>
            <a:lin ang="0"/>
          </a:gradFill>
        </p:spPr>
      </p:sp>
      <p:sp>
        <p:nvSpPr>
          <p:cNvPr id="26" name="TextBox 26">
            <a:extLst xmlns:a="http://schemas.openxmlformats.org/drawingml/2006/main">
              <a:ext uri="{FF2B5EF4-FFF2-40B4-BE49-F238E27FC236}">
                <a16:creationId xmlns:a16="http://schemas.microsoft.com/office/drawing/2014/main" id="{A43D19A0-F36B-4EC3-BB78-981A20C239EC}"/>
              </a:ext>
            </a:extLst>
          </p:cNvPr>
          <p:cNvSpPr>
            <a:spLocks xmlns:a="http://schemas.openxmlformats.org/drawingml/2006/main" noGrp="1"/>
          </p:cNvSpPr>
          <p:nvPr/>
        </p:nvSpPr>
        <p:spPr>
          <a:xfrm xmlns:a="http://schemas.openxmlformats.org/drawingml/2006/main" rot="0" flipH="0" flipV="0">
            <a:off x="3959233" y="8778115"/>
            <a:ext cx="1085661" cy="1368876"/>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7" name="TextBox 27">
            <a:extLst xmlns:a="http://schemas.openxmlformats.org/drawingml/2006/main">
              <a:ext uri="{FF2B5EF4-FFF2-40B4-BE49-F238E27FC236}">
                <a16:creationId xmlns:a16="http://schemas.microsoft.com/office/drawing/2014/main" id="{24CEAE92-56AF-438B-AFC4-6D3A569CF573}"/>
              </a:ext>
            </a:extLst>
          </p:cNvPr>
          <p:cNvSpPr>
            <a:spLocks xmlns:a="http://schemas.openxmlformats.org/drawingml/2006/main" noGrp="1"/>
          </p:cNvSpPr>
          <p:nvPr/>
        </p:nvSpPr>
        <p:spPr>
          <a:xfrm xmlns:a="http://schemas.openxmlformats.org/drawingml/2006/main">
            <a:off x="10071554" y="4276016"/>
            <a:ext cx="7648285" cy="1105292"/>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50"/>
              </a:lnSpc>
              <a:buNone/>
            </a:pPr>
            <a:r>
              <a:rPr sz="2180">
                <a:solidFill>
                  <a:srgbClr val="C6C6C6"/>
                </a:solidFill>
                <a:latin typeface="Montserrat Light"/>
                <a:ea typeface="Montserrat Light"/>
                <a:cs typeface="Montserrat Light"/>
              </a:rPr>
              <a:t>-</a:t>
            </a:r>
            <a:r>
              <a:rPr sz="2180">
                <a:solidFill>
                  <a:srgbClr val="C6C6C6"/>
                </a:solidFill>
                <a:latin typeface="Montserrat Light"/>
                <a:ea typeface="Montserrat Light"/>
                <a:cs typeface="Montserrat Light"/>
              </a:rPr>
              <a:t> Hậu quả: thay đổi chức năng hoặc làm hỏng thiết bị.</a:t>
            </a:r>
          </a:p>
          <a:p xmlns:a="http://schemas.openxmlformats.org/drawingml/2006/main">
            <a:pPr algn="l">
              <a:lnSpc>
                <a:spcPts val="3050"/>
              </a:lnSpc>
              <a:spcBef>
                <a:spcPct val="0"/>
              </a:spcBef>
              <a:buNone/>
            </a:pPr>
            <a:r>
              <a:rPr sz="2180">
                <a:solidFill>
                  <a:srgbClr val="C6C6C6"/>
                </a:solidFill>
                <a:latin typeface="Montserrat Light"/>
                <a:ea typeface="Montserrat Light"/>
                <a:cs typeface="Montserrat Light"/>
              </a:rPr>
              <a:t>- Giảm thiểu: AES-GCM kết hợp SHA-256.</a:t>
            </a:r>
          </a:p>
          <a:p xmlns:a="http://schemas.openxmlformats.org/drawingml/2006/main">
            <a:pPr algn="l">
              <a:lnSpc>
                <a:spcPts val="3050"/>
              </a:lnSpc>
              <a:spcBef>
                <a:spcPct val="0"/>
              </a:spcBef>
              <a:buNone/>
            </a:pPr>
          </a:p>
        </p:txBody>
      </p:sp>
      <p:sp>
        <p:nvSpPr>
          <p:cNvPr id="28" name="TextBox 28">
            <a:extLst xmlns:a="http://schemas.openxmlformats.org/drawingml/2006/main">
              <a:ext uri="{FF2B5EF4-FFF2-40B4-BE49-F238E27FC236}">
                <a16:creationId xmlns:a16="http://schemas.microsoft.com/office/drawing/2014/main" id="{B182041F-CB2E-4156-BDEC-BE14C1C3C341}"/>
              </a:ext>
            </a:extLst>
          </p:cNvPr>
          <p:cNvSpPr>
            <a:spLocks xmlns:a="http://schemas.openxmlformats.org/drawingml/2006/main" noGrp="1"/>
          </p:cNvSpPr>
          <p:nvPr/>
        </p:nvSpPr>
        <p:spPr>
          <a:xfrm xmlns:a="http://schemas.openxmlformats.org/drawingml/2006/main">
            <a:off x="10071554" y="7128629"/>
            <a:ext cx="7648285" cy="1105292"/>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050"/>
              </a:lnSpc>
              <a:buNone/>
            </a:pPr>
            <a:r>
              <a:rPr sz="2180">
                <a:solidFill>
                  <a:srgbClr val="C6C6C6"/>
                </a:solidFill>
                <a:latin typeface="Montserrat Light"/>
                <a:ea typeface="Montserrat Light"/>
                <a:cs typeface="Montserrat Light"/>
              </a:rPr>
              <a:t>-</a:t>
            </a:r>
            <a:r>
              <a:rPr sz="2180">
                <a:solidFill>
                  <a:srgbClr val="C6C6C6"/>
                </a:solidFill>
                <a:latin typeface="Montserrat Light"/>
                <a:ea typeface="Montserrat Light"/>
                <a:cs typeface="Montserrat Light"/>
              </a:rPr>
              <a:t> Hậu quả: khôi phục lỗ hổng đã được sửa.</a:t>
            </a:r>
          </a:p>
          <a:p xmlns:a="http://schemas.openxmlformats.org/drawingml/2006/main">
            <a:pPr algn="l">
              <a:lnSpc>
                <a:spcPts val="3050"/>
              </a:lnSpc>
              <a:spcBef>
                <a:spcPct val="0"/>
              </a:spcBef>
              <a:buNone/>
            </a:pPr>
            <a:r>
              <a:rPr sz="2180">
                <a:solidFill>
                  <a:srgbClr val="C6C6C6"/>
                </a:solidFill>
                <a:latin typeface="Montserrat Light"/>
                <a:ea typeface="Montserrat Light"/>
                <a:cs typeface="Montserrat Light"/>
              </a:rPr>
              <a:t>- Giảm thiểu: sequence tăng đơn điệu và anti-rollback.</a:t>
            </a:r>
          </a:p>
          <a:p xmlns:a="http://schemas.openxmlformats.org/drawingml/2006/main">
            <a:pPr algn="l">
              <a:lnSpc>
                <a:spcPts val="3050"/>
              </a:lnSpc>
              <a:spcBef>
                <a:spcPct val="0"/>
              </a:spcBef>
              <a:buNone/>
            </a:pPr>
          </a:p>
        </p:txBody>
      </p:sp>
    </p:spTree>
    <p:extLst>
      <p:ext uri="{BB962C8B-B14F-4D97-AF65-F5344CB8AC3E}">
        <p14:creationId xmlns:p14="http://schemas.microsoft.com/office/powerpoint/2010/main" val="152532438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E38F5AEA-23EC-4BE6-8298-94DE488A5E77}"/>
              </a:ext>
            </a:extLst>
          </p:cNvPr>
          <p:cNvSpPr>
            <a:spLocks xmlns:a="http://schemas.openxmlformats.org/drawingml/2006/main" noGrp="1"/>
          </p:cNvSpPr>
          <p:nvPr/>
        </p:nvSpPr>
        <p:spPr>
          <a:xfrm xmlns:a="http://schemas.openxmlformats.org/drawingml/2006/main" flipV="1">
            <a:off x="0" y="0"/>
            <a:ext cx="18288000" cy="10287000"/>
          </a:xfrm>
          <a:custGeom xmlns:a="http://schemas.openxmlformats.org/drawingml/2006/main">
            <a:rect l="l" t="t" r="r" b="b"/>
            <a:pathLst>
              <a:path w="18288000" h="10287000">
                <a:moveTo>
                  <a:pt x="0" y="10287000"/>
                </a:moveTo>
                <a:lnTo>
                  <a:pt x="18288000" y="10287000"/>
                </a:lnTo>
                <a:lnTo>
                  <a:pt x="18288000" y="0"/>
                </a:lnTo>
                <a:lnTo>
                  <a:pt x="0" y="0"/>
                </a:lnTo>
                <a:lnTo>
                  <a:pt x="0" y="10287000"/>
                </a:lnTo>
                <a:close/>
              </a:path>
            </a:pathLst>
          </a:custGeom>
          <a:blipFill xmlns:a="http://schemas.openxmlformats.org/drawingml/2006/main">
            <a:blip xmlns:r="http://schemas.openxmlformats.org/officeDocument/2006/relationships" r:embed="R54d1287db44f4ffa"/>
            <a:stretch>
              <a:fillRect l="0" t="-124631" r="-124631" b="0"/>
            </a:stretch>
          </a:blipFill>
        </p:spPr>
      </p:sp>
      <p:sp>
        <p:nvSpPr>
          <p:cNvPr id="3" name="TextBox 3">
            <a:extLst xmlns:a="http://schemas.openxmlformats.org/drawingml/2006/main">
              <a:ext uri="{FF2B5EF4-FFF2-40B4-BE49-F238E27FC236}">
                <a16:creationId xmlns:a16="http://schemas.microsoft.com/office/drawing/2014/main" id="{DCD6FAFA-9CDA-47ED-B821-D3FBF56C92EE}"/>
              </a:ext>
            </a:extLst>
          </p:cNvPr>
          <p:cNvSpPr>
            <a:spLocks xmlns:a="http://schemas.openxmlformats.org/drawingml/2006/main" noGrp="1"/>
          </p:cNvSpPr>
          <p:nvPr/>
        </p:nvSpPr>
        <p:spPr>
          <a:xfrm xmlns:a="http://schemas.openxmlformats.org/drawingml/2006/main">
            <a:off x="1028700" y="878511"/>
            <a:ext cx="10181165" cy="2053639"/>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8240"/>
              </a:lnSpc>
              <a:spcBef>
                <a:spcPct val="0"/>
              </a:spcBef>
              <a:buNone/>
            </a:pPr>
            <a:r>
              <a:rPr sz="5885" b="1">
                <a:solidFill>
                  <a:srgbClr val="FFFFFF"/>
                </a:solidFill>
                <a:latin typeface="TT Lakes Neue Extended Bold"/>
                <a:ea typeface="TT Lakes Neue Extended Bold"/>
                <a:cs typeface="TT Lakes Neue Extended Bold"/>
              </a:rPr>
              <a:t>RỦI RO VÀ BIỆN PHÁP GIẢM THIỂU</a:t>
            </a:r>
          </a:p>
        </p:txBody>
      </p:sp>
      <p:sp>
        <p:nvSpPr>
          <p:cNvPr id="5" name="Freeform 5">
            <a:extLst xmlns:a="http://schemas.openxmlformats.org/drawingml/2006/main">
              <a:ext uri="{FF2B5EF4-FFF2-40B4-BE49-F238E27FC236}">
                <a16:creationId xmlns:a16="http://schemas.microsoft.com/office/drawing/2014/main" id="{6A5471C0-CF8C-46C7-B055-326425549BBD}"/>
              </a:ext>
            </a:extLst>
          </p:cNvPr>
          <p:cNvSpPr>
            <a:spLocks xmlns:a="http://schemas.openxmlformats.org/drawingml/2006/main" noGrp="1"/>
          </p:cNvSpPr>
          <p:nvPr/>
        </p:nvSpPr>
        <p:spPr>
          <a:xfrm xmlns:a="http://schemas.openxmlformats.org/drawingml/2006/main" rot="0" flipH="0" flipV="0">
            <a:off x="1485874" y="3425829"/>
            <a:ext cx="9329646" cy="2318856"/>
          </a:xfrm>
          <a:custGeom xmlns:a="http://schemas.openxmlformats.org/drawingml/2006/main">
            <a:rect l="l" t="t" r="r" b="b"/>
            <a:pathLst>
              <a:path w="1046692" h="260152">
                <a:moveTo>
                  <a:pt x="20745" y="0"/>
                </a:moveTo>
                <a:lnTo>
                  <a:pt x="1025947" y="0"/>
                </a:lnTo>
                <a:cubicBezTo>
                  <a:pt x="1037404" y="0"/>
                  <a:pt x="1046692" y="9288"/>
                  <a:pt x="1046692" y="20745"/>
                </a:cubicBezTo>
                <a:lnTo>
                  <a:pt x="1046692" y="239407"/>
                </a:lnTo>
                <a:cubicBezTo>
                  <a:pt x="1046692" y="250864"/>
                  <a:pt x="1037404" y="260152"/>
                  <a:pt x="1025947" y="260152"/>
                </a:cubicBezTo>
                <a:lnTo>
                  <a:pt x="20745" y="260152"/>
                </a:lnTo>
                <a:cubicBezTo>
                  <a:pt x="9288" y="260152"/>
                  <a:pt x="0" y="250864"/>
                  <a:pt x="0" y="239407"/>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6" name="TextBox 6">
            <a:extLst xmlns:a="http://schemas.openxmlformats.org/drawingml/2006/main">
              <a:ext uri="{FF2B5EF4-FFF2-40B4-BE49-F238E27FC236}">
                <a16:creationId xmlns:a16="http://schemas.microsoft.com/office/drawing/2014/main" id="{ED4C73E2-0C73-4CAD-B5E0-D63C9C3F6639}"/>
              </a:ext>
            </a:extLst>
          </p:cNvPr>
          <p:cNvSpPr>
            <a:spLocks xmlns:a="http://schemas.openxmlformats.org/drawingml/2006/main" noGrp="1"/>
          </p:cNvSpPr>
          <p:nvPr/>
        </p:nvSpPr>
        <p:spPr>
          <a:xfrm xmlns:a="http://schemas.openxmlformats.org/drawingml/2006/main" rot="0" flipH="0" flipV="0">
            <a:off x="1485874" y="3086226"/>
            <a:ext cx="9329646" cy="2658459"/>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8" name="Freeform 8">
            <a:extLst xmlns:a="http://schemas.openxmlformats.org/drawingml/2006/main">
              <a:ext uri="{FF2B5EF4-FFF2-40B4-BE49-F238E27FC236}">
                <a16:creationId xmlns:a16="http://schemas.microsoft.com/office/drawing/2014/main" id="{C017EE65-4C59-47F8-B3A7-EE184581B007}"/>
              </a:ext>
            </a:extLst>
          </p:cNvPr>
          <p:cNvSpPr>
            <a:spLocks xmlns:a="http://schemas.openxmlformats.org/drawingml/2006/main" noGrp="1"/>
          </p:cNvSpPr>
          <p:nvPr/>
        </p:nvSpPr>
        <p:spPr>
          <a:xfrm xmlns:a="http://schemas.openxmlformats.org/drawingml/2006/main" rot="0" flipH="0" flipV="0">
            <a:off x="8568846" y="6128198"/>
            <a:ext cx="9329646" cy="2318856"/>
          </a:xfrm>
          <a:custGeom xmlns:a="http://schemas.openxmlformats.org/drawingml/2006/main">
            <a:rect l="l" t="t" r="r" b="b"/>
            <a:pathLst>
              <a:path w="1046692" h="260152">
                <a:moveTo>
                  <a:pt x="20745" y="0"/>
                </a:moveTo>
                <a:lnTo>
                  <a:pt x="1025947" y="0"/>
                </a:lnTo>
                <a:cubicBezTo>
                  <a:pt x="1037404" y="0"/>
                  <a:pt x="1046692" y="9288"/>
                  <a:pt x="1046692" y="20745"/>
                </a:cubicBezTo>
                <a:lnTo>
                  <a:pt x="1046692" y="239407"/>
                </a:lnTo>
                <a:cubicBezTo>
                  <a:pt x="1046692" y="250864"/>
                  <a:pt x="1037404" y="260152"/>
                  <a:pt x="1025947" y="260152"/>
                </a:cubicBezTo>
                <a:lnTo>
                  <a:pt x="20745" y="260152"/>
                </a:lnTo>
                <a:cubicBezTo>
                  <a:pt x="9288" y="260152"/>
                  <a:pt x="0" y="250864"/>
                  <a:pt x="0" y="239407"/>
                </a:cubicBezTo>
                <a:lnTo>
                  <a:pt x="0" y="20745"/>
                </a:lnTo>
                <a:cubicBezTo>
                  <a:pt x="0" y="9288"/>
                  <a:pt x="9288" y="0"/>
                  <a:pt x="20745"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9" name="TextBox 9">
            <a:extLst xmlns:a="http://schemas.openxmlformats.org/drawingml/2006/main">
              <a:ext uri="{FF2B5EF4-FFF2-40B4-BE49-F238E27FC236}">
                <a16:creationId xmlns:a16="http://schemas.microsoft.com/office/drawing/2014/main" id="{77829338-1D85-4E68-92E9-60C4440C630C}"/>
              </a:ext>
            </a:extLst>
          </p:cNvPr>
          <p:cNvSpPr>
            <a:spLocks xmlns:a="http://schemas.openxmlformats.org/drawingml/2006/main" noGrp="1"/>
          </p:cNvSpPr>
          <p:nvPr/>
        </p:nvSpPr>
        <p:spPr>
          <a:xfrm xmlns:a="http://schemas.openxmlformats.org/drawingml/2006/main" rot="0" flipH="0" flipV="0">
            <a:off x="8568846" y="5788595"/>
            <a:ext cx="9329646" cy="2658459"/>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0" name="TextBox 10">
            <a:extLst xmlns:a="http://schemas.openxmlformats.org/drawingml/2006/main">
              <a:ext uri="{FF2B5EF4-FFF2-40B4-BE49-F238E27FC236}">
                <a16:creationId xmlns:a16="http://schemas.microsoft.com/office/drawing/2014/main" id="{FF0A7372-FDFF-4633-BB74-72A617859E39}"/>
              </a:ext>
            </a:extLst>
          </p:cNvPr>
          <p:cNvSpPr>
            <a:spLocks xmlns:a="http://schemas.openxmlformats.org/drawingml/2006/main" noGrp="1"/>
          </p:cNvSpPr>
          <p:nvPr/>
        </p:nvSpPr>
        <p:spPr>
          <a:xfrm xmlns:a="http://schemas.openxmlformats.org/drawingml/2006/main">
            <a:off x="2215709" y="4376758"/>
            <a:ext cx="7390247" cy="106928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950"/>
              </a:lnSpc>
              <a:buNone/>
            </a:pPr>
            <a:r>
              <a:rPr sz="2105">
                <a:solidFill>
                  <a:srgbClr val="C6C6C6"/>
                </a:solidFill>
                <a:latin typeface="Montserrat Light"/>
                <a:ea typeface="Montserrat Light"/>
                <a:cs typeface="Montserrat Light"/>
              </a:rPr>
              <a:t>-</a:t>
            </a:r>
            <a:r>
              <a:rPr sz="2105">
                <a:solidFill>
                  <a:srgbClr val="C6C6C6"/>
                </a:solidFill>
                <a:latin typeface="Montserrat Light"/>
                <a:ea typeface="Montserrat Light"/>
                <a:cs typeface="Montserrat Light"/>
              </a:rPr>
              <a:t> Hậu quả: kẻ tấn công tạo firmware có chữ ký hợp lệ.</a:t>
            </a:r>
          </a:p>
          <a:p xmlns:a="http://schemas.openxmlformats.org/drawingml/2006/main">
            <a:pPr algn="l">
              <a:lnSpc>
                <a:spcPts val="2950"/>
              </a:lnSpc>
              <a:spcBef>
                <a:spcPct val="0"/>
              </a:spcBef>
              <a:buNone/>
            </a:pPr>
            <a:r>
              <a:rPr sz="2105">
                <a:solidFill>
                  <a:srgbClr val="C6C6C6"/>
                </a:solidFill>
                <a:latin typeface="Montserrat Light"/>
                <a:ea typeface="Montserrat Light"/>
                <a:cs typeface="Montserrat Light"/>
              </a:rPr>
              <a:t>- Giảm thiểu: lưu khóa trong HSM, phân quyền và luân chuyển khóa.</a:t>
            </a:r>
          </a:p>
        </p:txBody>
      </p:sp>
      <p:sp>
        <p:nvSpPr>
          <p:cNvPr id="11" name="TextBox 11">
            <a:extLst xmlns:a="http://schemas.openxmlformats.org/drawingml/2006/main">
              <a:ext uri="{FF2B5EF4-FFF2-40B4-BE49-F238E27FC236}">
                <a16:creationId xmlns:a16="http://schemas.microsoft.com/office/drawing/2014/main" id="{1867B779-C2EB-4781-BE76-71D76F7ABE34}"/>
              </a:ext>
            </a:extLst>
          </p:cNvPr>
          <p:cNvSpPr>
            <a:spLocks xmlns:a="http://schemas.openxmlformats.org/drawingml/2006/main" noGrp="1"/>
          </p:cNvSpPr>
          <p:nvPr/>
        </p:nvSpPr>
        <p:spPr>
          <a:xfrm xmlns:a="http://schemas.openxmlformats.org/drawingml/2006/main">
            <a:off x="3128207" y="3628878"/>
            <a:ext cx="6477749" cy="941463"/>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790"/>
              </a:lnSpc>
              <a:buNone/>
            </a:pPr>
            <a:r>
              <a:rPr sz="2710" b="1">
                <a:solidFill>
                  <a:srgbClr val="FFFFFF"/>
                </a:solidFill>
                <a:latin typeface="Montserrat Bold"/>
                <a:ea typeface="Montserrat Bold"/>
                <a:cs typeface="Montserrat Bold"/>
              </a:rPr>
              <a:t>Lộ</a:t>
            </a:r>
            <a:r>
              <a:rPr sz="2710" b="1">
                <a:solidFill>
                  <a:srgbClr val="FFFFFF"/>
                </a:solidFill>
                <a:latin typeface="Montserrat Bold"/>
                <a:ea typeface="Montserrat Bold"/>
                <a:cs typeface="Montserrat Bold"/>
              </a:rPr>
              <a:t> khóa ký</a:t>
            </a:r>
          </a:p>
          <a:p xmlns:a="http://schemas.openxmlformats.org/drawingml/2006/main">
            <a:pPr algn="l">
              <a:lnSpc>
                <a:spcPts val="3790"/>
              </a:lnSpc>
              <a:spcBef>
                <a:spcPct val="0"/>
              </a:spcBef>
              <a:buNone/>
            </a:pPr>
          </a:p>
        </p:txBody>
      </p:sp>
      <p:sp>
        <p:nvSpPr>
          <p:cNvPr id="12" name="TextBox 12">
            <a:extLst xmlns:a="http://schemas.openxmlformats.org/drawingml/2006/main">
              <a:ext uri="{FF2B5EF4-FFF2-40B4-BE49-F238E27FC236}">
                <a16:creationId xmlns:a16="http://schemas.microsoft.com/office/drawing/2014/main" id="{A6BD8C21-1498-4C5A-B586-1DBF171F2B19}"/>
              </a:ext>
            </a:extLst>
          </p:cNvPr>
          <p:cNvSpPr>
            <a:spLocks xmlns:a="http://schemas.openxmlformats.org/drawingml/2006/main" noGrp="1"/>
          </p:cNvSpPr>
          <p:nvPr/>
        </p:nvSpPr>
        <p:spPr>
          <a:xfrm xmlns:a="http://schemas.openxmlformats.org/drawingml/2006/main">
            <a:off x="2109761" y="3628878"/>
            <a:ext cx="1018446" cy="46013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790"/>
              </a:lnSpc>
              <a:spcBef>
                <a:spcPct val="0"/>
              </a:spcBef>
              <a:buNone/>
            </a:pPr>
            <a:r>
              <a:rPr sz="2710" b="1">
                <a:solidFill>
                  <a:srgbClr val="FFFFFF"/>
                </a:solidFill>
                <a:latin typeface="Montserrat Bold"/>
                <a:ea typeface="Montserrat Bold"/>
                <a:cs typeface="Montserrat Bold"/>
              </a:rPr>
              <a:t>04</a:t>
            </a:r>
          </a:p>
        </p:txBody>
      </p:sp>
      <p:sp>
        <p:nvSpPr>
          <p:cNvPr id="13" name="TextBox 13">
            <a:extLst xmlns:a="http://schemas.openxmlformats.org/drawingml/2006/main">
              <a:ext uri="{FF2B5EF4-FFF2-40B4-BE49-F238E27FC236}">
                <a16:creationId xmlns:a16="http://schemas.microsoft.com/office/drawing/2014/main" id="{B2FB6BA6-B9D1-4112-BDF3-15476CE9557E}"/>
              </a:ext>
            </a:extLst>
          </p:cNvPr>
          <p:cNvSpPr>
            <a:spLocks xmlns:a="http://schemas.openxmlformats.org/drawingml/2006/main" noGrp="1"/>
          </p:cNvSpPr>
          <p:nvPr/>
        </p:nvSpPr>
        <p:spPr>
          <a:xfrm xmlns:a="http://schemas.openxmlformats.org/drawingml/2006/main">
            <a:off x="9109479" y="6451802"/>
            <a:ext cx="1019165" cy="460429"/>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795"/>
              </a:lnSpc>
              <a:spcBef>
                <a:spcPct val="0"/>
              </a:spcBef>
              <a:buNone/>
            </a:pPr>
            <a:r>
              <a:rPr sz="2710" b="1">
                <a:solidFill>
                  <a:srgbClr val="FFFFFF"/>
                </a:solidFill>
                <a:latin typeface="Montserrat Bold"/>
                <a:ea typeface="Montserrat Bold"/>
                <a:cs typeface="Montserrat Bold"/>
              </a:rPr>
              <a:t>05</a:t>
            </a:r>
          </a:p>
        </p:txBody>
      </p:sp>
      <p:sp>
        <p:nvSpPr>
          <p:cNvPr id="14" name="TextBox 14">
            <a:extLst xmlns:a="http://schemas.openxmlformats.org/drawingml/2006/main">
              <a:ext uri="{FF2B5EF4-FFF2-40B4-BE49-F238E27FC236}">
                <a16:creationId xmlns:a16="http://schemas.microsoft.com/office/drawing/2014/main" id="{C828023F-4D92-4061-88F9-185D66C92386}"/>
              </a:ext>
            </a:extLst>
          </p:cNvPr>
          <p:cNvSpPr>
            <a:spLocks xmlns:a="http://schemas.openxmlformats.org/drawingml/2006/main" noGrp="1"/>
          </p:cNvSpPr>
          <p:nvPr/>
        </p:nvSpPr>
        <p:spPr>
          <a:xfrm xmlns:a="http://schemas.openxmlformats.org/drawingml/2006/main">
            <a:off x="10128644" y="6451802"/>
            <a:ext cx="6482319" cy="460429"/>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795"/>
              </a:lnSpc>
              <a:spcBef>
                <a:spcPct val="0"/>
              </a:spcBef>
              <a:buNone/>
            </a:pPr>
            <a:r>
              <a:rPr sz="2710" b="1">
                <a:solidFill>
                  <a:srgbClr val="FFFFFF"/>
                </a:solidFill>
                <a:latin typeface="Montserrat Bold"/>
                <a:ea typeface="Montserrat Bold"/>
                <a:cs typeface="Montserrat Bold"/>
              </a:rPr>
              <a:t>Cập</a:t>
            </a:r>
            <a:r>
              <a:rPr sz="2710" b="1">
                <a:solidFill>
                  <a:srgbClr val="FFFFFF"/>
                </a:solidFill>
                <a:latin typeface="Montserrat Bold"/>
                <a:ea typeface="Montserrat Bold"/>
                <a:cs typeface="Montserrat Bold"/>
              </a:rPr>
              <a:t> nhật thất bại</a:t>
            </a:r>
          </a:p>
        </p:txBody>
      </p:sp>
      <p:sp>
        <p:nvSpPr>
          <p:cNvPr id="15" name="Freeform 15">
            <a:extLst xmlns:a="http://schemas.openxmlformats.org/drawingml/2006/main">
              <a:ext uri="{FF2B5EF4-FFF2-40B4-BE49-F238E27FC236}">
                <a16:creationId xmlns:a16="http://schemas.microsoft.com/office/drawing/2014/main" id="{AD406616-E649-45FB-9484-BFE27A952A5A}"/>
              </a:ext>
            </a:extLst>
          </p:cNvPr>
          <p:cNvSpPr>
            <a:spLocks xmlns:a="http://schemas.openxmlformats.org/drawingml/2006/main" noGrp="1"/>
          </p:cNvSpPr>
          <p:nvPr/>
        </p:nvSpPr>
        <p:spPr>
          <a:xfrm xmlns:a="http://schemas.openxmlformats.org/drawingml/2006/main">
            <a:off x="-2143370" y="6499427"/>
            <a:ext cx="9438577" cy="6748583"/>
          </a:xfrm>
          <a:custGeom xmlns:a="http://schemas.openxmlformats.org/drawingml/2006/main">
            <a:rect l="l" t="t" r="r" b="b"/>
            <a:pathLst>
              <a:path w="9438577" h="6748583">
                <a:moveTo>
                  <a:pt x="0" y="0"/>
                </a:moveTo>
                <a:lnTo>
                  <a:pt x="9438577" y="0"/>
                </a:lnTo>
                <a:lnTo>
                  <a:pt x="9438577" y="6748583"/>
                </a:lnTo>
                <a:lnTo>
                  <a:pt x="0" y="6748583"/>
                </a:lnTo>
                <a:lnTo>
                  <a:pt x="0" y="0"/>
                </a:lnTo>
                <a:close/>
              </a:path>
            </a:pathLst>
          </a:custGeom>
          <a:blipFill xmlns:a="http://schemas.openxmlformats.org/drawingml/2006/main">
            <a:blip xmlns:r="http://schemas.openxmlformats.org/officeDocument/2006/relationships" r:embed="R54d1287db44f4ffa">
              <a:extLst>
                <a:ext uri="{96DAC541-7B7A-43D3-8B79-37D633B846F1}">
                  <asvg:svgBlip xmlns:asvg="http://schemas.microsoft.com/office/drawing/2016/SVG/main" r:embed="R2924bb9a98d340e7"/>
                </a:ext>
              </a:extLst>
            </a:blip>
            <a:stretch>
              <a:fillRect l="0" t="0" r="0" b="0"/>
            </a:stretch>
          </a:blipFill>
        </p:spPr>
      </p:sp>
      <p:sp>
        <p:nvSpPr>
          <p:cNvPr id="17" name="Freeform 17">
            <a:extLst xmlns:a="http://schemas.openxmlformats.org/drawingml/2006/main">
              <a:ext uri="{FF2B5EF4-FFF2-40B4-BE49-F238E27FC236}">
                <a16:creationId xmlns:a16="http://schemas.microsoft.com/office/drawing/2014/main" id="{9A76A181-FC12-4463-B127-CF5446C15812}"/>
              </a:ext>
            </a:extLst>
          </p:cNvPr>
          <p:cNvSpPr>
            <a:spLocks xmlns:a="http://schemas.openxmlformats.org/drawingml/2006/main" noGrp="1"/>
          </p:cNvSpPr>
          <p:nvPr/>
        </p:nvSpPr>
        <p:spPr>
          <a:xfrm xmlns:a="http://schemas.openxmlformats.org/drawingml/2006/main" rot="0" flipH="0" flipV="0">
            <a:off x="994179" y="8037671"/>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8" name="TextBox 18">
            <a:extLst xmlns:a="http://schemas.openxmlformats.org/drawingml/2006/main">
              <a:ext uri="{FF2B5EF4-FFF2-40B4-BE49-F238E27FC236}">
                <a16:creationId xmlns:a16="http://schemas.microsoft.com/office/drawing/2014/main" id="{03461637-2B1B-4FCB-AA2D-9627EB75C1CB}"/>
              </a:ext>
            </a:extLst>
          </p:cNvPr>
          <p:cNvSpPr>
            <a:spLocks xmlns:a="http://schemas.openxmlformats.org/drawingml/2006/main" noGrp="1"/>
          </p:cNvSpPr>
          <p:nvPr/>
        </p:nvSpPr>
        <p:spPr>
          <a:xfrm xmlns:a="http://schemas.openxmlformats.org/drawingml/2006/main" rot="0" flipH="0" flipV="0">
            <a:off x="1578554" y="7842880"/>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0" name="Freeform 20">
            <a:extLst xmlns:a="http://schemas.openxmlformats.org/drawingml/2006/main">
              <a:ext uri="{FF2B5EF4-FFF2-40B4-BE49-F238E27FC236}">
                <a16:creationId xmlns:a16="http://schemas.microsoft.com/office/drawing/2014/main" id="{A92A225A-0D0F-4A89-9899-E85F07FF283C}"/>
              </a:ext>
            </a:extLst>
          </p:cNvPr>
          <p:cNvSpPr>
            <a:spLocks xmlns:a="http://schemas.openxmlformats.org/drawingml/2006/main" noGrp="1"/>
          </p:cNvSpPr>
          <p:nvPr/>
        </p:nvSpPr>
        <p:spPr>
          <a:xfrm xmlns:a="http://schemas.openxmlformats.org/drawingml/2006/main" rot="0" flipH="0" flipV="0">
            <a:off x="3712301" y="8037671"/>
            <a:ext cx="1510485" cy="129807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47000"/>
                </a:srgbClr>
              </a:gs>
              <a:gs pos="100000">
                <a:srgbClr val="035E8E">
                  <a:alpha val="0"/>
                </a:srgbClr>
              </a:gs>
            </a:gsLst>
            <a:lin ang="0"/>
          </a:gradFill>
        </p:spPr>
      </p:sp>
      <p:sp>
        <p:nvSpPr>
          <p:cNvPr id="21" name="TextBox 21">
            <a:extLst xmlns:a="http://schemas.openxmlformats.org/drawingml/2006/main">
              <a:ext uri="{FF2B5EF4-FFF2-40B4-BE49-F238E27FC236}">
                <a16:creationId xmlns:a16="http://schemas.microsoft.com/office/drawing/2014/main" id="{41C05052-3CDD-47FE-92BA-960197F8A9ED}"/>
              </a:ext>
            </a:extLst>
          </p:cNvPr>
          <p:cNvSpPr>
            <a:spLocks xmlns:a="http://schemas.openxmlformats.org/drawingml/2006/main" noGrp="1"/>
          </p:cNvSpPr>
          <p:nvPr/>
        </p:nvSpPr>
        <p:spPr>
          <a:xfrm xmlns:a="http://schemas.openxmlformats.org/drawingml/2006/main" rot="0" flipH="0" flipV="0">
            <a:off x="3924712" y="7966868"/>
            <a:ext cx="1085661" cy="1368876"/>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2" name="TextBox 22">
            <a:extLst xmlns:a="http://schemas.openxmlformats.org/drawingml/2006/main">
              <a:ext uri="{FF2B5EF4-FFF2-40B4-BE49-F238E27FC236}">
                <a16:creationId xmlns:a16="http://schemas.microsoft.com/office/drawing/2014/main" id="{361452CF-4424-4928-A54F-81361877A262}"/>
              </a:ext>
            </a:extLst>
          </p:cNvPr>
          <p:cNvSpPr>
            <a:spLocks xmlns:a="http://schemas.openxmlformats.org/drawingml/2006/main" noGrp="1"/>
          </p:cNvSpPr>
          <p:nvPr/>
        </p:nvSpPr>
        <p:spPr>
          <a:xfrm xmlns:a="http://schemas.openxmlformats.org/drawingml/2006/main">
            <a:off x="9109479" y="7016200"/>
            <a:ext cx="7390247" cy="1430853"/>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2950"/>
              </a:lnSpc>
              <a:buNone/>
            </a:pPr>
            <a:r>
              <a:rPr sz="2105">
                <a:solidFill>
                  <a:srgbClr val="C6C6C6"/>
                </a:solidFill>
                <a:latin typeface="Montserrat Light"/>
                <a:ea typeface="Montserrat Light"/>
                <a:cs typeface="Montserrat Light"/>
              </a:rPr>
              <a:t>-</a:t>
            </a:r>
            <a:r>
              <a:rPr sz="2105">
                <a:solidFill>
                  <a:srgbClr val="C6C6C6"/>
                </a:solidFill>
                <a:latin typeface="Montserrat Light"/>
                <a:ea typeface="Montserrat Light"/>
                <a:cs typeface="Montserrat Light"/>
              </a:rPr>
              <a:t> Hậu quả: thiết bị không thể khởi động.</a:t>
            </a:r>
          </a:p>
          <a:p xmlns:a="http://schemas.openxmlformats.org/drawingml/2006/main">
            <a:pPr algn="l">
              <a:lnSpc>
                <a:spcPts val="2950"/>
              </a:lnSpc>
              <a:spcBef>
                <a:spcPct val="0"/>
              </a:spcBef>
              <a:buNone/>
            </a:pPr>
            <a:r>
              <a:rPr sz="2105">
                <a:solidFill>
                  <a:srgbClr val="C6C6C6"/>
                </a:solidFill>
                <a:latin typeface="Montserrat Light"/>
                <a:ea typeface="Montserrat Light"/>
                <a:cs typeface="Montserrat Light"/>
              </a:rPr>
              <a:t>- Giảm thiểu: phân vùng A/B, staging, self-test và rollback.</a:t>
            </a:r>
          </a:p>
          <a:p xmlns:a="http://schemas.openxmlformats.org/drawingml/2006/main">
            <a:pPr algn="l">
              <a:lnSpc>
                <a:spcPts val="2950"/>
              </a:lnSpc>
              <a:spcBef>
                <a:spcPct val="0"/>
              </a:spcBef>
              <a:buNone/>
            </a:pPr>
          </a:p>
        </p:txBody>
      </p:sp>
    </p:spTree>
    <p:extLst>
      <p:ext uri="{BB962C8B-B14F-4D97-AF65-F5344CB8AC3E}">
        <p14:creationId xmlns:p14="http://schemas.microsoft.com/office/powerpoint/2010/main" val="474707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70058AA5-E77B-451A-9924-DA6246F6C223}"/>
              </a:ext>
            </a:extLst>
          </p:cNvPr>
          <p:cNvSpPr>
            <a:spLocks xmlns:a="http://schemas.openxmlformats.org/drawingml/2006/main" noGrp="1"/>
          </p:cNvSpPr>
          <p:nvPr/>
        </p:nvSpPr>
        <p:spPr>
          <a:xfrm xmlns:a="http://schemas.openxmlformats.org/drawingml/2006/main" flipV="1">
            <a:off x="0" y="0"/>
            <a:ext cx="18288000" cy="10287000"/>
          </a:xfrm>
          <a:custGeom xmlns:a="http://schemas.openxmlformats.org/drawingml/2006/main">
            <a:rect l="l" t="t" r="r" b="b"/>
            <a:pathLst>
              <a:path w="18288000" h="10287000">
                <a:moveTo>
                  <a:pt x="0" y="10287000"/>
                </a:moveTo>
                <a:lnTo>
                  <a:pt x="18288000" y="10287000"/>
                </a:lnTo>
                <a:lnTo>
                  <a:pt x="18288000" y="0"/>
                </a:lnTo>
                <a:lnTo>
                  <a:pt x="0" y="0"/>
                </a:lnTo>
                <a:lnTo>
                  <a:pt x="0" y="10287000"/>
                </a:lnTo>
                <a:close/>
              </a:path>
            </a:pathLst>
          </a:custGeom>
          <a:blipFill xmlns:a="http://schemas.openxmlformats.org/drawingml/2006/main">
            <a:blip xmlns:r="http://schemas.openxmlformats.org/officeDocument/2006/relationships" r:embed="R7c6bc836f6864127"/>
            <a:stretch>
              <a:fillRect l="0" t="-124631" r="-124631" b="0"/>
            </a:stretch>
          </a:blipFill>
        </p:spPr>
      </p:sp>
      <p:sp>
        <p:nvSpPr>
          <p:cNvPr id="4" name="Freeform 4">
            <a:extLst xmlns:a="http://schemas.openxmlformats.org/drawingml/2006/main">
              <a:ext uri="{FF2B5EF4-FFF2-40B4-BE49-F238E27FC236}">
                <a16:creationId xmlns:a16="http://schemas.microsoft.com/office/drawing/2014/main" id="{E1C59111-8996-4406-984F-D28ABE5793A4}"/>
              </a:ext>
            </a:extLst>
          </p:cNvPr>
          <p:cNvSpPr>
            <a:spLocks xmlns:a="http://schemas.openxmlformats.org/drawingml/2006/main" noGrp="1"/>
          </p:cNvSpPr>
          <p:nvPr/>
        </p:nvSpPr>
        <p:spPr>
          <a:xfrm xmlns:a="http://schemas.openxmlformats.org/drawingml/2006/main" rot="0" flipH="0" flipV="0">
            <a:off x="1520396" y="4144605"/>
            <a:ext cx="4742670" cy="4676574"/>
          </a:xfrm>
          <a:custGeom xmlns:a="http://schemas.openxmlformats.org/drawingml/2006/main">
            <a:rect l="l" t="t" r="r" b="b"/>
            <a:pathLst>
              <a:path w="532080" h="524665">
                <a:moveTo>
                  <a:pt x="40810" y="0"/>
                </a:moveTo>
                <a:lnTo>
                  <a:pt x="491270" y="0"/>
                </a:lnTo>
                <a:cubicBezTo>
                  <a:pt x="513809" y="0"/>
                  <a:pt x="532080" y="18271"/>
                  <a:pt x="532080" y="40810"/>
                </a:cubicBezTo>
                <a:lnTo>
                  <a:pt x="532080" y="483855"/>
                </a:lnTo>
                <a:cubicBezTo>
                  <a:pt x="532080" y="506393"/>
                  <a:pt x="513809" y="524665"/>
                  <a:pt x="491270" y="524665"/>
                </a:cubicBezTo>
                <a:lnTo>
                  <a:pt x="40810" y="524665"/>
                </a:lnTo>
                <a:cubicBezTo>
                  <a:pt x="18271" y="524665"/>
                  <a:pt x="0" y="506393"/>
                  <a:pt x="0" y="483855"/>
                </a:cubicBezTo>
                <a:lnTo>
                  <a:pt x="0" y="40810"/>
                </a:lnTo>
                <a:cubicBezTo>
                  <a:pt x="0" y="18271"/>
                  <a:pt x="18271" y="0"/>
                  <a:pt x="40810" y="0"/>
                </a:cubicBezTo>
                <a:close/>
              </a:path>
            </a:pathLst>
          </a:custGeom>
          <a:gradFill xmlns:a="http://schemas.openxmlformats.org/drawingml/2006/main" rotWithShape="1">
            <a:gsLst>
              <a:gs pos="0">
                <a:srgbClr val="31A1D4">
                  <a:alpha val="100000"/>
                </a:srgbClr>
              </a:gs>
              <a:gs pos="100000">
                <a:srgbClr val="001C37">
                  <a:alpha val="100000"/>
                </a:srgbClr>
              </a:gs>
            </a:gsLst>
            <a:lin ang="2700000"/>
          </a:gradFill>
        </p:spPr>
      </p:sp>
      <p:sp>
        <p:nvSpPr>
          <p:cNvPr id="5" name="TextBox 5">
            <a:extLst xmlns:a="http://schemas.openxmlformats.org/drawingml/2006/main">
              <a:ext uri="{FF2B5EF4-FFF2-40B4-BE49-F238E27FC236}">
                <a16:creationId xmlns:a16="http://schemas.microsoft.com/office/drawing/2014/main" id="{2E6E0B4C-2BA7-4E37-97DF-C7718BD77947}"/>
              </a:ext>
            </a:extLst>
          </p:cNvPr>
          <p:cNvSpPr>
            <a:spLocks xmlns:a="http://schemas.openxmlformats.org/drawingml/2006/main" noGrp="1"/>
          </p:cNvSpPr>
          <p:nvPr/>
        </p:nvSpPr>
        <p:spPr>
          <a:xfrm xmlns:a="http://schemas.openxmlformats.org/drawingml/2006/main" rot="0" flipH="0" flipV="0">
            <a:off x="1520396" y="3805003"/>
            <a:ext cx="4742670" cy="5016176"/>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7" name="Freeform 7">
            <a:extLst xmlns:a="http://schemas.openxmlformats.org/drawingml/2006/main">
              <a:ext uri="{FF2B5EF4-FFF2-40B4-BE49-F238E27FC236}">
                <a16:creationId xmlns:a16="http://schemas.microsoft.com/office/drawing/2014/main" id="{1B7A570B-5C69-4A24-89C1-32BC945B9DEE}"/>
              </a:ext>
            </a:extLst>
          </p:cNvPr>
          <p:cNvSpPr>
            <a:spLocks xmlns:a="http://schemas.openxmlformats.org/drawingml/2006/main" noGrp="1"/>
          </p:cNvSpPr>
          <p:nvPr/>
        </p:nvSpPr>
        <p:spPr>
          <a:xfrm xmlns:a="http://schemas.openxmlformats.org/drawingml/2006/main" rot="0" flipH="0" flipV="0">
            <a:off x="12024934" y="4144605"/>
            <a:ext cx="4742670" cy="4676574"/>
          </a:xfrm>
          <a:custGeom xmlns:a="http://schemas.openxmlformats.org/drawingml/2006/main">
            <a:rect l="l" t="t" r="r" b="b"/>
            <a:pathLst>
              <a:path w="532080" h="524665">
                <a:moveTo>
                  <a:pt x="40810" y="0"/>
                </a:moveTo>
                <a:lnTo>
                  <a:pt x="491270" y="0"/>
                </a:lnTo>
                <a:cubicBezTo>
                  <a:pt x="513809" y="0"/>
                  <a:pt x="532080" y="18271"/>
                  <a:pt x="532080" y="40810"/>
                </a:cubicBezTo>
                <a:lnTo>
                  <a:pt x="532080" y="483855"/>
                </a:lnTo>
                <a:cubicBezTo>
                  <a:pt x="532080" y="506393"/>
                  <a:pt x="513809" y="524665"/>
                  <a:pt x="491270" y="524665"/>
                </a:cubicBezTo>
                <a:lnTo>
                  <a:pt x="40810" y="524665"/>
                </a:lnTo>
                <a:cubicBezTo>
                  <a:pt x="18271" y="524665"/>
                  <a:pt x="0" y="506393"/>
                  <a:pt x="0" y="483855"/>
                </a:cubicBezTo>
                <a:lnTo>
                  <a:pt x="0" y="40810"/>
                </a:lnTo>
                <a:cubicBezTo>
                  <a:pt x="0" y="18271"/>
                  <a:pt x="18271" y="0"/>
                  <a:pt x="40810" y="0"/>
                </a:cubicBezTo>
                <a:close/>
              </a:path>
            </a:pathLst>
          </a:custGeom>
          <a:gradFill xmlns:a="http://schemas.openxmlformats.org/drawingml/2006/main" rotWithShape="1">
            <a:gsLst>
              <a:gs pos="0">
                <a:srgbClr val="31A1D4">
                  <a:alpha val="100000"/>
                </a:srgbClr>
              </a:gs>
              <a:gs pos="100000">
                <a:srgbClr val="001C37">
                  <a:alpha val="100000"/>
                </a:srgbClr>
              </a:gs>
            </a:gsLst>
            <a:lin ang="2700000"/>
          </a:gradFill>
        </p:spPr>
      </p:sp>
      <p:sp>
        <p:nvSpPr>
          <p:cNvPr id="8" name="TextBox 8">
            <a:extLst xmlns:a="http://schemas.openxmlformats.org/drawingml/2006/main">
              <a:ext uri="{FF2B5EF4-FFF2-40B4-BE49-F238E27FC236}">
                <a16:creationId xmlns:a16="http://schemas.microsoft.com/office/drawing/2014/main" id="{0C251EBE-7AC4-4087-B7AB-2CEC9C917088}"/>
              </a:ext>
            </a:extLst>
          </p:cNvPr>
          <p:cNvSpPr>
            <a:spLocks xmlns:a="http://schemas.openxmlformats.org/drawingml/2006/main" noGrp="1"/>
          </p:cNvSpPr>
          <p:nvPr/>
        </p:nvSpPr>
        <p:spPr>
          <a:xfrm xmlns:a="http://schemas.openxmlformats.org/drawingml/2006/main" rot="0" flipH="0" flipV="0">
            <a:off x="12024934" y="3805003"/>
            <a:ext cx="4742670" cy="5016176"/>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9" name="Freeform 9">
            <a:extLst xmlns:a="http://schemas.openxmlformats.org/drawingml/2006/main">
              <a:ext uri="{FF2B5EF4-FFF2-40B4-BE49-F238E27FC236}">
                <a16:creationId xmlns:a16="http://schemas.microsoft.com/office/drawing/2014/main" id="{189F113D-4A70-4E10-A823-C5EEA4E720C3}"/>
              </a:ext>
            </a:extLst>
          </p:cNvPr>
          <p:cNvSpPr>
            <a:spLocks xmlns:a="http://schemas.openxmlformats.org/drawingml/2006/main" noGrp="1"/>
          </p:cNvSpPr>
          <p:nvPr/>
        </p:nvSpPr>
        <p:spPr>
          <a:xfrm xmlns:a="http://schemas.openxmlformats.org/drawingml/2006/main">
            <a:off x="13568711" y="-3962307"/>
            <a:ext cx="9438577" cy="6748583"/>
          </a:xfrm>
          <a:custGeom xmlns:a="http://schemas.openxmlformats.org/drawingml/2006/main">
            <a:rect l="l" t="t" r="r" b="b"/>
            <a:pathLst>
              <a:path w="9438577" h="6748583">
                <a:moveTo>
                  <a:pt x="0" y="0"/>
                </a:moveTo>
                <a:lnTo>
                  <a:pt x="9438578" y="0"/>
                </a:lnTo>
                <a:lnTo>
                  <a:pt x="9438578" y="6748583"/>
                </a:lnTo>
                <a:lnTo>
                  <a:pt x="0" y="6748583"/>
                </a:lnTo>
                <a:lnTo>
                  <a:pt x="0" y="0"/>
                </a:lnTo>
                <a:close/>
              </a:path>
            </a:pathLst>
          </a:custGeom>
          <a:blipFill xmlns:a="http://schemas.openxmlformats.org/drawingml/2006/main">
            <a:blip xmlns:r="http://schemas.openxmlformats.org/officeDocument/2006/relationships" r:embed="R7c6bc836f6864127">
              <a:extLst>
                <a:ext uri="{96DAC541-7B7A-43D3-8B79-37D633B846F1}">
                  <asvg:svgBlip xmlns:asvg="http://schemas.microsoft.com/office/drawing/2016/SVG/main" r:embed="R85c13d1eb46d4082"/>
                </a:ext>
              </a:extLst>
            </a:blip>
            <a:stretch>
              <a:fillRect l="0" t="0" r="0" b="0"/>
            </a:stretch>
          </a:blipFill>
        </p:spPr>
      </p:sp>
      <p:sp>
        <p:nvSpPr>
          <p:cNvPr id="11" name="Freeform 11">
            <a:extLst xmlns:a="http://schemas.openxmlformats.org/drawingml/2006/main">
              <a:ext uri="{FF2B5EF4-FFF2-40B4-BE49-F238E27FC236}">
                <a16:creationId xmlns:a16="http://schemas.microsoft.com/office/drawing/2014/main" id="{9650C178-F13B-48F7-8FAE-92FF34BADC7F}"/>
              </a:ext>
            </a:extLst>
          </p:cNvPr>
          <p:cNvSpPr>
            <a:spLocks xmlns:a="http://schemas.openxmlformats.org/drawingml/2006/main" noGrp="1"/>
          </p:cNvSpPr>
          <p:nvPr/>
        </p:nvSpPr>
        <p:spPr>
          <a:xfrm xmlns:a="http://schemas.openxmlformats.org/drawingml/2006/main" rot="0" flipH="0" flipV="0">
            <a:off x="16128358" y="-502202"/>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2" name="TextBox 12">
            <a:extLst xmlns:a="http://schemas.openxmlformats.org/drawingml/2006/main">
              <a:ext uri="{FF2B5EF4-FFF2-40B4-BE49-F238E27FC236}">
                <a16:creationId xmlns:a16="http://schemas.microsoft.com/office/drawing/2014/main" id="{0D342B72-9F92-4738-B44D-3B0024CF81EB}"/>
              </a:ext>
            </a:extLst>
          </p:cNvPr>
          <p:cNvSpPr>
            <a:spLocks xmlns:a="http://schemas.openxmlformats.org/drawingml/2006/main" noGrp="1"/>
          </p:cNvSpPr>
          <p:nvPr/>
        </p:nvSpPr>
        <p:spPr>
          <a:xfrm xmlns:a="http://schemas.openxmlformats.org/drawingml/2006/main" rot="0" flipH="0" flipV="0">
            <a:off x="16712733" y="-696993"/>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4" name="Freeform 14">
            <a:extLst xmlns:a="http://schemas.openxmlformats.org/drawingml/2006/main">
              <a:ext uri="{FF2B5EF4-FFF2-40B4-BE49-F238E27FC236}">
                <a16:creationId xmlns:a16="http://schemas.microsoft.com/office/drawing/2014/main" id="{C6061680-AA56-4CBC-B574-6108A08BCB27}"/>
              </a:ext>
            </a:extLst>
          </p:cNvPr>
          <p:cNvSpPr>
            <a:spLocks xmlns:a="http://schemas.openxmlformats.org/drawingml/2006/main" noGrp="1"/>
          </p:cNvSpPr>
          <p:nvPr/>
        </p:nvSpPr>
        <p:spPr>
          <a:xfrm xmlns:a="http://schemas.openxmlformats.org/drawingml/2006/main" rot="0" flipH="0" flipV="0">
            <a:off x="15234643" y="515353"/>
            <a:ext cx="1787431" cy="153607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5" name="TextBox 15">
            <a:extLst xmlns:a="http://schemas.openxmlformats.org/drawingml/2006/main">
              <a:ext uri="{FF2B5EF4-FFF2-40B4-BE49-F238E27FC236}">
                <a16:creationId xmlns:a16="http://schemas.microsoft.com/office/drawing/2014/main" id="{AD26F9AB-41A8-4D82-85BD-F3FA231F4B7C}"/>
              </a:ext>
            </a:extLst>
          </p:cNvPr>
          <p:cNvSpPr>
            <a:spLocks xmlns:a="http://schemas.openxmlformats.org/drawingml/2006/main" noGrp="1"/>
          </p:cNvSpPr>
          <p:nvPr/>
        </p:nvSpPr>
        <p:spPr>
          <a:xfrm xmlns:a="http://schemas.openxmlformats.org/drawingml/2006/main" rot="0" flipH="0" flipV="0">
            <a:off x="15486000" y="431568"/>
            <a:ext cx="1284716" cy="1619858"/>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6" name="TextBox 16">
            <a:extLst xmlns:a="http://schemas.openxmlformats.org/drawingml/2006/main">
              <a:ext uri="{FF2B5EF4-FFF2-40B4-BE49-F238E27FC236}">
                <a16:creationId xmlns:a16="http://schemas.microsoft.com/office/drawing/2014/main" id="{AA8885D7-4875-41F5-9C67-507332FBD688}"/>
              </a:ext>
            </a:extLst>
          </p:cNvPr>
          <p:cNvSpPr>
            <a:spLocks xmlns:a="http://schemas.openxmlformats.org/drawingml/2006/main" noGrp="1"/>
          </p:cNvSpPr>
          <p:nvPr/>
        </p:nvSpPr>
        <p:spPr>
          <a:xfrm xmlns:a="http://schemas.openxmlformats.org/drawingml/2006/main">
            <a:off x="3079042" y="1472186"/>
            <a:ext cx="11690650" cy="2041246"/>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240"/>
              </a:lnSpc>
              <a:spcBef>
                <a:spcPct val="0"/>
              </a:spcBef>
              <a:buNone/>
            </a:pPr>
            <a:r>
              <a:rPr sz="5885" b="1">
                <a:solidFill>
                  <a:srgbClr val="FFFFFF"/>
                </a:solidFill>
                <a:latin typeface="TT Lakes Neue Extended Bold"/>
                <a:ea typeface="TT Lakes Neue Extended Bold"/>
                <a:cs typeface="TT Lakes Neue Extended Bold"/>
              </a:rPr>
              <a:t>ĐÁNH GIÁ, HẠ</a:t>
            </a:r>
            <a:r>
              <a:rPr sz="5885" b="1">
                <a:solidFill>
                  <a:srgbClr val="FFFFFF"/>
                </a:solidFill>
                <a:latin typeface="TT Lakes Neue Extended Bold"/>
                <a:ea typeface="TT Lakes Neue Extended Bold"/>
                <a:cs typeface="TT Lakes Neue Extended Bold"/>
              </a:rPr>
              <a:t>N CHẾ VÀ HƯỚNG PHÁT TRIỂN</a:t>
            </a:r>
          </a:p>
        </p:txBody>
      </p:sp>
      <p:sp>
        <p:nvSpPr>
          <p:cNvPr id="17" name="TextBox 17">
            <a:extLst xmlns:a="http://schemas.openxmlformats.org/drawingml/2006/main">
              <a:ext uri="{FF2B5EF4-FFF2-40B4-BE49-F238E27FC236}">
                <a16:creationId xmlns:a16="http://schemas.microsoft.com/office/drawing/2014/main" id="{EDC5BDC7-40CE-43AA-AB4B-CC2FE74F9DE6}"/>
              </a:ext>
            </a:extLst>
          </p:cNvPr>
          <p:cNvSpPr>
            <a:spLocks xmlns:a="http://schemas.openxmlformats.org/drawingml/2006/main" noGrp="1"/>
          </p:cNvSpPr>
          <p:nvPr/>
        </p:nvSpPr>
        <p:spPr>
          <a:xfrm xmlns:a="http://schemas.openxmlformats.org/drawingml/2006/main">
            <a:off x="1791336" y="4770215"/>
            <a:ext cx="4192179" cy="3897163"/>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05"/>
              </a:lnSpc>
              <a:buNone/>
            </a:pPr>
            <a:r>
              <a:rPr sz="2215">
                <a:solidFill>
                  <a:srgbClr val="C6C6C6"/>
                </a:solidFill>
                <a:latin typeface="Montserrat Light"/>
                <a:ea typeface="Montserrat Light"/>
                <a:cs typeface="Montserrat Light"/>
              </a:rPr>
              <a:t>- Xác thực</a:t>
            </a:r>
            <a:r>
              <a:rPr sz="2215">
                <a:solidFill>
                  <a:srgbClr val="C6C6C6"/>
                </a:solidFill>
                <a:latin typeface="Montserrat Light"/>
                <a:ea typeface="Montserrat Light"/>
                <a:cs typeface="Montserrat Light"/>
              </a:rPr>
              <a:t> nguồn phát hành bằng chữ ký số.</a:t>
            </a:r>
          </a:p>
          <a:p xmlns:a="http://schemas.openxmlformats.org/drawingml/2006/main">
            <a:pPr algn="l">
              <a:lnSpc>
                <a:spcPts val="3105"/>
              </a:lnSpc>
              <a:buNone/>
            </a:pPr>
            <a:r>
              <a:rPr sz="2215">
                <a:solidFill>
                  <a:srgbClr val="C6C6C6"/>
                </a:solidFill>
                <a:latin typeface="Montserrat Light"/>
                <a:ea typeface="Montserrat Light"/>
                <a:cs typeface="Montserrat Light"/>
              </a:rPr>
              <a:t>- Phát hiện firmware bị thay đổi.</a:t>
            </a:r>
          </a:p>
          <a:p xmlns:a="http://schemas.openxmlformats.org/drawingml/2006/main">
            <a:pPr algn="l">
              <a:lnSpc>
                <a:spcPts val="3105"/>
              </a:lnSpc>
              <a:buNone/>
            </a:pPr>
            <a:r>
              <a:rPr sz="2215">
                <a:solidFill>
                  <a:srgbClr val="C6C6C6"/>
                </a:solidFill>
                <a:latin typeface="Montserrat Light"/>
                <a:ea typeface="Montserrat Light"/>
                <a:cs typeface="Montserrat Light"/>
              </a:rPr>
              <a:t>- Chống cài đặt phiên bản cũ.</a:t>
            </a:r>
          </a:p>
          <a:p xmlns:a="http://schemas.openxmlformats.org/drawingml/2006/main">
            <a:pPr algn="l">
              <a:lnSpc>
                <a:spcPts val="3105"/>
              </a:lnSpc>
              <a:buNone/>
            </a:pPr>
            <a:r>
              <a:rPr sz="2215">
                <a:solidFill>
                  <a:srgbClr val="C6C6C6"/>
                </a:solidFill>
                <a:latin typeface="Montserrat Light"/>
                <a:ea typeface="Montserrat Light"/>
                <a:cs typeface="Montserrat Light"/>
              </a:rPr>
              <a:t>- Phục hồi khi bản cập nhật không vượt qua self-test.</a:t>
            </a:r>
          </a:p>
          <a:p xmlns:a="http://schemas.openxmlformats.org/drawingml/2006/main">
            <a:pPr algn="l">
              <a:lnSpc>
                <a:spcPts val="3105"/>
              </a:lnSpc>
              <a:spcBef>
                <a:spcPct val="0"/>
              </a:spcBef>
              <a:buNone/>
            </a:pPr>
            <a:r>
              <a:rPr sz="2215">
                <a:solidFill>
                  <a:srgbClr val="C6C6C6"/>
                </a:solidFill>
                <a:latin typeface="Montserrat Light"/>
                <a:ea typeface="Montserrat Light"/>
                <a:cs typeface="Montserrat Light"/>
              </a:rPr>
              <a:t>- Có code, manifest, log và ma trận kiểm thử.</a:t>
            </a:r>
          </a:p>
          <a:p xmlns:a="http://schemas.openxmlformats.org/drawingml/2006/main">
            <a:pPr algn="l">
              <a:lnSpc>
                <a:spcPts val="3105"/>
              </a:lnSpc>
              <a:spcBef>
                <a:spcPct val="0"/>
              </a:spcBef>
              <a:buNone/>
            </a:pPr>
          </a:p>
        </p:txBody>
      </p:sp>
      <p:sp>
        <p:nvSpPr>
          <p:cNvPr id="18" name="TextBox 18">
            <a:extLst xmlns:a="http://schemas.openxmlformats.org/drawingml/2006/main">
              <a:ext uri="{FF2B5EF4-FFF2-40B4-BE49-F238E27FC236}">
                <a16:creationId xmlns:a16="http://schemas.microsoft.com/office/drawing/2014/main" id="{3CB23373-A477-484A-AABD-D3D89087C7ED}"/>
              </a:ext>
            </a:extLst>
          </p:cNvPr>
          <p:cNvSpPr>
            <a:spLocks xmlns:a="http://schemas.openxmlformats.org/drawingml/2006/main" noGrp="1"/>
          </p:cNvSpPr>
          <p:nvPr/>
        </p:nvSpPr>
        <p:spPr>
          <a:xfrm xmlns:a="http://schemas.openxmlformats.org/drawingml/2006/main">
            <a:off x="12541425" y="4770215"/>
            <a:ext cx="3955238" cy="3897163"/>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05"/>
              </a:lnSpc>
              <a:buNone/>
            </a:pPr>
            <a:r>
              <a:rPr sz="2215">
                <a:solidFill>
                  <a:srgbClr val="C6C6C6"/>
                </a:solidFill>
                <a:latin typeface="Montserrat Light"/>
                <a:ea typeface="Montserrat Light"/>
                <a:cs typeface="Montserrat Light"/>
              </a:rPr>
              <a:t>-</a:t>
            </a:r>
            <a:r>
              <a:rPr sz="2215">
                <a:solidFill>
                  <a:srgbClr val="C6C6C6"/>
                </a:solidFill>
                <a:latin typeface="Montserrat Light"/>
                <a:ea typeface="Montserrat Light"/>
                <a:cs typeface="Montserrat Light"/>
              </a:rPr>
              <a:t> Triển khai bằng ESP-IDF và esp_https_ota.</a:t>
            </a:r>
          </a:p>
          <a:p xmlns:a="http://schemas.openxmlformats.org/drawingml/2006/main">
            <a:pPr algn="l">
              <a:lnSpc>
                <a:spcPts val="3105"/>
              </a:lnSpc>
              <a:buNone/>
            </a:pPr>
            <a:r>
              <a:rPr sz="2215">
                <a:solidFill>
                  <a:srgbClr val="C6C6C6"/>
                </a:solidFill>
                <a:latin typeface="Montserrat Light"/>
                <a:ea typeface="Montserrat Light"/>
                <a:cs typeface="Montserrat Light"/>
              </a:rPr>
              <a:t>- Bổ sung Secure Boot, Flash Encryption và eFuse.</a:t>
            </a:r>
          </a:p>
          <a:p xmlns:a="http://schemas.openxmlformats.org/drawingml/2006/main">
            <a:pPr algn="l">
              <a:lnSpc>
                <a:spcPts val="3105"/>
              </a:lnSpc>
              <a:buNone/>
            </a:pPr>
            <a:r>
              <a:rPr sz="2215">
                <a:solidFill>
                  <a:srgbClr val="C6C6C6"/>
                </a:solidFill>
                <a:latin typeface="Montserrat Light"/>
                <a:ea typeface="Montserrat Light"/>
                <a:cs typeface="Montserrat Light"/>
              </a:rPr>
              <a:t>- Sử dụng HSM, key rotation và revocation.</a:t>
            </a:r>
          </a:p>
          <a:p xmlns:a="http://schemas.openxmlformats.org/drawingml/2006/main">
            <a:pPr algn="l">
              <a:lnSpc>
                <a:spcPts val="3105"/>
              </a:lnSpc>
              <a:spcBef>
                <a:spcPct val="0"/>
              </a:spcBef>
              <a:buNone/>
            </a:pPr>
            <a:r>
              <a:rPr sz="2215">
                <a:solidFill>
                  <a:srgbClr val="C6C6C6"/>
                </a:solidFill>
                <a:latin typeface="Montserrat Light"/>
                <a:ea typeface="Montserrat Light"/>
                <a:cs typeface="Montserrat Light"/>
              </a:rPr>
              <a:t>- Thử nghiệm phân vùng A/B và cập nhật theo từng nhóm thiết bị.</a:t>
            </a:r>
          </a:p>
          <a:p xmlns:a="http://schemas.openxmlformats.org/drawingml/2006/main">
            <a:pPr algn="l">
              <a:lnSpc>
                <a:spcPts val="3105"/>
              </a:lnSpc>
              <a:spcBef>
                <a:spcPct val="0"/>
              </a:spcBef>
              <a:buNone/>
            </a:pPr>
          </a:p>
        </p:txBody>
      </p:sp>
      <p:sp>
        <p:nvSpPr>
          <p:cNvPr id="19" name="TextBox 19">
            <a:extLst xmlns:a="http://schemas.openxmlformats.org/drawingml/2006/main">
              <a:ext uri="{FF2B5EF4-FFF2-40B4-BE49-F238E27FC236}">
                <a16:creationId xmlns:a16="http://schemas.microsoft.com/office/drawing/2014/main" id="{67CF4141-0F77-4192-A433-A8BFB5EB6F5A}"/>
              </a:ext>
            </a:extLst>
          </p:cNvPr>
          <p:cNvSpPr>
            <a:spLocks xmlns:a="http://schemas.openxmlformats.org/drawingml/2006/main" noGrp="1"/>
          </p:cNvSpPr>
          <p:nvPr/>
        </p:nvSpPr>
        <p:spPr>
          <a:xfrm xmlns:a="http://schemas.openxmlformats.org/drawingml/2006/main">
            <a:off x="2593532" y="4325706"/>
            <a:ext cx="2717163"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075"/>
              </a:lnSpc>
              <a:spcBef>
                <a:spcPct val="0"/>
              </a:spcBef>
              <a:buNone/>
            </a:pPr>
            <a:r>
              <a:rPr sz="2200" b="1">
                <a:solidFill>
                  <a:srgbClr val="FFFFFF"/>
                </a:solidFill>
                <a:latin typeface="Montserrat Bold"/>
                <a:ea typeface="Montserrat Bold"/>
                <a:cs typeface="Montserrat Bold"/>
              </a:rPr>
              <a:t>Kết quả đạt được</a:t>
            </a:r>
          </a:p>
        </p:txBody>
      </p:sp>
      <p:sp>
        <p:nvSpPr>
          <p:cNvPr id="20" name="TextBox 20">
            <a:extLst xmlns:a="http://schemas.openxmlformats.org/drawingml/2006/main">
              <a:ext uri="{FF2B5EF4-FFF2-40B4-BE49-F238E27FC236}">
                <a16:creationId xmlns:a16="http://schemas.microsoft.com/office/drawing/2014/main" id="{4E30E0D2-055A-4137-B79D-DAF36638E01E}"/>
              </a:ext>
            </a:extLst>
          </p:cNvPr>
          <p:cNvSpPr>
            <a:spLocks xmlns:a="http://schemas.openxmlformats.org/drawingml/2006/main" noGrp="1"/>
          </p:cNvSpPr>
          <p:nvPr/>
        </p:nvSpPr>
        <p:spPr>
          <a:xfrm xmlns:a="http://schemas.openxmlformats.org/drawingml/2006/main">
            <a:off x="13098071" y="4325706"/>
            <a:ext cx="2717163"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075"/>
              </a:lnSpc>
              <a:spcBef>
                <a:spcPct val="0"/>
              </a:spcBef>
              <a:buNone/>
            </a:pPr>
            <a:r>
              <a:rPr sz="2200" b="1">
                <a:solidFill>
                  <a:srgbClr val="FFFFFF"/>
                </a:solidFill>
                <a:latin typeface="Montserrat Bold"/>
                <a:ea typeface="Montserrat Bold"/>
                <a:cs typeface="Montserrat Bold"/>
              </a:rPr>
              <a:t>Hướng phát triển</a:t>
            </a:r>
          </a:p>
        </p:txBody>
      </p:sp>
      <p:sp>
        <p:nvSpPr>
          <p:cNvPr id="22" name="Freeform 22">
            <a:extLst xmlns:a="http://schemas.openxmlformats.org/drawingml/2006/main">
              <a:ext uri="{FF2B5EF4-FFF2-40B4-BE49-F238E27FC236}">
                <a16:creationId xmlns:a16="http://schemas.microsoft.com/office/drawing/2014/main" id="{5C317CED-108B-49C2-852C-23C57A31EC6B}"/>
              </a:ext>
            </a:extLst>
          </p:cNvPr>
          <p:cNvSpPr>
            <a:spLocks xmlns:a="http://schemas.openxmlformats.org/drawingml/2006/main" noGrp="1"/>
          </p:cNvSpPr>
          <p:nvPr/>
        </p:nvSpPr>
        <p:spPr>
          <a:xfrm xmlns:a="http://schemas.openxmlformats.org/drawingml/2006/main" rot="0" flipH="0" flipV="0">
            <a:off x="6772665" y="4144605"/>
            <a:ext cx="4742670" cy="4676574"/>
          </a:xfrm>
          <a:custGeom xmlns:a="http://schemas.openxmlformats.org/drawingml/2006/main">
            <a:rect l="l" t="t" r="r" b="b"/>
            <a:pathLst>
              <a:path w="532080" h="524665">
                <a:moveTo>
                  <a:pt x="40810" y="0"/>
                </a:moveTo>
                <a:lnTo>
                  <a:pt x="491270" y="0"/>
                </a:lnTo>
                <a:cubicBezTo>
                  <a:pt x="513809" y="0"/>
                  <a:pt x="532080" y="18271"/>
                  <a:pt x="532080" y="40810"/>
                </a:cubicBezTo>
                <a:lnTo>
                  <a:pt x="532080" y="483855"/>
                </a:lnTo>
                <a:cubicBezTo>
                  <a:pt x="532080" y="506393"/>
                  <a:pt x="513809" y="524665"/>
                  <a:pt x="491270" y="524665"/>
                </a:cubicBezTo>
                <a:lnTo>
                  <a:pt x="40810" y="524665"/>
                </a:lnTo>
                <a:cubicBezTo>
                  <a:pt x="18271" y="524665"/>
                  <a:pt x="0" y="506393"/>
                  <a:pt x="0" y="483855"/>
                </a:cubicBezTo>
                <a:lnTo>
                  <a:pt x="0" y="40810"/>
                </a:lnTo>
                <a:cubicBezTo>
                  <a:pt x="0" y="18271"/>
                  <a:pt x="18271" y="0"/>
                  <a:pt x="40810" y="0"/>
                </a:cubicBezTo>
                <a:close/>
              </a:path>
            </a:pathLst>
          </a:custGeom>
          <a:gradFill xmlns:a="http://schemas.openxmlformats.org/drawingml/2006/main" rotWithShape="1">
            <a:gsLst>
              <a:gs pos="0">
                <a:srgbClr val="31A1D4">
                  <a:alpha val="100000"/>
                </a:srgbClr>
              </a:gs>
              <a:gs pos="100000">
                <a:srgbClr val="001C37">
                  <a:alpha val="100000"/>
                </a:srgbClr>
              </a:gs>
            </a:gsLst>
            <a:lin ang="2700000"/>
          </a:gradFill>
        </p:spPr>
      </p:sp>
      <p:sp>
        <p:nvSpPr>
          <p:cNvPr id="23" name="TextBox 23">
            <a:extLst xmlns:a="http://schemas.openxmlformats.org/drawingml/2006/main">
              <a:ext uri="{FF2B5EF4-FFF2-40B4-BE49-F238E27FC236}">
                <a16:creationId xmlns:a16="http://schemas.microsoft.com/office/drawing/2014/main" id="{CADB591B-C4E7-453C-9B38-6FC22A8DCFBF}"/>
              </a:ext>
            </a:extLst>
          </p:cNvPr>
          <p:cNvSpPr>
            <a:spLocks xmlns:a="http://schemas.openxmlformats.org/drawingml/2006/main" noGrp="1"/>
          </p:cNvSpPr>
          <p:nvPr/>
        </p:nvSpPr>
        <p:spPr>
          <a:xfrm xmlns:a="http://schemas.openxmlformats.org/drawingml/2006/main" rot="0" flipH="0" flipV="0">
            <a:off x="6772665" y="3805003"/>
            <a:ext cx="4742670" cy="5016176"/>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24" name="TextBox 24">
            <a:extLst xmlns:a="http://schemas.openxmlformats.org/drawingml/2006/main">
              <a:ext uri="{FF2B5EF4-FFF2-40B4-BE49-F238E27FC236}">
                <a16:creationId xmlns:a16="http://schemas.microsoft.com/office/drawing/2014/main" id="{FF8863ED-C1F8-4CBE-96AE-AE057B9C74CA}"/>
              </a:ext>
            </a:extLst>
          </p:cNvPr>
          <p:cNvSpPr>
            <a:spLocks xmlns:a="http://schemas.openxmlformats.org/drawingml/2006/main" noGrp="1"/>
          </p:cNvSpPr>
          <p:nvPr/>
        </p:nvSpPr>
        <p:spPr>
          <a:xfrm xmlns:a="http://schemas.openxmlformats.org/drawingml/2006/main">
            <a:off x="7845801" y="4325706"/>
            <a:ext cx="2717163" cy="37284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3075"/>
              </a:lnSpc>
              <a:spcBef>
                <a:spcPct val="0"/>
              </a:spcBef>
              <a:buNone/>
            </a:pPr>
            <a:r>
              <a:rPr sz="2200" b="1">
                <a:solidFill>
                  <a:srgbClr val="FFFFFF"/>
                </a:solidFill>
                <a:latin typeface="Montserrat Bold"/>
                <a:ea typeface="Montserrat Bold"/>
                <a:cs typeface="Montserrat Bold"/>
              </a:rPr>
              <a:t>Hạn chế</a:t>
            </a:r>
          </a:p>
        </p:txBody>
      </p:sp>
      <p:sp>
        <p:nvSpPr>
          <p:cNvPr id="25" name="TextBox 25">
            <a:extLst xmlns:a="http://schemas.openxmlformats.org/drawingml/2006/main">
              <a:ext uri="{FF2B5EF4-FFF2-40B4-BE49-F238E27FC236}">
                <a16:creationId xmlns:a16="http://schemas.microsoft.com/office/drawing/2014/main" id="{BA2D594B-FE52-48B6-A702-A528212CA956}"/>
              </a:ext>
            </a:extLst>
          </p:cNvPr>
          <p:cNvSpPr>
            <a:spLocks xmlns:a="http://schemas.openxmlformats.org/drawingml/2006/main" noGrp="1"/>
          </p:cNvSpPr>
          <p:nvPr/>
        </p:nvSpPr>
        <p:spPr>
          <a:xfrm xmlns:a="http://schemas.openxmlformats.org/drawingml/2006/main">
            <a:off x="7226764" y="4960451"/>
            <a:ext cx="3955238" cy="350657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3105"/>
              </a:lnSpc>
              <a:buNone/>
            </a:pPr>
            <a:r>
              <a:rPr sz="2215">
                <a:solidFill>
                  <a:srgbClr val="C6C6C6"/>
                </a:solidFill>
                <a:latin typeface="Montserrat Light"/>
                <a:ea typeface="Montserrat Light"/>
                <a:cs typeface="Montserrat Light"/>
              </a:rPr>
              <a:t>-</a:t>
            </a:r>
            <a:r>
              <a:rPr sz="2215">
                <a:solidFill>
                  <a:srgbClr val="C6C6C6"/>
                </a:solidFill>
                <a:latin typeface="Montserrat Light"/>
                <a:ea typeface="Montserrat Light"/>
                <a:cs typeface="Montserrat Light"/>
              </a:rPr>
              <a:t> Chưa chạy trên thiết bị IoT hoặc bootloader thật.</a:t>
            </a:r>
          </a:p>
          <a:p xmlns:a="http://schemas.openxmlformats.org/drawingml/2006/main">
            <a:pPr algn="l">
              <a:lnSpc>
                <a:spcPts val="3105"/>
              </a:lnSpc>
              <a:buNone/>
            </a:pPr>
            <a:r>
              <a:rPr sz="2215">
                <a:solidFill>
                  <a:srgbClr val="C6C6C6"/>
                </a:solidFill>
                <a:latin typeface="Montserrat Light"/>
                <a:ea typeface="Montserrat Light"/>
                <a:cs typeface="Montserrat Light"/>
              </a:rPr>
              <a:t>- Chưa triển khai HTTPS/mTLS và quản lý vòng đời khóa.</a:t>
            </a:r>
          </a:p>
          <a:p xmlns:a="http://schemas.openxmlformats.org/drawingml/2006/main">
            <a:pPr algn="l">
              <a:lnSpc>
                <a:spcPts val="3105"/>
              </a:lnSpc>
              <a:buNone/>
            </a:pPr>
            <a:r>
              <a:rPr sz="2215">
                <a:solidFill>
                  <a:srgbClr val="C6C6C6"/>
                </a:solidFill>
                <a:latin typeface="Montserrat Light"/>
                <a:ea typeface="Montserrat Light"/>
                <a:cs typeface="Montserrat Light"/>
              </a:rPr>
              <a:t>- Chưa kiểm thử mất điện trong quá trình ghi flash.</a:t>
            </a:r>
          </a:p>
          <a:p xmlns:a="http://schemas.openxmlformats.org/drawingml/2006/main">
            <a:pPr algn="l">
              <a:lnSpc>
                <a:spcPts val="3105"/>
              </a:lnSpc>
              <a:spcBef>
                <a:spcPct val="0"/>
              </a:spcBef>
              <a:buNone/>
            </a:pPr>
            <a:r>
              <a:rPr sz="2215">
                <a:solidFill>
                  <a:srgbClr val="C6C6C6"/>
                </a:solidFill>
                <a:latin typeface="Montserrat Light"/>
                <a:ea typeface="Montserrat Light"/>
                <a:cs typeface="Montserrat Light"/>
              </a:rPr>
              <a:t>- Firmware giả lập có kích thước nhỏ.</a:t>
            </a:r>
          </a:p>
        </p:txBody>
      </p:sp>
    </p:spTree>
    <p:extLst>
      <p:ext uri="{BB962C8B-B14F-4D97-AF65-F5344CB8AC3E}">
        <p14:creationId xmlns:p14="http://schemas.microsoft.com/office/powerpoint/2010/main" val="35397929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C439B08C-B195-4C37-99BD-52F1745AD64B}"/>
              </a:ext>
            </a:extLst>
          </p:cNvPr>
          <p:cNvSpPr>
            <a:spLocks xmlns:a="http://schemas.openxmlformats.org/drawingml/2006/main" noGrp="1"/>
          </p:cNvSpPr>
          <p:nvPr/>
        </p:nvSpPr>
        <p:spPr>
          <a:xfrm xmlns:a="http://schemas.openxmlformats.org/drawingml/2006/main" flipV="1">
            <a:off x="0" y="0"/>
            <a:ext cx="18288000" cy="10287000"/>
          </a:xfrm>
          <a:custGeom xmlns:a="http://schemas.openxmlformats.org/drawingml/2006/main">
            <a:rect l="l" t="t" r="r" b="b"/>
            <a:pathLst>
              <a:path w="18288000" h="10287000">
                <a:moveTo>
                  <a:pt x="0" y="10287000"/>
                </a:moveTo>
                <a:lnTo>
                  <a:pt x="18288000" y="10287000"/>
                </a:lnTo>
                <a:lnTo>
                  <a:pt x="18288000" y="0"/>
                </a:lnTo>
                <a:lnTo>
                  <a:pt x="0" y="0"/>
                </a:lnTo>
                <a:lnTo>
                  <a:pt x="0" y="10287000"/>
                </a:lnTo>
                <a:close/>
              </a:path>
            </a:pathLst>
          </a:custGeom>
          <a:blipFill xmlns:a="http://schemas.openxmlformats.org/drawingml/2006/main">
            <a:blip xmlns:r="http://schemas.openxmlformats.org/officeDocument/2006/relationships" r:embed="R9e2e059c06b944f0"/>
            <a:stretch>
              <a:fillRect l="0" t="-124631" r="-124631" b="0"/>
            </a:stretch>
          </a:blipFill>
        </p:spPr>
      </p:sp>
      <p:sp>
        <p:nvSpPr>
          <p:cNvPr id="3" name="Freeform 3">
            <a:extLst xmlns:a="http://schemas.openxmlformats.org/drawingml/2006/main">
              <a:ext uri="{FF2B5EF4-FFF2-40B4-BE49-F238E27FC236}">
                <a16:creationId xmlns:a16="http://schemas.microsoft.com/office/drawing/2014/main" id="{3C78370A-2810-409D-A34E-A29D49A521F2}"/>
              </a:ext>
            </a:extLst>
          </p:cNvPr>
          <p:cNvSpPr>
            <a:spLocks xmlns:a="http://schemas.openxmlformats.org/drawingml/2006/main" noGrp="1"/>
          </p:cNvSpPr>
          <p:nvPr/>
        </p:nvSpPr>
        <p:spPr>
          <a:xfrm xmlns:a="http://schemas.openxmlformats.org/drawingml/2006/main">
            <a:off x="13568711" y="-3962307"/>
            <a:ext cx="9438577" cy="6748583"/>
          </a:xfrm>
          <a:custGeom xmlns:a="http://schemas.openxmlformats.org/drawingml/2006/main">
            <a:rect l="l" t="t" r="r" b="b"/>
            <a:pathLst>
              <a:path w="9438577" h="6748583">
                <a:moveTo>
                  <a:pt x="0" y="0"/>
                </a:moveTo>
                <a:lnTo>
                  <a:pt x="9438578" y="0"/>
                </a:lnTo>
                <a:lnTo>
                  <a:pt x="9438578" y="6748583"/>
                </a:lnTo>
                <a:lnTo>
                  <a:pt x="0" y="6748583"/>
                </a:lnTo>
                <a:lnTo>
                  <a:pt x="0" y="0"/>
                </a:lnTo>
                <a:close/>
              </a:path>
            </a:pathLst>
          </a:custGeom>
          <a:blipFill xmlns:a="http://schemas.openxmlformats.org/drawingml/2006/main">
            <a:blip xmlns:r="http://schemas.openxmlformats.org/officeDocument/2006/relationships" r:embed="R9e2e059c06b944f0">
              <a:extLst>
                <a:ext uri="{96DAC541-7B7A-43D3-8B79-37D633B846F1}">
                  <asvg:svgBlip xmlns:asvg="http://schemas.microsoft.com/office/drawing/2016/SVG/main" r:embed="R4dd81fac28e84e49"/>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7FC0CDED-8689-4F71-A7F1-05BC54DA36B0}"/>
              </a:ext>
            </a:extLst>
          </p:cNvPr>
          <p:cNvSpPr>
            <a:spLocks xmlns:a="http://schemas.openxmlformats.org/drawingml/2006/main" noGrp="1"/>
          </p:cNvSpPr>
          <p:nvPr/>
        </p:nvSpPr>
        <p:spPr>
          <a:xfrm xmlns:a="http://schemas.openxmlformats.org/drawingml/2006/main" rot="0" flipH="0" flipV="0">
            <a:off x="16128358" y="-502202"/>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6" name="TextBox 6">
            <a:extLst xmlns:a="http://schemas.openxmlformats.org/drawingml/2006/main">
              <a:ext uri="{FF2B5EF4-FFF2-40B4-BE49-F238E27FC236}">
                <a16:creationId xmlns:a16="http://schemas.microsoft.com/office/drawing/2014/main" id="{D95F1F6D-8DCF-460B-B61D-D02DDAFEA6A5}"/>
              </a:ext>
            </a:extLst>
          </p:cNvPr>
          <p:cNvSpPr>
            <a:spLocks xmlns:a="http://schemas.openxmlformats.org/drawingml/2006/main" noGrp="1"/>
          </p:cNvSpPr>
          <p:nvPr/>
        </p:nvSpPr>
        <p:spPr>
          <a:xfrm xmlns:a="http://schemas.openxmlformats.org/drawingml/2006/main" rot="0" flipH="0" flipV="0">
            <a:off x="16712733" y="-696993"/>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8" name="Freeform 8">
            <a:extLst xmlns:a="http://schemas.openxmlformats.org/drawingml/2006/main">
              <a:ext uri="{FF2B5EF4-FFF2-40B4-BE49-F238E27FC236}">
                <a16:creationId xmlns:a16="http://schemas.microsoft.com/office/drawing/2014/main" id="{AA16BBC3-C48D-43C8-AECC-D95A8476143F}"/>
              </a:ext>
            </a:extLst>
          </p:cNvPr>
          <p:cNvSpPr>
            <a:spLocks xmlns:a="http://schemas.openxmlformats.org/drawingml/2006/main" noGrp="1"/>
          </p:cNvSpPr>
          <p:nvPr/>
        </p:nvSpPr>
        <p:spPr>
          <a:xfrm xmlns:a="http://schemas.openxmlformats.org/drawingml/2006/main" rot="0" flipH="0" flipV="0">
            <a:off x="15234643" y="515353"/>
            <a:ext cx="1787431" cy="153607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9" name="TextBox 9">
            <a:extLst xmlns:a="http://schemas.openxmlformats.org/drawingml/2006/main">
              <a:ext uri="{FF2B5EF4-FFF2-40B4-BE49-F238E27FC236}">
                <a16:creationId xmlns:a16="http://schemas.microsoft.com/office/drawing/2014/main" id="{466A1DB2-DD00-4650-861F-18D68E422413}"/>
              </a:ext>
            </a:extLst>
          </p:cNvPr>
          <p:cNvSpPr>
            <a:spLocks xmlns:a="http://schemas.openxmlformats.org/drawingml/2006/main" noGrp="1"/>
          </p:cNvSpPr>
          <p:nvPr/>
        </p:nvSpPr>
        <p:spPr>
          <a:xfrm xmlns:a="http://schemas.openxmlformats.org/drawingml/2006/main" rot="0" flipH="0" flipV="0">
            <a:off x="15486000" y="431568"/>
            <a:ext cx="1284716" cy="1619858"/>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0" name="TextBox 10">
            <a:extLst xmlns:a="http://schemas.openxmlformats.org/drawingml/2006/main">
              <a:ext uri="{FF2B5EF4-FFF2-40B4-BE49-F238E27FC236}">
                <a16:creationId xmlns:a16="http://schemas.microsoft.com/office/drawing/2014/main" id="{D406FB26-3B36-430E-9107-0BA7C087A84D}"/>
              </a:ext>
            </a:extLst>
          </p:cNvPr>
          <p:cNvSpPr>
            <a:spLocks xmlns:a="http://schemas.openxmlformats.org/drawingml/2006/main" noGrp="1"/>
          </p:cNvSpPr>
          <p:nvPr/>
        </p:nvSpPr>
        <p:spPr>
          <a:xfrm xmlns:a="http://schemas.openxmlformats.org/drawingml/2006/main">
            <a:off x="3079042" y="914400"/>
            <a:ext cx="11690650" cy="1002961"/>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240"/>
              </a:lnSpc>
              <a:spcBef>
                <a:spcPct val="0"/>
              </a:spcBef>
              <a:buNone/>
            </a:pPr>
            <a:r>
              <a:rPr sz="5885" b="1">
                <a:solidFill>
                  <a:srgbClr val="FFFFFF"/>
                </a:solidFill>
                <a:latin typeface="TT Lakes Neue Extended Bold"/>
                <a:ea typeface="TT Lakes Neue Extended Bold"/>
                <a:cs typeface="TT Lakes Neue Extended Bold"/>
              </a:rPr>
              <a:t>K</a:t>
            </a:r>
            <a:r>
              <a:rPr sz="5885" b="1">
                <a:solidFill>
                  <a:srgbClr val="FFFFFF"/>
                </a:solidFill>
                <a:latin typeface="TT Lakes Neue Extended Bold"/>
                <a:ea typeface="TT Lakes Neue Extended Bold"/>
                <a:cs typeface="TT Lakes Neue Extended Bold"/>
              </a:rPr>
              <a:t>ẾT LUẬN</a:t>
            </a:r>
          </a:p>
        </p:txBody>
      </p:sp>
      <p:sp>
        <p:nvSpPr>
          <p:cNvPr id="12" name="Freeform 12">
            <a:extLst xmlns:a="http://schemas.openxmlformats.org/drawingml/2006/main">
              <a:ext uri="{FF2B5EF4-FFF2-40B4-BE49-F238E27FC236}">
                <a16:creationId xmlns:a16="http://schemas.microsoft.com/office/drawing/2014/main" id="{E94683FD-3AEC-4CD8-81DC-EA4CD9DD6FFF}"/>
              </a:ext>
            </a:extLst>
          </p:cNvPr>
          <p:cNvSpPr>
            <a:spLocks xmlns:a="http://schemas.openxmlformats.org/drawingml/2006/main" noGrp="1"/>
          </p:cNvSpPr>
          <p:nvPr/>
        </p:nvSpPr>
        <p:spPr>
          <a:xfrm xmlns:a="http://schemas.openxmlformats.org/drawingml/2006/main" rot="0" flipH="0" flipV="0">
            <a:off x="1474720" y="2297694"/>
            <a:ext cx="15338561" cy="7082772"/>
          </a:xfrm>
          <a:custGeom xmlns:a="http://schemas.openxmlformats.org/drawingml/2006/main">
            <a:rect l="l" t="t" r="r" b="b"/>
            <a:pathLst>
              <a:path w="1720832" h="794616">
                <a:moveTo>
                  <a:pt x="12618" y="0"/>
                </a:moveTo>
                <a:lnTo>
                  <a:pt x="1708214" y="0"/>
                </a:lnTo>
                <a:cubicBezTo>
                  <a:pt x="1715183" y="0"/>
                  <a:pt x="1720832" y="5649"/>
                  <a:pt x="1720832" y="12618"/>
                </a:cubicBezTo>
                <a:lnTo>
                  <a:pt x="1720832" y="781997"/>
                </a:lnTo>
                <a:cubicBezTo>
                  <a:pt x="1720832" y="785344"/>
                  <a:pt x="1719503" y="788553"/>
                  <a:pt x="1717136" y="790920"/>
                </a:cubicBezTo>
                <a:cubicBezTo>
                  <a:pt x="1714770" y="793286"/>
                  <a:pt x="1711560" y="794616"/>
                  <a:pt x="1708214" y="794616"/>
                </a:cubicBezTo>
                <a:lnTo>
                  <a:pt x="12618" y="794616"/>
                </a:lnTo>
                <a:cubicBezTo>
                  <a:pt x="5649" y="794616"/>
                  <a:pt x="0" y="788966"/>
                  <a:pt x="0" y="781997"/>
                </a:cubicBezTo>
                <a:lnTo>
                  <a:pt x="0" y="12618"/>
                </a:lnTo>
                <a:cubicBezTo>
                  <a:pt x="0" y="9272"/>
                  <a:pt x="1329" y="6062"/>
                  <a:pt x="3696" y="3696"/>
                </a:cubicBezTo>
                <a:cubicBezTo>
                  <a:pt x="6062" y="1329"/>
                  <a:pt x="9272" y="0"/>
                  <a:pt x="12618" y="0"/>
                </a:cubicBezTo>
                <a:close/>
              </a:path>
            </a:pathLst>
          </a:custGeom>
          <a:gradFill xmlns:a="http://schemas.openxmlformats.org/drawingml/2006/main" rotWithShape="1">
            <a:gsLst>
              <a:gs pos="0">
                <a:srgbClr val="31A1D4">
                  <a:alpha val="47000"/>
                </a:srgbClr>
              </a:gs>
              <a:gs pos="100000">
                <a:srgbClr val="035E8E">
                  <a:alpha val="0"/>
                </a:srgbClr>
              </a:gs>
            </a:gsLst>
            <a:lin ang="2700000"/>
          </a:gradFill>
        </p:spPr>
      </p:sp>
      <p:sp>
        <p:nvSpPr>
          <p:cNvPr id="13" name="TextBox 13">
            <a:extLst xmlns:a="http://schemas.openxmlformats.org/drawingml/2006/main">
              <a:ext uri="{FF2B5EF4-FFF2-40B4-BE49-F238E27FC236}">
                <a16:creationId xmlns:a16="http://schemas.microsoft.com/office/drawing/2014/main" id="{5459661C-B7FA-4504-BB9D-A6AC0B8A91E2}"/>
              </a:ext>
            </a:extLst>
          </p:cNvPr>
          <p:cNvSpPr>
            <a:spLocks xmlns:a="http://schemas.openxmlformats.org/drawingml/2006/main" noGrp="1"/>
          </p:cNvSpPr>
          <p:nvPr/>
        </p:nvSpPr>
        <p:spPr>
          <a:xfrm xmlns:a="http://schemas.openxmlformats.org/drawingml/2006/main" rot="0" flipH="0" flipV="0">
            <a:off x="1474720" y="1958092"/>
            <a:ext cx="15338561" cy="74223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4" name="TextBox 14">
            <a:extLst xmlns:a="http://schemas.openxmlformats.org/drawingml/2006/main">
              <a:ext uri="{FF2B5EF4-FFF2-40B4-BE49-F238E27FC236}">
                <a16:creationId xmlns:a16="http://schemas.microsoft.com/office/drawing/2014/main" id="{E00F520E-CCA2-4729-B942-3AB6EC435090}"/>
              </a:ext>
            </a:extLst>
          </p:cNvPr>
          <p:cNvSpPr>
            <a:spLocks xmlns:a="http://schemas.openxmlformats.org/drawingml/2006/main" noGrp="1"/>
          </p:cNvSpPr>
          <p:nvPr/>
        </p:nvSpPr>
        <p:spPr>
          <a:xfrm xmlns:a="http://schemas.openxmlformats.org/drawingml/2006/main">
            <a:off x="1952056" y="2618003"/>
            <a:ext cx="14383887" cy="157353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4130"/>
              </a:lnSpc>
              <a:spcBef>
                <a:spcPct val="0"/>
              </a:spcBef>
              <a:buNone/>
            </a:pPr>
            <a:r>
              <a:rPr sz="2950">
                <a:solidFill>
                  <a:srgbClr val="C6C6C6"/>
                </a:solidFill>
                <a:latin typeface="Montserrat Light"/>
                <a:ea typeface="Montserrat Light"/>
                <a:cs typeface="Montserrat Light"/>
              </a:rPr>
              <a:t>Đề</a:t>
            </a:r>
            <a:r>
              <a:rPr sz="2950">
                <a:solidFill>
                  <a:srgbClr val="C6C6C6"/>
                </a:solidFill>
                <a:latin typeface="Montserrat Light"/>
                <a:ea typeface="Montserrat Light"/>
                <a:cs typeface="Montserrat Light"/>
              </a:rPr>
              <a:t> tài đã xây dựng được mô hình cập nhật firmware an toàn có xác thực nguồn gốc, kiểm tra toàn vẹn, chống rollback và phục hồi khi cập nhật thất bại. </a:t>
            </a:r>
            <a:r>
              <a:rPr sz="2950">
                <a:solidFill>
                  <a:srgbClr val="C6C6C6"/>
                </a:solidFill>
                <a:latin typeface="Montserrat Light"/>
                <a:ea typeface="Montserrat Light"/>
                <a:cs typeface="Montserrat Light"/>
              </a:rPr>
              <a:t>Năm ca kiểm thử</a:t>
            </a:r>
            <a:r>
              <a:rPr sz="2950">
                <a:solidFill>
                  <a:srgbClr val="C6C6C6"/>
                </a:solidFill>
                <a:latin typeface="Montserrat Light"/>
                <a:ea typeface="Montserrat Light"/>
                <a:cs typeface="Montserrat Light"/>
              </a:rPr>
              <a:t> đều đạt kết quả mong đợi.</a:t>
            </a:r>
          </a:p>
        </p:txBody>
      </p:sp>
      <p:sp>
        <p:nvSpPr>
          <p:cNvPr id="16" name="Freeform 16">
            <a:extLst xmlns:a="http://schemas.openxmlformats.org/drawingml/2006/main">
              <a:ext uri="{FF2B5EF4-FFF2-40B4-BE49-F238E27FC236}">
                <a16:creationId xmlns:a16="http://schemas.microsoft.com/office/drawing/2014/main" id="{EA1AE33B-138A-4409-B501-ECC4DCBED998}"/>
              </a:ext>
            </a:extLst>
          </p:cNvPr>
          <p:cNvSpPr>
            <a:spLocks xmlns:a="http://schemas.openxmlformats.org/drawingml/2006/main" noGrp="1"/>
          </p:cNvSpPr>
          <p:nvPr/>
        </p:nvSpPr>
        <p:spPr>
          <a:xfrm xmlns:a="http://schemas.openxmlformats.org/drawingml/2006/main" rot="0" flipH="0" flipV="0">
            <a:off x="-1325072" y="-1351287"/>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7" name="TextBox 17">
            <a:extLst xmlns:a="http://schemas.openxmlformats.org/drawingml/2006/main">
              <a:ext uri="{FF2B5EF4-FFF2-40B4-BE49-F238E27FC236}">
                <a16:creationId xmlns:a16="http://schemas.microsoft.com/office/drawing/2014/main" id="{16CB8C9F-58CD-4BC7-8F55-0D14955D7D33}"/>
              </a:ext>
            </a:extLst>
          </p:cNvPr>
          <p:cNvSpPr>
            <a:spLocks xmlns:a="http://schemas.openxmlformats.org/drawingml/2006/main" noGrp="1"/>
          </p:cNvSpPr>
          <p:nvPr/>
        </p:nvSpPr>
        <p:spPr>
          <a:xfrm xmlns:a="http://schemas.openxmlformats.org/drawingml/2006/main" rot="0" flipH="0" flipV="0">
            <a:off x="-740697" y="-1546078"/>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8" name="Freeform 18">
            <a:extLst xmlns:a="http://schemas.openxmlformats.org/drawingml/2006/main">
              <a:ext uri="{FF2B5EF4-FFF2-40B4-BE49-F238E27FC236}">
                <a16:creationId xmlns:a16="http://schemas.microsoft.com/office/drawing/2014/main" id="{9A8D4711-214D-46FD-BC0B-A5DF07BB711C}"/>
              </a:ext>
            </a:extLst>
          </p:cNvPr>
          <p:cNvSpPr>
            <a:spLocks xmlns:a="http://schemas.openxmlformats.org/drawingml/2006/main" noGrp="1"/>
          </p:cNvSpPr>
          <p:nvPr/>
        </p:nvSpPr>
        <p:spPr>
          <a:xfrm xmlns:a="http://schemas.openxmlformats.org/drawingml/2006/main">
            <a:off x="-4958776" y="-3515644"/>
            <a:ext cx="9438577" cy="6748583"/>
          </a:xfrm>
          <a:custGeom xmlns:a="http://schemas.openxmlformats.org/drawingml/2006/main">
            <a:rect l="l" t="t" r="r" b="b"/>
            <a:pathLst>
              <a:path w="9438577" h="6748583">
                <a:moveTo>
                  <a:pt x="0" y="0"/>
                </a:moveTo>
                <a:lnTo>
                  <a:pt x="9438577" y="0"/>
                </a:lnTo>
                <a:lnTo>
                  <a:pt x="9438577" y="6748582"/>
                </a:lnTo>
                <a:lnTo>
                  <a:pt x="0" y="6748582"/>
                </a:lnTo>
                <a:lnTo>
                  <a:pt x="0" y="0"/>
                </a:lnTo>
                <a:close/>
              </a:path>
            </a:pathLst>
          </a:custGeom>
          <a:blipFill xmlns:a="http://schemas.openxmlformats.org/drawingml/2006/main">
            <a:blip xmlns:r="http://schemas.openxmlformats.org/officeDocument/2006/relationships" r:embed="R9e2e059c06b944f0">
              <a:extLst>
                <a:ext uri="{96DAC541-7B7A-43D3-8B79-37D633B846F1}">
                  <asvg:svgBlip xmlns:asvg="http://schemas.microsoft.com/office/drawing/2016/SVG/main" r:embed="R4dd81fac28e84e49"/>
                </a:ext>
              </a:extLst>
            </a:blip>
            <a:stretch>
              <a:fillRect l="0" t="0" r="0" b="0"/>
            </a:stretch>
          </a:blipFill>
        </p:spPr>
      </p:sp>
      <p:sp>
        <p:nvSpPr>
          <p:cNvPr id="20" name="Freeform 20">
            <a:extLst xmlns:a="http://schemas.openxmlformats.org/drawingml/2006/main">
              <a:ext uri="{FF2B5EF4-FFF2-40B4-BE49-F238E27FC236}">
                <a16:creationId xmlns:a16="http://schemas.microsoft.com/office/drawing/2014/main" id="{043F7274-8A79-4765-A082-E375D07B8585}"/>
              </a:ext>
            </a:extLst>
          </p:cNvPr>
          <p:cNvSpPr>
            <a:spLocks xmlns:a="http://schemas.openxmlformats.org/drawingml/2006/main" noGrp="1"/>
          </p:cNvSpPr>
          <p:nvPr/>
        </p:nvSpPr>
        <p:spPr>
          <a:xfrm xmlns:a="http://schemas.openxmlformats.org/drawingml/2006/main" rot="0" flipH="0" flipV="0">
            <a:off x="-2077779" y="-141353"/>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21" name="TextBox 21">
            <a:extLst xmlns:a="http://schemas.openxmlformats.org/drawingml/2006/main">
              <a:ext uri="{FF2B5EF4-FFF2-40B4-BE49-F238E27FC236}">
                <a16:creationId xmlns:a16="http://schemas.microsoft.com/office/drawing/2014/main" id="{36176C76-F447-4D29-90B2-7FC9469D4685}"/>
              </a:ext>
            </a:extLst>
          </p:cNvPr>
          <p:cNvSpPr>
            <a:spLocks xmlns:a="http://schemas.openxmlformats.org/drawingml/2006/main" noGrp="1"/>
          </p:cNvSpPr>
          <p:nvPr/>
        </p:nvSpPr>
        <p:spPr>
          <a:xfrm xmlns:a="http://schemas.openxmlformats.org/drawingml/2006/main" rot="0" flipH="0" flipV="0">
            <a:off x="-1493404" y="-336144"/>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22" name="TextBox 22">
            <a:extLst xmlns:a="http://schemas.openxmlformats.org/drawingml/2006/main">
              <a:ext uri="{FF2B5EF4-FFF2-40B4-BE49-F238E27FC236}">
                <a16:creationId xmlns:a16="http://schemas.microsoft.com/office/drawing/2014/main" id="{01AD5261-3B2F-4B07-81A4-5590B1050158}"/>
              </a:ext>
            </a:extLst>
          </p:cNvPr>
          <p:cNvSpPr>
            <a:spLocks xmlns:a="http://schemas.openxmlformats.org/drawingml/2006/main" noGrp="1"/>
          </p:cNvSpPr>
          <p:nvPr/>
        </p:nvSpPr>
        <p:spPr>
          <a:xfrm xmlns:a="http://schemas.openxmlformats.org/drawingml/2006/main">
            <a:off x="1952056" y="4562190"/>
            <a:ext cx="14383887" cy="207747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4130"/>
              </a:lnSpc>
              <a:buNone/>
            </a:pPr>
            <a:r>
              <a:rPr sz="2950">
                <a:solidFill>
                  <a:srgbClr val="C6C6C6"/>
                </a:solidFill>
                <a:latin typeface="Montserrat Light"/>
                <a:ea typeface="Montserrat Light"/>
                <a:cs typeface="Montserrat Light"/>
              </a:rPr>
              <a:t>Ba điều học được:</a:t>
            </a:r>
          </a:p>
          <a:p xmlns:a="http://schemas.openxmlformats.org/drawingml/2006/main">
            <a:pPr>
              <a:lnSpc>
                <a:spcPts val="4130"/>
              </a:lnSpc>
              <a:buNone/>
            </a:pPr>
            <a:r>
              <a:rPr sz="2950">
                <a:solidFill>
                  <a:srgbClr val="C6C6C6"/>
                </a:solidFill>
                <a:latin typeface="Montserrat Light"/>
                <a:ea typeface="Montserrat Light"/>
                <a:cs typeface="Montserrat Light"/>
              </a:rPr>
              <a:t>1.</a:t>
            </a:r>
            <a:r>
              <a:rPr sz="2950">
                <a:solidFill>
                  <a:srgbClr val="C6C6C6"/>
                </a:solidFill>
                <a:latin typeface="Montserrat Light"/>
                <a:ea typeface="Montserrat Light"/>
                <a:cs typeface="Montserrat Light"/>
              </a:rPr>
              <a:t> SHA-256 đơn lẻ không xác thực được nhà phát hành; cần có chữ ký số.</a:t>
            </a:r>
          </a:p>
          <a:p xmlns:a="http://schemas.openxmlformats.org/drawingml/2006/main">
            <a:pPr>
              <a:lnSpc>
                <a:spcPts val="4130"/>
              </a:lnSpc>
              <a:buNone/>
            </a:pPr>
            <a:r>
              <a:rPr sz="2950">
                <a:solidFill>
                  <a:srgbClr val="C6C6C6"/>
                </a:solidFill>
                <a:latin typeface="Montserrat Light"/>
                <a:ea typeface="Montserrat Light"/>
                <a:cs typeface="Montserrat Light"/>
              </a:rPr>
              <a:t>2. Rollback phục hồi và anti-rollback là hai cơ chế khác nhau.</a:t>
            </a:r>
          </a:p>
          <a:p xmlns:a="http://schemas.openxmlformats.org/drawingml/2006/main">
            <a:pPr>
              <a:lnSpc>
                <a:spcPts val="4130"/>
              </a:lnSpc>
              <a:spcBef>
                <a:spcPct val="0"/>
              </a:spcBef>
              <a:buNone/>
            </a:pPr>
            <a:r>
              <a:rPr sz="2950">
                <a:solidFill>
                  <a:srgbClr val="C6C6C6"/>
                </a:solidFill>
                <a:latin typeface="Montserrat Light"/>
                <a:ea typeface="Montserrat Light"/>
                <a:cs typeface="Montserrat Light"/>
              </a:rPr>
              <a:t>3. Firmware chỉ được kích hoạt sau khi xác minh và self-test thành công.</a:t>
            </a:r>
          </a:p>
        </p:txBody>
      </p:sp>
      <p:sp>
        <p:nvSpPr>
          <p:cNvPr id="23" name="TextBox 23">
            <a:extLst xmlns:a="http://schemas.openxmlformats.org/drawingml/2006/main">
              <a:ext uri="{FF2B5EF4-FFF2-40B4-BE49-F238E27FC236}">
                <a16:creationId xmlns:a16="http://schemas.microsoft.com/office/drawing/2014/main" id="{F104F8EF-09A5-4FF5-A657-AEBDDB472EAF}"/>
              </a:ext>
            </a:extLst>
          </p:cNvPr>
          <p:cNvSpPr>
            <a:spLocks xmlns:a="http://schemas.openxmlformats.org/drawingml/2006/main" noGrp="1"/>
          </p:cNvSpPr>
          <p:nvPr/>
        </p:nvSpPr>
        <p:spPr>
          <a:xfrm xmlns:a="http://schemas.openxmlformats.org/drawingml/2006/main">
            <a:off x="1952056" y="7030193"/>
            <a:ext cx="14383887" cy="207747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4130"/>
              </a:lnSpc>
              <a:buNone/>
            </a:pPr>
            <a:r>
              <a:rPr sz="2950">
                <a:solidFill>
                  <a:srgbClr val="C6C6C6"/>
                </a:solidFill>
                <a:latin typeface="Montserrat Light"/>
                <a:ea typeface="Montserrat Light"/>
                <a:cs typeface="Montserrat Light"/>
              </a:rPr>
              <a:t>Hai hạn chế chính:</a:t>
            </a:r>
          </a:p>
          <a:p xmlns:a="http://schemas.openxmlformats.org/drawingml/2006/main">
            <a:pPr>
              <a:lnSpc>
                <a:spcPts val="4130"/>
              </a:lnSpc>
              <a:buNone/>
            </a:pPr>
            <a:r>
              <a:rPr sz="2950">
                <a:solidFill>
                  <a:srgbClr val="C6C6C6"/>
                </a:solidFill>
                <a:latin typeface="Montserrat Light"/>
                <a:ea typeface="Montserrat Light"/>
                <a:cs typeface="Montserrat Light"/>
              </a:rPr>
              <a:t>1.</a:t>
            </a:r>
            <a:r>
              <a:rPr sz="2950">
                <a:solidFill>
                  <a:srgbClr val="C6C6C6"/>
                </a:solidFill>
                <a:latin typeface="Montserrat Light"/>
                <a:ea typeface="Montserrat Light"/>
                <a:cs typeface="Montserrat Light"/>
              </a:rPr>
              <a:t> Mô hình mới chạy bằng Python, chưa có phần cứng và bootloader thật.</a:t>
            </a:r>
          </a:p>
          <a:p xmlns:a="http://schemas.openxmlformats.org/drawingml/2006/main">
            <a:pPr>
              <a:lnSpc>
                <a:spcPts val="4130"/>
              </a:lnSpc>
              <a:spcBef>
                <a:spcPct val="0"/>
              </a:spcBef>
              <a:buNone/>
            </a:pPr>
            <a:r>
              <a:rPr sz="2950">
                <a:solidFill>
                  <a:srgbClr val="C6C6C6"/>
                </a:solidFill>
                <a:latin typeface="Montserrat Light"/>
                <a:ea typeface="Montserrat Light"/>
                <a:cs typeface="Montserrat Light"/>
              </a:rPr>
              <a:t>2. Chưa triển khai HTTPS/mTLS và quản lý khóa ở mức sản xuất.</a:t>
            </a:r>
          </a:p>
          <a:p xmlns:a="http://schemas.openxmlformats.org/drawingml/2006/main">
            <a:pPr>
              <a:lnSpc>
                <a:spcPts val="4130"/>
              </a:lnSpc>
              <a:spcBef>
                <a:spcPct val="0"/>
              </a:spcBef>
              <a:buNone/>
            </a:pPr>
          </a:p>
        </p:txBody>
      </p:sp>
    </p:spTree>
    <p:extLst>
      <p:ext uri="{BB962C8B-B14F-4D97-AF65-F5344CB8AC3E}">
        <p14:creationId xmlns:p14="http://schemas.microsoft.com/office/powerpoint/2010/main" val="25000632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5D081829-85EE-460E-9F46-19B31118F1FB}"/>
              </a:ext>
            </a:extLst>
          </p:cNvPr>
          <p:cNvSpPr>
            <a:spLocks xmlns:a="http://schemas.openxmlformats.org/drawingml/2006/main" noGrp="1"/>
          </p:cNvSpPr>
          <p:nvPr/>
        </p:nvSpPr>
        <p:spPr>
          <a:xfrm xmlns:a="http://schemas.openxmlformats.org/drawingml/2006/main">
            <a:off x="0" y="0"/>
            <a:ext cx="18288000" cy="10287000"/>
          </a:xfrm>
          <a:custGeom xmlns:a="http://schemas.openxmlformats.org/drawingml/2006/main">
            <a:rect l="l" t="t" r="r" b="b"/>
            <a:pathLst>
              <a:path w="18288000" h="10287000">
                <a:moveTo>
                  <a:pt x="0" y="0"/>
                </a:moveTo>
                <a:lnTo>
                  <a:pt x="18288000" y="0"/>
                </a:lnTo>
                <a:lnTo>
                  <a:pt x="18288000" y="10287000"/>
                </a:lnTo>
                <a:lnTo>
                  <a:pt x="0" y="10287000"/>
                </a:lnTo>
                <a:lnTo>
                  <a:pt x="0" y="0"/>
                </a:lnTo>
                <a:close/>
              </a:path>
            </a:pathLst>
          </a:custGeom>
          <a:blipFill xmlns:a="http://schemas.openxmlformats.org/drawingml/2006/main">
            <a:blip xmlns:r="http://schemas.openxmlformats.org/officeDocument/2006/relationships" r:embed="Rb2e5bc544b684d71"/>
            <a:stretch>
              <a:fillRect l="0" t="-65984" r="-65984" b="0"/>
            </a:stretch>
          </a:blipFill>
        </p:spPr>
      </p:sp>
      <p:sp>
        <p:nvSpPr>
          <p:cNvPr id="3" name="Freeform 3">
            <a:extLst xmlns:a="http://schemas.openxmlformats.org/drawingml/2006/main">
              <a:ext uri="{FF2B5EF4-FFF2-40B4-BE49-F238E27FC236}">
                <a16:creationId xmlns:a16="http://schemas.microsoft.com/office/drawing/2014/main" id="{A6492316-6FB6-4AC3-BC8F-167C6322C280}"/>
              </a:ext>
            </a:extLst>
          </p:cNvPr>
          <p:cNvSpPr>
            <a:spLocks xmlns:a="http://schemas.openxmlformats.org/drawingml/2006/main" noGrp="1"/>
          </p:cNvSpPr>
          <p:nvPr/>
        </p:nvSpPr>
        <p:spPr>
          <a:xfrm xmlns:a="http://schemas.openxmlformats.org/drawingml/2006/main">
            <a:off x="-2108849" y="6034841"/>
            <a:ext cx="9438577" cy="6748583"/>
          </a:xfrm>
          <a:custGeom xmlns:a="http://schemas.openxmlformats.org/drawingml/2006/main">
            <a:rect l="l" t="t" r="r" b="b"/>
            <a:pathLst>
              <a:path w="9438577" h="6748583">
                <a:moveTo>
                  <a:pt x="0" y="0"/>
                </a:moveTo>
                <a:lnTo>
                  <a:pt x="9438578" y="0"/>
                </a:lnTo>
                <a:lnTo>
                  <a:pt x="9438578" y="6748583"/>
                </a:lnTo>
                <a:lnTo>
                  <a:pt x="0" y="6748583"/>
                </a:lnTo>
                <a:lnTo>
                  <a:pt x="0" y="0"/>
                </a:lnTo>
                <a:close/>
              </a:path>
            </a:pathLst>
          </a:custGeom>
          <a:blipFill xmlns:a="http://schemas.openxmlformats.org/drawingml/2006/main">
            <a:blip xmlns:r="http://schemas.openxmlformats.org/officeDocument/2006/relationships" r:embed="Rb2e5bc544b684d71">
              <a:extLst>
                <a:ext uri="{96DAC541-7B7A-43D3-8B79-37D633B846F1}">
                  <asvg:svgBlip xmlns:asvg="http://schemas.microsoft.com/office/drawing/2016/SVG/main" r:embed="R85c5bd0e76d94e70"/>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5683DB0A-509E-47CB-8BE3-9AE86B3E3130}"/>
              </a:ext>
            </a:extLst>
          </p:cNvPr>
          <p:cNvSpPr>
            <a:spLocks xmlns:a="http://schemas.openxmlformats.org/drawingml/2006/main" noGrp="1"/>
          </p:cNvSpPr>
          <p:nvPr/>
        </p:nvSpPr>
        <p:spPr>
          <a:xfrm xmlns:a="http://schemas.openxmlformats.org/drawingml/2006/main" rot="0" flipH="0" flipV="0">
            <a:off x="1028700" y="3820462"/>
            <a:ext cx="8115299" cy="969042"/>
          </a:xfrm>
          <a:custGeom xmlns:a="http://schemas.openxmlformats.org/drawingml/2006/main">
            <a:rect l="l" t="t" r="r" b="b"/>
            <a:pathLst>
              <a:path w="5346361" h="638405">
                <a:moveTo>
                  <a:pt x="5143161" y="0"/>
                </a:moveTo>
                <a:cubicBezTo>
                  <a:pt x="5255385" y="0"/>
                  <a:pt x="5346361" y="142912"/>
                  <a:pt x="5346361" y="319203"/>
                </a:cubicBezTo>
                <a:cubicBezTo>
                  <a:pt x="5346361" y="495493"/>
                  <a:pt x="5255385" y="638405"/>
                  <a:pt x="5143161" y="638405"/>
                </a:cubicBezTo>
                <a:lnTo>
                  <a:pt x="203200" y="638405"/>
                </a:lnTo>
                <a:cubicBezTo>
                  <a:pt x="90976" y="638405"/>
                  <a:pt x="0" y="495493"/>
                  <a:pt x="0" y="319203"/>
                </a:cubicBezTo>
                <a:cubicBezTo>
                  <a:pt x="0" y="142912"/>
                  <a:pt x="90976" y="0"/>
                  <a:pt x="203200" y="0"/>
                </a:cubicBezTo>
                <a:lnTo>
                  <a:pt x="5143161" y="0"/>
                </a:lnTo>
                <a:close/>
              </a:path>
            </a:pathLst>
          </a:custGeom>
          <a:gradFill xmlns:a="http://schemas.openxmlformats.org/drawingml/2006/main" rotWithShape="1">
            <a:gsLst>
              <a:gs pos="0">
                <a:srgbClr val="31A1D4">
                  <a:alpha val="47000"/>
                </a:srgbClr>
              </a:gs>
              <a:gs pos="100000">
                <a:srgbClr val="035E8E">
                  <a:alpha val="0"/>
                </a:srgbClr>
              </a:gs>
            </a:gsLst>
            <a:lin ang="2700000"/>
          </a:gradFill>
          <a:ln xmlns:a="http://schemas.openxmlformats.org/drawingml/2006/main">
            <a:noFill/>
            <a:prstDash val="solid"/>
          </a:ln>
        </p:spPr>
      </p:sp>
      <p:sp>
        <p:nvSpPr>
          <p:cNvPr id="6" name="TextBox 6">
            <a:extLst xmlns:a="http://schemas.openxmlformats.org/drawingml/2006/main">
              <a:ext uri="{FF2B5EF4-FFF2-40B4-BE49-F238E27FC236}">
                <a16:creationId xmlns:a16="http://schemas.microsoft.com/office/drawing/2014/main" id="{9035FA46-E017-4F17-95D4-D1D01B921CB6}"/>
              </a:ext>
            </a:extLst>
          </p:cNvPr>
          <p:cNvSpPr>
            <a:spLocks xmlns:a="http://schemas.openxmlformats.org/drawingml/2006/main" noGrp="1"/>
          </p:cNvSpPr>
          <p:nvPr/>
        </p:nvSpPr>
        <p:spPr>
          <a:xfrm xmlns:a="http://schemas.openxmlformats.org/drawingml/2006/main" rot="0" flipH="0" flipV="0">
            <a:off x="1028700" y="3762630"/>
            <a:ext cx="8115299" cy="10268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nSpc>
                <a:spcPts val="3355"/>
              </a:lnSpc>
              <a:spcBef>
                <a:spcPct val="0"/>
              </a:spcBef>
              <a:buNone/>
            </a:pPr>
          </a:p>
        </p:txBody>
      </p:sp>
      <p:sp>
        <p:nvSpPr>
          <p:cNvPr id="8" name="Freeform 8">
            <a:extLst xmlns:a="http://schemas.openxmlformats.org/drawingml/2006/main">
              <a:ext uri="{FF2B5EF4-FFF2-40B4-BE49-F238E27FC236}">
                <a16:creationId xmlns:a16="http://schemas.microsoft.com/office/drawing/2014/main" id="{F9CA2D9F-B67A-4A1F-BA0B-D59F70CC6DEF}"/>
              </a:ext>
            </a:extLst>
          </p:cNvPr>
          <p:cNvSpPr>
            <a:spLocks xmlns:a="http://schemas.openxmlformats.org/drawingml/2006/main" noGrp="1"/>
          </p:cNvSpPr>
          <p:nvPr/>
        </p:nvSpPr>
        <p:spPr>
          <a:xfrm xmlns:a="http://schemas.openxmlformats.org/drawingml/2006/main" rot="0" flipH="0" flipV="0">
            <a:off x="-1482992" y="7162049"/>
            <a:ext cx="3636307" cy="3124951"/>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9" name="TextBox 9">
            <a:extLst xmlns:a="http://schemas.openxmlformats.org/drawingml/2006/main">
              <a:ext uri="{FF2B5EF4-FFF2-40B4-BE49-F238E27FC236}">
                <a16:creationId xmlns:a16="http://schemas.microsoft.com/office/drawing/2014/main" id="{C0EC7DD0-832A-4E79-A2A7-C1BC1A0A9E18}"/>
              </a:ext>
            </a:extLst>
          </p:cNvPr>
          <p:cNvSpPr>
            <a:spLocks xmlns:a="http://schemas.openxmlformats.org/drawingml/2006/main" noGrp="1"/>
          </p:cNvSpPr>
          <p:nvPr/>
        </p:nvSpPr>
        <p:spPr>
          <a:xfrm xmlns:a="http://schemas.openxmlformats.org/drawingml/2006/main" rot="0" flipH="0" flipV="0">
            <a:off x="-971637" y="6991598"/>
            <a:ext cx="2613595" cy="3295402"/>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11" name="Freeform 11">
            <a:extLst xmlns:a="http://schemas.openxmlformats.org/drawingml/2006/main">
              <a:ext uri="{FF2B5EF4-FFF2-40B4-BE49-F238E27FC236}">
                <a16:creationId xmlns:a16="http://schemas.microsoft.com/office/drawing/2014/main" id="{66C0A587-412C-4D31-825D-38C16454A681}"/>
              </a:ext>
            </a:extLst>
          </p:cNvPr>
          <p:cNvSpPr>
            <a:spLocks xmlns:a="http://schemas.openxmlformats.org/drawingml/2006/main" noGrp="1"/>
          </p:cNvSpPr>
          <p:nvPr/>
        </p:nvSpPr>
        <p:spPr>
          <a:xfrm xmlns:a="http://schemas.openxmlformats.org/drawingml/2006/main" rot="0" flipH="0" flipV="0">
            <a:off x="1028700" y="8501408"/>
            <a:ext cx="4155559" cy="357118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2" name="TextBox 12">
            <a:extLst xmlns:a="http://schemas.openxmlformats.org/drawingml/2006/main">
              <a:ext uri="{FF2B5EF4-FFF2-40B4-BE49-F238E27FC236}">
                <a16:creationId xmlns:a16="http://schemas.microsoft.com/office/drawing/2014/main" id="{092B391B-6511-46D1-9AF7-D0316C08AEB5}"/>
              </a:ext>
            </a:extLst>
          </p:cNvPr>
          <p:cNvSpPr>
            <a:spLocks xmlns:a="http://schemas.openxmlformats.org/drawingml/2006/main" noGrp="1"/>
          </p:cNvSpPr>
          <p:nvPr/>
        </p:nvSpPr>
        <p:spPr>
          <a:xfrm xmlns:a="http://schemas.openxmlformats.org/drawingml/2006/main" rot="0" flipH="0" flipV="0">
            <a:off x="1613075" y="8306617"/>
            <a:ext cx="2986808" cy="37659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4" name="Freeform 14">
            <a:extLst xmlns:a="http://schemas.openxmlformats.org/drawingml/2006/main">
              <a:ext uri="{FF2B5EF4-FFF2-40B4-BE49-F238E27FC236}">
                <a16:creationId xmlns:a16="http://schemas.microsoft.com/office/drawing/2014/main" id="{F566ECB1-7887-4A83-A84C-93AE8749E013}"/>
              </a:ext>
            </a:extLst>
          </p:cNvPr>
          <p:cNvSpPr>
            <a:spLocks xmlns:a="http://schemas.openxmlformats.org/drawingml/2006/main" noGrp="1"/>
          </p:cNvSpPr>
          <p:nvPr/>
        </p:nvSpPr>
        <p:spPr>
          <a:xfrm xmlns:a="http://schemas.openxmlformats.org/drawingml/2006/main" rot="0" flipH="0" flipV="0">
            <a:off x="335162" y="6342923"/>
            <a:ext cx="1906328" cy="1638251"/>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35000"/>
                </a:srgbClr>
              </a:gs>
              <a:gs pos="100000">
                <a:srgbClr val="035E8E">
                  <a:alpha val="0"/>
                </a:srgbClr>
              </a:gs>
            </a:gsLst>
            <a:lin ang="0"/>
          </a:gradFill>
        </p:spPr>
      </p:sp>
      <p:sp>
        <p:nvSpPr>
          <p:cNvPr id="15" name="TextBox 15">
            <a:extLst xmlns:a="http://schemas.openxmlformats.org/drawingml/2006/main">
              <a:ext uri="{FF2B5EF4-FFF2-40B4-BE49-F238E27FC236}">
                <a16:creationId xmlns:a16="http://schemas.microsoft.com/office/drawing/2014/main" id="{14C9FAF4-6174-400D-9F8E-B069F98FA1DC}"/>
              </a:ext>
            </a:extLst>
          </p:cNvPr>
          <p:cNvSpPr>
            <a:spLocks xmlns:a="http://schemas.openxmlformats.org/drawingml/2006/main" noGrp="1"/>
          </p:cNvSpPr>
          <p:nvPr/>
        </p:nvSpPr>
        <p:spPr>
          <a:xfrm xmlns:a="http://schemas.openxmlformats.org/drawingml/2006/main" rot="0" flipH="0" flipV="0">
            <a:off x="603239" y="6253564"/>
            <a:ext cx="1370173" cy="1727610"/>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7" name="Freeform 17">
            <a:extLst xmlns:a="http://schemas.openxmlformats.org/drawingml/2006/main">
              <a:ext uri="{FF2B5EF4-FFF2-40B4-BE49-F238E27FC236}">
                <a16:creationId xmlns:a16="http://schemas.microsoft.com/office/drawing/2014/main" id="{7056F469-DE40-4F7D-997B-53A118FCA7F5}"/>
              </a:ext>
            </a:extLst>
          </p:cNvPr>
          <p:cNvSpPr>
            <a:spLocks xmlns:a="http://schemas.openxmlformats.org/drawingml/2006/main" noGrp="1"/>
          </p:cNvSpPr>
          <p:nvPr/>
        </p:nvSpPr>
        <p:spPr>
          <a:xfrm xmlns:a="http://schemas.openxmlformats.org/drawingml/2006/main" rot="0" flipH="0" flipV="0">
            <a:off x="3746822" y="8501408"/>
            <a:ext cx="1510485" cy="1298073"/>
          </a:xfrm>
          <a:custGeom xmlns:a="http://schemas.openxmlformats.org/drawingml/2006/main">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gradFill xmlns:a="http://schemas.openxmlformats.org/drawingml/2006/main" rotWithShape="1">
            <a:gsLst>
              <a:gs pos="0">
                <a:srgbClr val="31A1D4">
                  <a:alpha val="47000"/>
                </a:srgbClr>
              </a:gs>
              <a:gs pos="100000">
                <a:srgbClr val="035E8E">
                  <a:alpha val="0"/>
                </a:srgbClr>
              </a:gs>
            </a:gsLst>
            <a:lin ang="0"/>
          </a:gradFill>
        </p:spPr>
      </p:sp>
      <p:sp>
        <p:nvSpPr>
          <p:cNvPr id="18" name="TextBox 18">
            <a:extLst xmlns:a="http://schemas.openxmlformats.org/drawingml/2006/main">
              <a:ext uri="{FF2B5EF4-FFF2-40B4-BE49-F238E27FC236}">
                <a16:creationId xmlns:a16="http://schemas.microsoft.com/office/drawing/2014/main" id="{A5C5C302-38FD-48B6-9CF3-96C2166E3B16}"/>
              </a:ext>
            </a:extLst>
          </p:cNvPr>
          <p:cNvSpPr>
            <a:spLocks xmlns:a="http://schemas.openxmlformats.org/drawingml/2006/main" noGrp="1"/>
          </p:cNvSpPr>
          <p:nvPr/>
        </p:nvSpPr>
        <p:spPr>
          <a:xfrm xmlns:a="http://schemas.openxmlformats.org/drawingml/2006/main" rot="0" flipH="0" flipV="0">
            <a:off x="3959233" y="8430605"/>
            <a:ext cx="1085661" cy="1368876"/>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algn="ctr">
              <a:lnSpc>
                <a:spcPts val="3355"/>
              </a:lnSpc>
              <a:buNone/>
            </a:pPr>
          </a:p>
        </p:txBody>
      </p:sp>
      <p:sp>
        <p:nvSpPr>
          <p:cNvPr id="19" name="TextBox 19">
            <a:extLst xmlns:a="http://schemas.openxmlformats.org/drawingml/2006/main">
              <a:ext uri="{FF2B5EF4-FFF2-40B4-BE49-F238E27FC236}">
                <a16:creationId xmlns:a16="http://schemas.microsoft.com/office/drawing/2014/main" id="{4CFCD4C8-D1DF-400F-8BCF-89D6563F1E70}"/>
              </a:ext>
            </a:extLst>
          </p:cNvPr>
          <p:cNvSpPr>
            <a:spLocks xmlns:a="http://schemas.openxmlformats.org/drawingml/2006/main" noGrp="1"/>
          </p:cNvSpPr>
          <p:nvPr/>
        </p:nvSpPr>
        <p:spPr>
          <a:xfrm xmlns:a="http://schemas.openxmlformats.org/drawingml/2006/main">
            <a:off x="1028700" y="772977"/>
            <a:ext cx="7980576" cy="2628527"/>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l">
              <a:lnSpc>
                <a:spcPts val="10525"/>
              </a:lnSpc>
              <a:spcBef>
                <a:spcPct val="0"/>
              </a:spcBef>
              <a:buNone/>
            </a:pPr>
            <a:r>
              <a:rPr sz="7520" b="1">
                <a:solidFill>
                  <a:srgbClr val="FFFFFF"/>
                </a:solidFill>
                <a:latin typeface="TT Lakes Neue Extended Bold"/>
                <a:ea typeface="TT Lakes Neue Extended Bold"/>
                <a:cs typeface="TT Lakes Neue Extended Bold"/>
              </a:rPr>
              <a:t>TÀI LIỆU THAM KHẢO</a:t>
            </a:r>
          </a:p>
        </p:txBody>
      </p:sp>
      <p:sp>
        <p:nvSpPr>
          <p:cNvPr id="21" name="Freeform 21">
            <a:extLst xmlns:a="http://schemas.openxmlformats.org/drawingml/2006/main">
              <a:ext uri="{FF2B5EF4-FFF2-40B4-BE49-F238E27FC236}">
                <a16:creationId xmlns:a16="http://schemas.microsoft.com/office/drawing/2014/main" id="{8D3824AB-73E0-444F-967A-FE41FEF5F657}"/>
              </a:ext>
            </a:extLst>
          </p:cNvPr>
          <p:cNvSpPr>
            <a:spLocks xmlns:a="http://schemas.openxmlformats.org/drawingml/2006/main" noGrp="1"/>
          </p:cNvSpPr>
          <p:nvPr/>
        </p:nvSpPr>
        <p:spPr>
          <a:xfrm xmlns:a="http://schemas.openxmlformats.org/drawingml/2006/main" rot="0" flipH="0" flipV="0">
            <a:off x="1028700" y="5208634"/>
            <a:ext cx="8115299" cy="1388202"/>
          </a:xfrm>
          <a:custGeom xmlns:a="http://schemas.openxmlformats.org/drawingml/2006/main">
            <a:rect l="l" t="t" r="r" b="b"/>
            <a:pathLst>
              <a:path w="5346361" h="914547">
                <a:moveTo>
                  <a:pt x="5143161" y="0"/>
                </a:moveTo>
                <a:cubicBezTo>
                  <a:pt x="5255385" y="0"/>
                  <a:pt x="5346361" y="204728"/>
                  <a:pt x="5346361" y="457274"/>
                </a:cubicBezTo>
                <a:cubicBezTo>
                  <a:pt x="5346361" y="709819"/>
                  <a:pt x="5255385" y="914547"/>
                  <a:pt x="5143161" y="914547"/>
                </a:cubicBezTo>
                <a:lnTo>
                  <a:pt x="203200" y="914547"/>
                </a:lnTo>
                <a:cubicBezTo>
                  <a:pt x="90976" y="914547"/>
                  <a:pt x="0" y="709819"/>
                  <a:pt x="0" y="457274"/>
                </a:cubicBezTo>
                <a:cubicBezTo>
                  <a:pt x="0" y="204728"/>
                  <a:pt x="90976" y="0"/>
                  <a:pt x="203200" y="0"/>
                </a:cubicBezTo>
                <a:lnTo>
                  <a:pt x="5143161" y="0"/>
                </a:lnTo>
                <a:close/>
              </a:path>
            </a:pathLst>
          </a:custGeom>
          <a:gradFill xmlns:a="http://schemas.openxmlformats.org/drawingml/2006/main" rotWithShape="1">
            <a:gsLst>
              <a:gs pos="0">
                <a:srgbClr val="31A1D4">
                  <a:alpha val="47000"/>
                </a:srgbClr>
              </a:gs>
              <a:gs pos="100000">
                <a:srgbClr val="035E8E">
                  <a:alpha val="0"/>
                </a:srgbClr>
              </a:gs>
            </a:gsLst>
            <a:lin ang="2700000"/>
          </a:gradFill>
          <a:ln xmlns:a="http://schemas.openxmlformats.org/drawingml/2006/main">
            <a:noFill/>
            <a:prstDash val="solid"/>
          </a:ln>
        </p:spPr>
      </p:sp>
      <p:sp>
        <p:nvSpPr>
          <p:cNvPr id="22" name="TextBox 22">
            <a:extLst xmlns:a="http://schemas.openxmlformats.org/drawingml/2006/main">
              <a:ext uri="{FF2B5EF4-FFF2-40B4-BE49-F238E27FC236}">
                <a16:creationId xmlns:a16="http://schemas.microsoft.com/office/drawing/2014/main" id="{3518B839-8CE9-4C7B-92CA-104BD5845F31}"/>
              </a:ext>
            </a:extLst>
          </p:cNvPr>
          <p:cNvSpPr>
            <a:spLocks xmlns:a="http://schemas.openxmlformats.org/drawingml/2006/main" noGrp="1"/>
          </p:cNvSpPr>
          <p:nvPr/>
        </p:nvSpPr>
        <p:spPr>
          <a:xfrm xmlns:a="http://schemas.openxmlformats.org/drawingml/2006/main" rot="0" flipH="0" flipV="0">
            <a:off x="1028700" y="5150802"/>
            <a:ext cx="8115299" cy="144603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nSpc>
                <a:spcPts val="3355"/>
              </a:lnSpc>
              <a:spcBef>
                <a:spcPct val="0"/>
              </a:spcBef>
              <a:buNone/>
            </a:pPr>
          </a:p>
        </p:txBody>
      </p:sp>
      <p:sp>
        <p:nvSpPr>
          <p:cNvPr id="24" name="Freeform 24">
            <a:extLst xmlns:a="http://schemas.openxmlformats.org/drawingml/2006/main">
              <a:ext uri="{FF2B5EF4-FFF2-40B4-BE49-F238E27FC236}">
                <a16:creationId xmlns:a16="http://schemas.microsoft.com/office/drawing/2014/main" id="{B5ED5AE9-FB88-444B-8189-1EE3F3D7E4A9}"/>
              </a:ext>
            </a:extLst>
          </p:cNvPr>
          <p:cNvSpPr>
            <a:spLocks xmlns:a="http://schemas.openxmlformats.org/drawingml/2006/main" noGrp="1"/>
          </p:cNvSpPr>
          <p:nvPr/>
        </p:nvSpPr>
        <p:spPr>
          <a:xfrm xmlns:a="http://schemas.openxmlformats.org/drawingml/2006/main" rot="0" flipH="0" flipV="0">
            <a:off x="1028700" y="7015965"/>
            <a:ext cx="8115299" cy="969042"/>
          </a:xfrm>
          <a:custGeom xmlns:a="http://schemas.openxmlformats.org/drawingml/2006/main">
            <a:rect l="l" t="t" r="r" b="b"/>
            <a:pathLst>
              <a:path w="5346361" h="638405">
                <a:moveTo>
                  <a:pt x="5143161" y="0"/>
                </a:moveTo>
                <a:cubicBezTo>
                  <a:pt x="5255385" y="0"/>
                  <a:pt x="5346361" y="142912"/>
                  <a:pt x="5346361" y="319203"/>
                </a:cubicBezTo>
                <a:cubicBezTo>
                  <a:pt x="5346361" y="495493"/>
                  <a:pt x="5255385" y="638405"/>
                  <a:pt x="5143161" y="638405"/>
                </a:cubicBezTo>
                <a:lnTo>
                  <a:pt x="203200" y="638405"/>
                </a:lnTo>
                <a:cubicBezTo>
                  <a:pt x="90976" y="638405"/>
                  <a:pt x="0" y="495493"/>
                  <a:pt x="0" y="319203"/>
                </a:cubicBezTo>
                <a:cubicBezTo>
                  <a:pt x="0" y="142912"/>
                  <a:pt x="90976" y="0"/>
                  <a:pt x="203200" y="0"/>
                </a:cubicBezTo>
                <a:lnTo>
                  <a:pt x="5143161" y="0"/>
                </a:lnTo>
                <a:close/>
              </a:path>
            </a:pathLst>
          </a:custGeom>
          <a:gradFill xmlns:a="http://schemas.openxmlformats.org/drawingml/2006/main" rotWithShape="1">
            <a:gsLst>
              <a:gs pos="0">
                <a:srgbClr val="31A1D4">
                  <a:alpha val="47000"/>
                </a:srgbClr>
              </a:gs>
              <a:gs pos="100000">
                <a:srgbClr val="035E8E">
                  <a:alpha val="0"/>
                </a:srgbClr>
              </a:gs>
            </a:gsLst>
            <a:lin ang="2700000"/>
          </a:gradFill>
          <a:ln xmlns:a="http://schemas.openxmlformats.org/drawingml/2006/main">
            <a:noFill/>
            <a:prstDash val="solid"/>
          </a:ln>
        </p:spPr>
      </p:sp>
      <p:sp>
        <p:nvSpPr>
          <p:cNvPr id="25" name="TextBox 25">
            <a:extLst xmlns:a="http://schemas.openxmlformats.org/drawingml/2006/main">
              <a:ext uri="{FF2B5EF4-FFF2-40B4-BE49-F238E27FC236}">
                <a16:creationId xmlns:a16="http://schemas.microsoft.com/office/drawing/2014/main" id="{B0B3E23A-6D16-422C-B7D9-1FCC388CD58F}"/>
              </a:ext>
            </a:extLst>
          </p:cNvPr>
          <p:cNvSpPr>
            <a:spLocks xmlns:a="http://schemas.openxmlformats.org/drawingml/2006/main" noGrp="1"/>
          </p:cNvSpPr>
          <p:nvPr/>
        </p:nvSpPr>
        <p:spPr>
          <a:xfrm xmlns:a="http://schemas.openxmlformats.org/drawingml/2006/main" rot="0" flipH="0" flipV="0">
            <a:off x="1028700" y="6958133"/>
            <a:ext cx="8115299" cy="10268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l">
              <a:lnSpc>
                <a:spcPts val="3355"/>
              </a:lnSpc>
              <a:spcBef>
                <a:spcPct val="0"/>
              </a:spcBef>
              <a:buNone/>
            </a:pPr>
          </a:p>
        </p:txBody>
      </p:sp>
      <p:sp>
        <p:nvSpPr>
          <p:cNvPr id="27" name="Freeform 27">
            <a:extLst xmlns:a="http://schemas.openxmlformats.org/drawingml/2006/main">
              <a:ext uri="{FF2B5EF4-FFF2-40B4-BE49-F238E27FC236}">
                <a16:creationId xmlns:a16="http://schemas.microsoft.com/office/drawing/2014/main" id="{1D2A94A3-47E0-4F3F-8613-648F945909F6}"/>
              </a:ext>
            </a:extLst>
          </p:cNvPr>
          <p:cNvSpPr>
            <a:spLocks xmlns:a="http://schemas.openxmlformats.org/drawingml/2006/main" noGrp="1"/>
          </p:cNvSpPr>
          <p:nvPr/>
        </p:nvSpPr>
        <p:spPr>
          <a:xfrm xmlns:a="http://schemas.openxmlformats.org/drawingml/2006/main" rot="0" flipH="0" flipV="0">
            <a:off x="1028700" y="8404107"/>
            <a:ext cx="8115299" cy="969042"/>
          </a:xfrm>
          <a:custGeom xmlns:a="http://schemas.openxmlformats.org/drawingml/2006/main">
            <a:rect l="l" t="t" r="r" b="b"/>
            <a:pathLst>
              <a:path w="5346361" h="638405">
                <a:moveTo>
                  <a:pt x="5143161" y="0"/>
                </a:moveTo>
                <a:cubicBezTo>
                  <a:pt x="5255385" y="0"/>
                  <a:pt x="5346361" y="142912"/>
                  <a:pt x="5346361" y="319203"/>
                </a:cubicBezTo>
                <a:cubicBezTo>
                  <a:pt x="5346361" y="495493"/>
                  <a:pt x="5255385" y="638405"/>
                  <a:pt x="5143161" y="638405"/>
                </a:cubicBezTo>
                <a:lnTo>
                  <a:pt x="203200" y="638405"/>
                </a:lnTo>
                <a:cubicBezTo>
                  <a:pt x="90976" y="638405"/>
                  <a:pt x="0" y="495493"/>
                  <a:pt x="0" y="319203"/>
                </a:cubicBezTo>
                <a:cubicBezTo>
                  <a:pt x="0" y="142912"/>
                  <a:pt x="90976" y="0"/>
                  <a:pt x="203200" y="0"/>
                </a:cubicBezTo>
                <a:lnTo>
                  <a:pt x="5143161" y="0"/>
                </a:lnTo>
                <a:close/>
              </a:path>
            </a:pathLst>
          </a:custGeom>
          <a:gradFill xmlns:a="http://schemas.openxmlformats.org/drawingml/2006/main" rotWithShape="1">
            <a:gsLst>
              <a:gs pos="0">
                <a:srgbClr val="31A1D4">
                  <a:alpha val="47000"/>
                </a:srgbClr>
              </a:gs>
              <a:gs pos="100000">
                <a:srgbClr val="035E8E">
                  <a:alpha val="0"/>
                </a:srgbClr>
              </a:gs>
            </a:gsLst>
            <a:lin ang="2700000"/>
          </a:gradFill>
          <a:ln xmlns:a="http://schemas.openxmlformats.org/drawingml/2006/main">
            <a:noFill/>
            <a:prstDash val="solid"/>
          </a:ln>
        </p:spPr>
      </p:sp>
      <p:sp>
        <p:nvSpPr>
          <p:cNvPr id="28" name="TextBox 28">
            <a:extLst xmlns:a="http://schemas.openxmlformats.org/drawingml/2006/main">
              <a:ext uri="{FF2B5EF4-FFF2-40B4-BE49-F238E27FC236}">
                <a16:creationId xmlns:a16="http://schemas.microsoft.com/office/drawing/2014/main" id="{BB34814B-8D0A-4426-9A9D-810BDD1AE339}"/>
              </a:ext>
            </a:extLst>
          </p:cNvPr>
          <p:cNvSpPr>
            <a:spLocks xmlns:a="http://schemas.openxmlformats.org/drawingml/2006/main" noGrp="1"/>
          </p:cNvSpPr>
          <p:nvPr/>
        </p:nvSpPr>
        <p:spPr>
          <a:xfrm xmlns:a="http://schemas.openxmlformats.org/drawingml/2006/main" rot="0" flipH="0" flipV="0">
            <a:off x="1028700" y="8346275"/>
            <a:ext cx="8115299" cy="10268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l">
              <a:lnSpc>
                <a:spcPts val="3355"/>
              </a:lnSpc>
              <a:spcBef>
                <a:spcPct val="0"/>
              </a:spcBef>
              <a:buNone/>
            </a:pPr>
          </a:p>
        </p:txBody>
      </p:sp>
      <p:sp>
        <p:nvSpPr>
          <p:cNvPr id="30" name="Freeform 30">
            <a:extLst xmlns:a="http://schemas.openxmlformats.org/drawingml/2006/main">
              <a:ext uri="{FF2B5EF4-FFF2-40B4-BE49-F238E27FC236}">
                <a16:creationId xmlns:a16="http://schemas.microsoft.com/office/drawing/2014/main" id="{4A73CD5C-0DE5-4702-8932-54CE182C0CE3}"/>
              </a:ext>
            </a:extLst>
          </p:cNvPr>
          <p:cNvSpPr>
            <a:spLocks xmlns:a="http://schemas.openxmlformats.org/drawingml/2006/main" noGrp="1"/>
          </p:cNvSpPr>
          <p:nvPr/>
        </p:nvSpPr>
        <p:spPr>
          <a:xfrm xmlns:a="http://schemas.openxmlformats.org/drawingml/2006/main" rot="0" flipH="0" flipV="0">
            <a:off x="9328087" y="3820462"/>
            <a:ext cx="8115299" cy="969042"/>
          </a:xfrm>
          <a:custGeom xmlns:a="http://schemas.openxmlformats.org/drawingml/2006/main">
            <a:rect l="l" t="t" r="r" b="b"/>
            <a:pathLst>
              <a:path w="5346361" h="638405">
                <a:moveTo>
                  <a:pt x="5143161" y="0"/>
                </a:moveTo>
                <a:cubicBezTo>
                  <a:pt x="5255385" y="0"/>
                  <a:pt x="5346361" y="142912"/>
                  <a:pt x="5346361" y="319203"/>
                </a:cubicBezTo>
                <a:cubicBezTo>
                  <a:pt x="5346361" y="495493"/>
                  <a:pt x="5255385" y="638405"/>
                  <a:pt x="5143161" y="638405"/>
                </a:cubicBezTo>
                <a:lnTo>
                  <a:pt x="203200" y="638405"/>
                </a:lnTo>
                <a:cubicBezTo>
                  <a:pt x="90976" y="638405"/>
                  <a:pt x="0" y="495493"/>
                  <a:pt x="0" y="319203"/>
                </a:cubicBezTo>
                <a:cubicBezTo>
                  <a:pt x="0" y="142912"/>
                  <a:pt x="90976" y="0"/>
                  <a:pt x="203200" y="0"/>
                </a:cubicBezTo>
                <a:lnTo>
                  <a:pt x="5143161" y="0"/>
                </a:lnTo>
                <a:close/>
              </a:path>
            </a:pathLst>
          </a:custGeom>
          <a:gradFill xmlns:a="http://schemas.openxmlformats.org/drawingml/2006/main" rotWithShape="1">
            <a:gsLst>
              <a:gs pos="0">
                <a:srgbClr val="31A1D4">
                  <a:alpha val="47000"/>
                </a:srgbClr>
              </a:gs>
              <a:gs pos="100000">
                <a:srgbClr val="035E8E">
                  <a:alpha val="0"/>
                </a:srgbClr>
              </a:gs>
            </a:gsLst>
            <a:lin ang="2700000"/>
          </a:gradFill>
          <a:ln xmlns:a="http://schemas.openxmlformats.org/drawingml/2006/main">
            <a:noFill/>
            <a:prstDash val="solid"/>
          </a:ln>
        </p:spPr>
      </p:sp>
      <p:sp>
        <p:nvSpPr>
          <p:cNvPr id="31" name="TextBox 31">
            <a:extLst xmlns:a="http://schemas.openxmlformats.org/drawingml/2006/main">
              <a:ext uri="{FF2B5EF4-FFF2-40B4-BE49-F238E27FC236}">
                <a16:creationId xmlns:a16="http://schemas.microsoft.com/office/drawing/2014/main" id="{48C5827D-8A60-42A8-8BF5-7EBDD81AEC2F}"/>
              </a:ext>
            </a:extLst>
          </p:cNvPr>
          <p:cNvSpPr>
            <a:spLocks xmlns:a="http://schemas.openxmlformats.org/drawingml/2006/main" noGrp="1"/>
          </p:cNvSpPr>
          <p:nvPr/>
        </p:nvSpPr>
        <p:spPr>
          <a:xfrm xmlns:a="http://schemas.openxmlformats.org/drawingml/2006/main" rot="0" flipH="0" flipV="0">
            <a:off x="9328087" y="3762630"/>
            <a:ext cx="8115299" cy="10268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nSpc>
                <a:spcPts val="3355"/>
              </a:lnSpc>
              <a:spcBef>
                <a:spcPct val="0"/>
              </a:spcBef>
              <a:buNone/>
            </a:pPr>
          </a:p>
        </p:txBody>
      </p:sp>
      <p:sp>
        <p:nvSpPr>
          <p:cNvPr id="33" name="Freeform 33">
            <a:extLst xmlns:a="http://schemas.openxmlformats.org/drawingml/2006/main">
              <a:ext uri="{FF2B5EF4-FFF2-40B4-BE49-F238E27FC236}">
                <a16:creationId xmlns:a16="http://schemas.microsoft.com/office/drawing/2014/main" id="{3A4FAAC2-203F-4776-B3DC-81C86CEC1973}"/>
              </a:ext>
            </a:extLst>
          </p:cNvPr>
          <p:cNvSpPr>
            <a:spLocks xmlns:a="http://schemas.openxmlformats.org/drawingml/2006/main" noGrp="1"/>
          </p:cNvSpPr>
          <p:nvPr/>
        </p:nvSpPr>
        <p:spPr>
          <a:xfrm xmlns:a="http://schemas.openxmlformats.org/drawingml/2006/main" rot="0" flipH="0" flipV="0">
            <a:off x="9328087" y="5208634"/>
            <a:ext cx="8115299" cy="969042"/>
          </a:xfrm>
          <a:custGeom xmlns:a="http://schemas.openxmlformats.org/drawingml/2006/main">
            <a:rect l="l" t="t" r="r" b="b"/>
            <a:pathLst>
              <a:path w="5346361" h="638405">
                <a:moveTo>
                  <a:pt x="5143161" y="0"/>
                </a:moveTo>
                <a:cubicBezTo>
                  <a:pt x="5255385" y="0"/>
                  <a:pt x="5346361" y="142912"/>
                  <a:pt x="5346361" y="319203"/>
                </a:cubicBezTo>
                <a:cubicBezTo>
                  <a:pt x="5346361" y="495493"/>
                  <a:pt x="5255385" y="638405"/>
                  <a:pt x="5143161" y="638405"/>
                </a:cubicBezTo>
                <a:lnTo>
                  <a:pt x="203200" y="638405"/>
                </a:lnTo>
                <a:cubicBezTo>
                  <a:pt x="90976" y="638405"/>
                  <a:pt x="0" y="495493"/>
                  <a:pt x="0" y="319203"/>
                </a:cubicBezTo>
                <a:cubicBezTo>
                  <a:pt x="0" y="142912"/>
                  <a:pt x="90976" y="0"/>
                  <a:pt x="203200" y="0"/>
                </a:cubicBezTo>
                <a:lnTo>
                  <a:pt x="5143161" y="0"/>
                </a:lnTo>
                <a:close/>
              </a:path>
            </a:pathLst>
          </a:custGeom>
          <a:gradFill xmlns:a="http://schemas.openxmlformats.org/drawingml/2006/main" rotWithShape="1">
            <a:gsLst>
              <a:gs pos="0">
                <a:srgbClr val="31A1D4">
                  <a:alpha val="47000"/>
                </a:srgbClr>
              </a:gs>
              <a:gs pos="100000">
                <a:srgbClr val="035E8E">
                  <a:alpha val="0"/>
                </a:srgbClr>
              </a:gs>
            </a:gsLst>
            <a:lin ang="2700000"/>
          </a:gradFill>
          <a:ln xmlns:a="http://schemas.openxmlformats.org/drawingml/2006/main">
            <a:noFill/>
            <a:prstDash val="solid"/>
          </a:ln>
        </p:spPr>
      </p:sp>
      <p:sp>
        <p:nvSpPr>
          <p:cNvPr id="34" name="TextBox 34">
            <a:extLst xmlns:a="http://schemas.openxmlformats.org/drawingml/2006/main">
              <a:ext uri="{FF2B5EF4-FFF2-40B4-BE49-F238E27FC236}">
                <a16:creationId xmlns:a16="http://schemas.microsoft.com/office/drawing/2014/main" id="{9E2A44DE-CAB7-4ED0-9D87-0A0740E61C9E}"/>
              </a:ext>
            </a:extLst>
          </p:cNvPr>
          <p:cNvSpPr>
            <a:spLocks xmlns:a="http://schemas.openxmlformats.org/drawingml/2006/main" noGrp="1"/>
          </p:cNvSpPr>
          <p:nvPr/>
        </p:nvSpPr>
        <p:spPr>
          <a:xfrm xmlns:a="http://schemas.openxmlformats.org/drawingml/2006/main" rot="0" flipH="0" flipV="0">
            <a:off x="9328087" y="5150802"/>
            <a:ext cx="8115299" cy="1026874"/>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nSpc>
                <a:spcPts val="3355"/>
              </a:lnSpc>
              <a:spcBef>
                <a:spcPct val="0"/>
              </a:spcBef>
              <a:buNone/>
            </a:pPr>
          </a:p>
        </p:txBody>
      </p:sp>
      <p:sp>
        <p:nvSpPr>
          <p:cNvPr id="35" name="TextBox 35">
            <a:extLst xmlns:a="http://schemas.openxmlformats.org/drawingml/2006/main">
              <a:ext uri="{FF2B5EF4-FFF2-40B4-BE49-F238E27FC236}">
                <a16:creationId xmlns:a16="http://schemas.microsoft.com/office/drawing/2014/main" id="{BBA97701-17F4-4550-9DC0-B2CCAAAB2FDA}"/>
              </a:ext>
            </a:extLst>
          </p:cNvPr>
          <p:cNvSpPr>
            <a:spLocks xmlns:a="http://schemas.openxmlformats.org/drawingml/2006/main" noGrp="1"/>
          </p:cNvSpPr>
          <p:nvPr/>
        </p:nvSpPr>
        <p:spPr>
          <a:xfrm xmlns:a="http://schemas.openxmlformats.org/drawingml/2006/main">
            <a:off x="1271564" y="3860075"/>
            <a:ext cx="7872436" cy="890914"/>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3585"/>
              </a:lnSpc>
              <a:buNone/>
            </a:pPr>
            <a:r>
              <a:rPr sz="2560">
                <a:solidFill>
                  <a:srgbClr val="FFFFFF"/>
                </a:solidFill>
                <a:latin typeface="Noto Sans"/>
                <a:ea typeface="Noto Sans"/>
                <a:cs typeface="Noto Sans"/>
              </a:rPr>
              <a:t>1] Espressif Systems, ESP-IDF Platform Repository</a:t>
            </a:r>
          </a:p>
          <a:p xmlns:a="http://schemas.openxmlformats.org/drawingml/2006/main">
            <a:pPr>
              <a:lnSpc>
                <a:spcPts val="3585"/>
              </a:lnSpc>
              <a:buNone/>
            </a:pPr>
            <a:r>
              <a:rPr sz="2560" u="sng">
                <a:solidFill>
                  <a:srgbClr val="FFFFFF"/>
                </a:solidFill>
                <a:latin typeface="Noto Sans"/>
                <a:ea typeface="Noto Sans"/>
                <a:cs typeface="Noto Sans"/>
                <a:hlinkClick xmlns:r="http://schemas.openxmlformats.org/officeDocument/2006/relationships" r:id="R26833a658b804297"/>
              </a:rPr>
              <a:t>https://github.com/espressif/esp-idf</a:t>
            </a:r>
          </a:p>
        </p:txBody>
      </p:sp>
      <p:sp>
        <p:nvSpPr>
          <p:cNvPr id="36" name="TextBox 36">
            <a:extLst xmlns:a="http://schemas.openxmlformats.org/drawingml/2006/main">
              <a:ext uri="{FF2B5EF4-FFF2-40B4-BE49-F238E27FC236}">
                <a16:creationId xmlns:a16="http://schemas.microsoft.com/office/drawing/2014/main" id="{5C5D1DDC-E61F-4C35-9AB5-05FA950F1472}"/>
              </a:ext>
            </a:extLst>
          </p:cNvPr>
          <p:cNvSpPr>
            <a:spLocks xmlns:a="http://schemas.openxmlformats.org/drawingml/2006/main" noGrp="1"/>
          </p:cNvSpPr>
          <p:nvPr/>
        </p:nvSpPr>
        <p:spPr>
          <a:xfrm xmlns:a="http://schemas.openxmlformats.org/drawingml/2006/main">
            <a:off x="1321089" y="5160979"/>
            <a:ext cx="7872436" cy="134509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3585"/>
              </a:lnSpc>
              <a:buNone/>
            </a:pPr>
            <a:r>
              <a:rPr sz="2560">
                <a:solidFill>
                  <a:srgbClr val="FFFFFF"/>
                </a:solidFill>
                <a:latin typeface="Noto Sans"/>
                <a:ea typeface="Noto Sans"/>
                <a:cs typeface="Noto Sans"/>
              </a:rPr>
              <a:t>[2] OWASP, IoT Security Verification Standard</a:t>
            </a:r>
          </a:p>
          <a:p xmlns:a="http://schemas.openxmlformats.org/drawingml/2006/main">
            <a:pPr>
              <a:lnSpc>
                <a:spcPts val="3585"/>
              </a:lnSpc>
              <a:buNone/>
            </a:pPr>
            <a:r>
              <a:rPr sz="2560" u="sng">
                <a:solidFill>
                  <a:srgbClr val="FFFFFF"/>
                </a:solidFill>
                <a:latin typeface="Noto Sans"/>
                <a:ea typeface="Noto Sans"/>
                <a:cs typeface="Noto Sans"/>
                <a:hlinkClick xmlns:r="http://schemas.openxmlformats.org/officeDocument/2006/relationships" r:id="R6462ceee13ad45fe"/>
              </a:rPr>
              <a:t>https://github.com/OWASP/IoT-Security-Verification-Standard-ISVS</a:t>
            </a:r>
          </a:p>
        </p:txBody>
      </p:sp>
      <p:sp>
        <p:nvSpPr>
          <p:cNvPr id="37" name="TextBox 37">
            <a:extLst xmlns:a="http://schemas.openxmlformats.org/drawingml/2006/main">
              <a:ext uri="{FF2B5EF4-FFF2-40B4-BE49-F238E27FC236}">
                <a16:creationId xmlns:a16="http://schemas.microsoft.com/office/drawing/2014/main" id="{6A31334B-50B1-41F9-B2FA-2AC83C76592D}"/>
              </a:ext>
            </a:extLst>
          </p:cNvPr>
          <p:cNvSpPr>
            <a:spLocks xmlns:a="http://schemas.openxmlformats.org/drawingml/2006/main" noGrp="1"/>
          </p:cNvSpPr>
          <p:nvPr/>
        </p:nvSpPr>
        <p:spPr>
          <a:xfrm xmlns:a="http://schemas.openxmlformats.org/drawingml/2006/main">
            <a:off x="1247775" y="6968490"/>
            <a:ext cx="8288655" cy="1379220"/>
          </a:xfrm>
          <a:prstGeom xmlns:a="http://schemas.openxmlformats.org/drawingml/2006/main" prst="rect">
            <a:avLst/>
          </a:prstGeom>
        </p:spPr>
        <p:txBody>
          <a:bodyPr xmlns:a="http://schemas.openxmlformats.org/drawingml/2006/main" wrap="square" lIns="0" tIns="0" rIns="0" bIns="0" anchor="t">
            <a:spAutoFit/>
          </a:bodyPr>
          <a:lstStyle xmlns:a="http://schemas.openxmlformats.org/drawingml/2006/main"/>
          <a:p xmlns:a="http://schemas.openxmlformats.org/drawingml/2006/main">
            <a:pPr>
              <a:lnSpc>
                <a:spcPts val="3585"/>
              </a:lnSpc>
              <a:buNone/>
            </a:pPr>
            <a:r>
              <a:rPr sz="2560">
                <a:solidFill>
                  <a:srgbClr val="FFFFFF"/>
                </a:solidFill>
                <a:latin typeface="Noto Sans"/>
                <a:ea typeface="Noto Sans"/>
                <a:cs typeface="Noto Sans"/>
              </a:rPr>
              <a:t>[3] OWASP, Firmware Security Testing Methodology</a:t>
            </a:r>
          </a:p>
          <a:p xmlns:a="http://schemas.openxmlformats.org/drawingml/2006/main">
            <a:pPr>
              <a:lnSpc>
                <a:spcPts val="3585"/>
              </a:lnSpc>
              <a:buNone/>
            </a:pPr>
            <a:r>
              <a:rPr sz="2560" u="sng">
                <a:solidFill>
                  <a:srgbClr val="FFFFFF"/>
                </a:solidFill>
                <a:latin typeface="Noto Sans"/>
                <a:ea typeface="Noto Sans"/>
                <a:cs typeface="Noto Sans"/>
                <a:hlinkClick xmlns:r="http://schemas.openxmlformats.org/officeDocument/2006/relationships" r:id="R45fecb66813e45e1"/>
              </a:rPr>
              <a:t>https://github.com/scriptingxss/owasp-fstm</a:t>
            </a:r>
          </a:p>
          <a:p xmlns:a="http://schemas.openxmlformats.org/drawingml/2006/main">
            <a:pPr>
              <a:lnSpc>
                <a:spcPts val="3585"/>
              </a:lnSpc>
              <a:buNone/>
            </a:pPr>
          </a:p>
        </p:txBody>
      </p:sp>
      <p:sp>
        <p:nvSpPr>
          <p:cNvPr id="38" name="TextBox 38">
            <a:extLst xmlns:a="http://schemas.openxmlformats.org/drawingml/2006/main">
              <a:ext uri="{FF2B5EF4-FFF2-40B4-BE49-F238E27FC236}">
                <a16:creationId xmlns:a16="http://schemas.microsoft.com/office/drawing/2014/main" id="{77FFCA54-8866-4F10-BA27-838A45B50D91}"/>
              </a:ext>
            </a:extLst>
          </p:cNvPr>
          <p:cNvSpPr>
            <a:spLocks xmlns:a="http://schemas.openxmlformats.org/drawingml/2006/main" noGrp="1"/>
          </p:cNvSpPr>
          <p:nvPr/>
        </p:nvSpPr>
        <p:spPr>
          <a:xfrm xmlns:a="http://schemas.openxmlformats.org/drawingml/2006/main">
            <a:off x="1321089" y="8356482"/>
            <a:ext cx="7872436" cy="134509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3585"/>
              </a:lnSpc>
              <a:buNone/>
            </a:pPr>
            <a:r>
              <a:rPr sz="2560">
                <a:solidFill>
                  <a:srgbClr val="FFFFFF"/>
                </a:solidFill>
                <a:latin typeface="Noto Sans"/>
                <a:ea typeface="Noto Sans"/>
                <a:cs typeface="Noto Sans"/>
              </a:rPr>
              <a:t>[4] OWASP, IoTGoat</a:t>
            </a:r>
          </a:p>
          <a:p xmlns:a="http://schemas.openxmlformats.org/drawingml/2006/main">
            <a:pPr>
              <a:lnSpc>
                <a:spcPts val="3585"/>
              </a:lnSpc>
              <a:buNone/>
            </a:pPr>
            <a:r>
              <a:rPr sz="2560" u="sng">
                <a:solidFill>
                  <a:srgbClr val="FFFFFF"/>
                </a:solidFill>
                <a:latin typeface="Noto Sans"/>
                <a:ea typeface="Noto Sans"/>
                <a:cs typeface="Noto Sans"/>
                <a:hlinkClick xmlns:r="http://schemas.openxmlformats.org/officeDocument/2006/relationships" r:id="R990e4351e16c4b8a"/>
              </a:rPr>
              <a:t>https://github.com/OWASP/IoTGoat</a:t>
            </a:r>
          </a:p>
          <a:p xmlns:a="http://schemas.openxmlformats.org/drawingml/2006/main">
            <a:pPr>
              <a:lnSpc>
                <a:spcPts val="3585"/>
              </a:lnSpc>
              <a:buNone/>
            </a:pPr>
          </a:p>
        </p:txBody>
      </p:sp>
      <p:sp>
        <p:nvSpPr>
          <p:cNvPr id="39" name="TextBox 39">
            <a:extLst xmlns:a="http://schemas.openxmlformats.org/drawingml/2006/main">
              <a:ext uri="{FF2B5EF4-FFF2-40B4-BE49-F238E27FC236}">
                <a16:creationId xmlns:a16="http://schemas.microsoft.com/office/drawing/2014/main" id="{C5D8504A-67B8-44F3-BE93-BDB6B0271D09}"/>
              </a:ext>
            </a:extLst>
          </p:cNvPr>
          <p:cNvSpPr>
            <a:spLocks xmlns:a="http://schemas.openxmlformats.org/drawingml/2006/main" noGrp="1"/>
          </p:cNvSpPr>
          <p:nvPr/>
        </p:nvSpPr>
        <p:spPr>
          <a:xfrm xmlns:a="http://schemas.openxmlformats.org/drawingml/2006/main">
            <a:off x="9570951" y="3835713"/>
            <a:ext cx="7872436" cy="890914"/>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3585"/>
              </a:lnSpc>
              <a:buNone/>
            </a:pPr>
            <a:r>
              <a:rPr sz="2560">
                <a:solidFill>
                  <a:srgbClr val="FFFFFF"/>
                </a:solidFill>
                <a:latin typeface="Noto Sans"/>
                <a:ea typeface="Noto Sans"/>
                <a:cs typeface="Noto Sans"/>
              </a:rPr>
              <a:t>[5] RFC 9019 — A Firmware Update Architecture for IoT</a:t>
            </a:r>
          </a:p>
        </p:txBody>
      </p:sp>
      <p:sp>
        <p:nvSpPr>
          <p:cNvPr id="40" name="TextBox 40">
            <a:extLst xmlns:a="http://schemas.openxmlformats.org/drawingml/2006/main">
              <a:ext uri="{FF2B5EF4-FFF2-40B4-BE49-F238E27FC236}">
                <a16:creationId xmlns:a16="http://schemas.microsoft.com/office/drawing/2014/main" id="{2FC493B9-358C-4A01-B378-870C831D1A32}"/>
              </a:ext>
            </a:extLst>
          </p:cNvPr>
          <p:cNvSpPr>
            <a:spLocks xmlns:a="http://schemas.openxmlformats.org/drawingml/2006/main" noGrp="1"/>
          </p:cNvSpPr>
          <p:nvPr/>
        </p:nvSpPr>
        <p:spPr>
          <a:xfrm xmlns:a="http://schemas.openxmlformats.org/drawingml/2006/main">
            <a:off x="9570951" y="5223885"/>
            <a:ext cx="7872436" cy="890914"/>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3585"/>
              </a:lnSpc>
              <a:buNone/>
            </a:pPr>
            <a:r>
              <a:rPr sz="2560">
                <a:solidFill>
                  <a:srgbClr val="FFFFFF"/>
                </a:solidFill>
                <a:latin typeface="Noto Sans"/>
                <a:ea typeface="Noto Sans"/>
                <a:cs typeface="Noto Sans"/>
              </a:rPr>
              <a:t>[6] RFC 9124 — Manifest Information Model for Firmware Updates</a:t>
            </a:r>
          </a:p>
        </p:txBody>
      </p:sp>
      <p:sp>
        <p:nvSpPr>
          <p:cNvPr id="42" name="Freeform 42">
            <a:extLst xmlns:a="http://schemas.openxmlformats.org/drawingml/2006/main">
              <a:ext uri="{FF2B5EF4-FFF2-40B4-BE49-F238E27FC236}">
                <a16:creationId xmlns:a16="http://schemas.microsoft.com/office/drawing/2014/main" id="{E6A20B68-2764-4D5E-9101-CD2CF09E7C4B}"/>
              </a:ext>
            </a:extLst>
          </p:cNvPr>
          <p:cNvSpPr>
            <a:spLocks xmlns:a="http://schemas.openxmlformats.org/drawingml/2006/main" noGrp="1"/>
          </p:cNvSpPr>
          <p:nvPr/>
        </p:nvSpPr>
        <p:spPr>
          <a:xfrm xmlns:a="http://schemas.openxmlformats.org/drawingml/2006/main" rot="0" flipH="0" flipV="0">
            <a:off x="9570951" y="6983872"/>
            <a:ext cx="7872435" cy="1994605"/>
          </a:xfrm>
          <a:custGeom xmlns:a="http://schemas.openxmlformats.org/drawingml/2006/main">
            <a:rect l="l" t="t" r="r" b="b"/>
            <a:pathLst>
              <a:path w="883208" h="223775">
                <a:moveTo>
                  <a:pt x="24586" y="0"/>
                </a:moveTo>
                <a:lnTo>
                  <a:pt x="858623" y="0"/>
                </a:lnTo>
                <a:cubicBezTo>
                  <a:pt x="872201" y="0"/>
                  <a:pt x="883208" y="11007"/>
                  <a:pt x="883208" y="24586"/>
                </a:cubicBezTo>
                <a:lnTo>
                  <a:pt x="883208" y="199189"/>
                </a:lnTo>
                <a:cubicBezTo>
                  <a:pt x="883208" y="205710"/>
                  <a:pt x="880618" y="211963"/>
                  <a:pt x="876007" y="216574"/>
                </a:cubicBezTo>
                <a:cubicBezTo>
                  <a:pt x="871397" y="221184"/>
                  <a:pt x="865143" y="223775"/>
                  <a:pt x="858623" y="223775"/>
                </a:cubicBezTo>
                <a:lnTo>
                  <a:pt x="24586" y="223775"/>
                </a:lnTo>
                <a:cubicBezTo>
                  <a:pt x="18065" y="223775"/>
                  <a:pt x="11812" y="221184"/>
                  <a:pt x="7201" y="216574"/>
                </a:cubicBezTo>
                <a:cubicBezTo>
                  <a:pt x="2590" y="211963"/>
                  <a:pt x="0" y="205710"/>
                  <a:pt x="0" y="199189"/>
                </a:cubicBezTo>
                <a:lnTo>
                  <a:pt x="0" y="24586"/>
                </a:lnTo>
                <a:cubicBezTo>
                  <a:pt x="0" y="18065"/>
                  <a:pt x="2590" y="11812"/>
                  <a:pt x="7201" y="7201"/>
                </a:cubicBezTo>
                <a:cubicBezTo>
                  <a:pt x="11812" y="2590"/>
                  <a:pt x="18065" y="0"/>
                  <a:pt x="24586" y="0"/>
                </a:cubicBezTo>
                <a:close/>
              </a:path>
            </a:pathLst>
          </a:custGeom>
          <a:gradFill xmlns:a="http://schemas.openxmlformats.org/drawingml/2006/main" rotWithShape="1">
            <a:gsLst>
              <a:gs pos="0">
                <a:srgbClr val="31A1D4">
                  <a:alpha val="100000"/>
                </a:srgbClr>
              </a:gs>
              <a:gs pos="100000">
                <a:srgbClr val="001C37">
                  <a:alpha val="100000"/>
                </a:srgbClr>
              </a:gs>
            </a:gsLst>
            <a:lin ang="2700000"/>
          </a:gradFill>
        </p:spPr>
      </p:sp>
      <p:sp>
        <p:nvSpPr>
          <p:cNvPr id="43" name="TextBox 43">
            <a:extLst xmlns:a="http://schemas.openxmlformats.org/drawingml/2006/main">
              <a:ext uri="{FF2B5EF4-FFF2-40B4-BE49-F238E27FC236}">
                <a16:creationId xmlns:a16="http://schemas.microsoft.com/office/drawing/2014/main" id="{9681EFC7-ADCC-4BAB-8C87-59C134BE49B1}"/>
              </a:ext>
            </a:extLst>
          </p:cNvPr>
          <p:cNvSpPr>
            <a:spLocks xmlns:a="http://schemas.openxmlformats.org/drawingml/2006/main" noGrp="1"/>
          </p:cNvSpPr>
          <p:nvPr/>
        </p:nvSpPr>
        <p:spPr>
          <a:xfrm xmlns:a="http://schemas.openxmlformats.org/drawingml/2006/main" rot="0" flipH="0" flipV="0">
            <a:off x="9570951" y="6644270"/>
            <a:ext cx="7872435" cy="2334207"/>
          </a:xfrm>
          <a:prstGeom xmlns:a="http://schemas.openxmlformats.org/drawingml/2006/main" prst="rect">
            <a:avLst/>
          </a:prstGeom>
        </p:spPr>
        <p:txBody>
          <a:bodyPr xmlns:a="http://schemas.openxmlformats.org/drawingml/2006/main" lIns="50800" tIns="50800" rIns="50800" bIns="50800" anchor="ctr"/>
          <a:lstStyle xmlns:a="http://schemas.openxmlformats.org/drawingml/2006/main"/>
          <a:p xmlns:a="http://schemas.openxmlformats.org/drawingml/2006/main">
            <a:pPr marL="0" indent="0" algn="ctr">
              <a:lnSpc>
                <a:spcPts val="3355"/>
              </a:lnSpc>
              <a:spcBef>
                <a:spcPct val="0"/>
              </a:spcBef>
              <a:buNone/>
            </a:pPr>
          </a:p>
        </p:txBody>
      </p:sp>
      <p:sp>
        <p:nvSpPr>
          <p:cNvPr id="44" name="TextBox 44">
            <a:extLst xmlns:a="http://schemas.openxmlformats.org/drawingml/2006/main">
              <a:ext uri="{FF2B5EF4-FFF2-40B4-BE49-F238E27FC236}">
                <a16:creationId xmlns:a16="http://schemas.microsoft.com/office/drawing/2014/main" id="{A35FB3BD-E645-4DDB-A0E9-28C7A153B4BD}"/>
              </a:ext>
            </a:extLst>
          </p:cNvPr>
          <p:cNvSpPr>
            <a:spLocks xmlns:a="http://schemas.openxmlformats.org/drawingml/2006/main" noGrp="1"/>
          </p:cNvSpPr>
          <p:nvPr/>
        </p:nvSpPr>
        <p:spPr>
          <a:xfrm xmlns:a="http://schemas.openxmlformats.org/drawingml/2006/main">
            <a:off x="9690351" y="7272876"/>
            <a:ext cx="7633637" cy="1376638"/>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nSpc>
                <a:spcPts val="3675"/>
              </a:lnSpc>
              <a:buNone/>
            </a:pPr>
            <a:r>
              <a:rPr sz="2625">
                <a:solidFill>
                  <a:srgbClr val="FFFFFF"/>
                </a:solidFill>
                <a:latin typeface="Noto Sans"/>
                <a:ea typeface="Noto Sans"/>
                <a:cs typeface="Noto Sans"/>
              </a:rPr>
              <a:t>Repository đề tài: </a:t>
            </a:r>
          </a:p>
          <a:p xmlns:a="http://schemas.openxmlformats.org/drawingml/2006/main">
            <a:pPr>
              <a:lnSpc>
                <a:spcPts val="3675"/>
              </a:lnSpc>
              <a:buNone/>
            </a:pPr>
            <a:r>
              <a:rPr sz="2625" u="sng">
                <a:solidFill>
                  <a:srgbClr val="FFFFFF"/>
                </a:solidFill>
                <a:latin typeface="Noto Sans"/>
                <a:ea typeface="Noto Sans"/>
                <a:cs typeface="Noto Sans"/>
                <a:hlinkClick xmlns:r="http://schemas.openxmlformats.org/officeDocument/2006/relationships" r:id="Rc23b1fa622f94653"/>
              </a:rPr>
              <a:t>https://github.com/hv6z/n20-secure-firmware-update-iot</a:t>
            </a:r>
          </a:p>
        </p:txBody>
      </p:sp>
    </p:spTree>
    <p:extLst>
      <p:ext uri="{BB962C8B-B14F-4D97-AF65-F5344CB8AC3E}">
        <p14:creationId xmlns:p14="http://schemas.microsoft.com/office/powerpoint/2010/main" val="120116626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2026-07-16T12:40:28.0940000Z</dcterms:created>
  <dcterms:modified xsi:type="dcterms:W3CDTF">2026-07-16T12:40:28.0940000Z</dcterms:modified>
</coreProperties>
</file>