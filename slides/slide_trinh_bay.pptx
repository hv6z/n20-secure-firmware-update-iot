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TT Lakes Neue Extended Bold" charset="1" panose="02010001040000080307"/>
      <p:regular r:id="rId16"/>
    </p:embeddedFont>
    <p:embeddedFont>
      <p:font typeface="TT Lakes Neue Extended" charset="1" panose="02010001040000080307"/>
      <p:regular r:id="rId17"/>
    </p:embeddedFont>
    <p:embeddedFont>
      <p:font typeface="Montserrat Light" charset="1" panose="00000400000000000000"/>
      <p:regular r:id="rId18"/>
    </p:embeddedFont>
    <p:embeddedFont>
      <p:font typeface="Montserrat Bold" charset="1" panose="0000080000000000000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 Id="rId7" Target="../media/image7.png" Type="http://schemas.openxmlformats.org/officeDocument/2006/relationships/image"/><Relationship Id="rId8"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9.png" Type="http://schemas.openxmlformats.org/officeDocument/2006/relationships/image"/><Relationship Id="rId4" Target="../media/image10.sv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1.jpeg" Type="http://schemas.openxmlformats.org/officeDocument/2006/relationships/image"/><Relationship Id="rId4" Target="../media/image12.png" Type="http://schemas.openxmlformats.org/officeDocument/2006/relationships/image"/><Relationship Id="rId5" Target="../media/image1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 Id="rId3" Target="../media/image13.svg" Type="http://schemas.openxmlformats.org/officeDocument/2006/relationships/image"/><Relationship Id="rId4" Target="../media/image14.jpe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2.svg" Type="http://schemas.openxmlformats.org/officeDocument/2006/relationships/image"/><Relationship Id="rId11" Target="../media/image2.png" Type="http://schemas.openxmlformats.org/officeDocument/2006/relationships/image"/><Relationship Id="rId12" Target="../media/image3.svg" Type="http://schemas.openxmlformats.org/officeDocument/2006/relationships/image"/><Relationship Id="rId2" Target="../media/image1.jpeg" Type="http://schemas.openxmlformats.org/officeDocument/2006/relationships/image"/><Relationship Id="rId3" Target="../media/image15.png" Type="http://schemas.openxmlformats.org/officeDocument/2006/relationships/image"/><Relationship Id="rId4" Target="../media/image16.svg" Type="http://schemas.openxmlformats.org/officeDocument/2006/relationships/image"/><Relationship Id="rId5" Target="../media/image17.png" Type="http://schemas.openxmlformats.org/officeDocument/2006/relationships/image"/><Relationship Id="rId6" Target="../media/image18.svg" Type="http://schemas.openxmlformats.org/officeDocument/2006/relationships/image"/><Relationship Id="rId7" Target="../media/image19.png" Type="http://schemas.openxmlformats.org/officeDocument/2006/relationships/image"/><Relationship Id="rId8" Target="../media/image20.svg" Type="http://schemas.openxmlformats.org/officeDocument/2006/relationships/image"/><Relationship Id="rId9" Target="../media/image21.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3.jpe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4.jpeg" Type="http://schemas.openxmlformats.org/officeDocument/2006/relationships/image"/><Relationship Id="rId3" Target="../media/image25.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6.png" Type="http://schemas.openxmlformats.org/officeDocument/2006/relationships/image"/><Relationship Id="rId6" Target="../media/image27.svg" Type="http://schemas.openxmlformats.org/officeDocument/2006/relationships/image"/><Relationship Id="rId7" Target="../media/image28.png" Type="http://schemas.openxmlformats.org/officeDocument/2006/relationships/image"/><Relationship Id="rId8" Target="../media/image29.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5984" r="-65984" b="0"/>
            </a:stretch>
          </a:blipFill>
        </p:spPr>
      </p:sp>
      <p:sp>
        <p:nvSpPr>
          <p:cNvPr name="Freeform 3" id="3"/>
          <p:cNvSpPr/>
          <p:nvPr/>
        </p:nvSpPr>
        <p:spPr>
          <a:xfrm flipH="false" flipV="false" rot="0">
            <a:off x="-2108849" y="6034841"/>
            <a:ext cx="9438577" cy="6748583"/>
          </a:xfrm>
          <a:custGeom>
            <a:avLst/>
            <a:gdLst/>
            <a:ahLst/>
            <a:cxnLst/>
            <a:rect r="r" b="b" t="t" l="l"/>
            <a:pathLst>
              <a:path h="6748583" w="9438577">
                <a:moveTo>
                  <a:pt x="0" y="0"/>
                </a:moveTo>
                <a:lnTo>
                  <a:pt x="9438578" y="0"/>
                </a:lnTo>
                <a:lnTo>
                  <a:pt x="9438578" y="6748583"/>
                </a:lnTo>
                <a:lnTo>
                  <a:pt x="0" y="674858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5521572" y="6407094"/>
            <a:ext cx="7244857" cy="616879"/>
            <a:chOff x="0" y="0"/>
            <a:chExt cx="4772913" cy="406400"/>
          </a:xfrm>
        </p:grpSpPr>
        <p:sp>
          <p:nvSpPr>
            <p:cNvPr name="Freeform 5" id="5"/>
            <p:cNvSpPr/>
            <p:nvPr/>
          </p:nvSpPr>
          <p:spPr>
            <a:xfrm flipH="false" flipV="false" rot="0">
              <a:off x="0" y="0"/>
              <a:ext cx="4772913" cy="406400"/>
            </a:xfrm>
            <a:custGeom>
              <a:avLst/>
              <a:gdLst/>
              <a:ahLst/>
              <a:cxnLst/>
              <a:rect r="r" b="b" t="t" l="l"/>
              <a:pathLst>
                <a:path h="406400" w="4772913">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lnTo>
                    <a:pt x="4569713" y="0"/>
                  </a:lnTo>
                  <a:close/>
                </a:path>
              </a:pathLst>
            </a:custGeom>
            <a:gradFill rotWithShape="true">
              <a:gsLst>
                <a:gs pos="0">
                  <a:srgbClr val="31A1D4">
                    <a:alpha val="47000"/>
                  </a:srgbClr>
                </a:gs>
                <a:gs pos="100000">
                  <a:srgbClr val="035E8E">
                    <a:alpha val="0"/>
                  </a:srgbClr>
                </a:gs>
              </a:gsLst>
              <a:lin ang="2700000"/>
            </a:gradFill>
            <a:ln cap="rnd">
              <a:noFill/>
              <a:prstDash val="solid"/>
              <a:round/>
            </a:ln>
          </p:spPr>
        </p:sp>
        <p:sp>
          <p:nvSpPr>
            <p:cNvPr name="TextBox 6" id="6"/>
            <p:cNvSpPr txBox="true"/>
            <p:nvPr/>
          </p:nvSpPr>
          <p:spPr>
            <a:xfrm>
              <a:off x="0" y="-38100"/>
              <a:ext cx="4772913" cy="444500"/>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7" id="7"/>
          <p:cNvGrpSpPr/>
          <p:nvPr/>
        </p:nvGrpSpPr>
        <p:grpSpPr>
          <a:xfrm rot="0">
            <a:off x="-1482992" y="7162049"/>
            <a:ext cx="3636307" cy="3124951"/>
            <a:chOff x="0" y="0"/>
            <a:chExt cx="812800" cy="698500"/>
          </a:xfrm>
        </p:grpSpPr>
        <p:sp>
          <p:nvSpPr>
            <p:cNvPr name="Freeform 8" id="8"/>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9" id="9"/>
            <p:cNvSpPr txBox="true"/>
            <p:nvPr/>
          </p:nvSpPr>
          <p:spPr>
            <a:xfrm>
              <a:off x="114300" y="-38100"/>
              <a:ext cx="584200" cy="736600"/>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10" id="10"/>
          <p:cNvGrpSpPr/>
          <p:nvPr/>
        </p:nvGrpSpPr>
        <p:grpSpPr>
          <a:xfrm rot="0">
            <a:off x="1028700" y="8501408"/>
            <a:ext cx="4155559" cy="3571183"/>
            <a:chOff x="0" y="0"/>
            <a:chExt cx="812800" cy="698500"/>
          </a:xfrm>
        </p:grpSpPr>
        <p:sp>
          <p:nvSpPr>
            <p:cNvPr name="Freeform 11" id="11"/>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12" id="12"/>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grpSp>
        <p:nvGrpSpPr>
          <p:cNvPr name="Group 13" id="13"/>
          <p:cNvGrpSpPr/>
          <p:nvPr/>
        </p:nvGrpSpPr>
        <p:grpSpPr>
          <a:xfrm rot="0">
            <a:off x="335162" y="6342923"/>
            <a:ext cx="1906328" cy="1638251"/>
            <a:chOff x="0" y="0"/>
            <a:chExt cx="812800" cy="698500"/>
          </a:xfrm>
        </p:grpSpPr>
        <p:sp>
          <p:nvSpPr>
            <p:cNvPr name="Freeform 14" id="14"/>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15" id="15"/>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grpSp>
        <p:nvGrpSpPr>
          <p:cNvPr name="Group 16" id="16"/>
          <p:cNvGrpSpPr/>
          <p:nvPr/>
        </p:nvGrpSpPr>
        <p:grpSpPr>
          <a:xfrm rot="0">
            <a:off x="3746822" y="8501408"/>
            <a:ext cx="1510485" cy="1298073"/>
            <a:chOff x="0" y="0"/>
            <a:chExt cx="812800" cy="698500"/>
          </a:xfrm>
        </p:grpSpPr>
        <p:sp>
          <p:nvSpPr>
            <p:cNvPr name="Freeform 17" id="17"/>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47000"/>
                  </a:srgbClr>
                </a:gs>
                <a:gs pos="100000">
                  <a:srgbClr val="035E8E">
                    <a:alpha val="0"/>
                  </a:srgbClr>
                </a:gs>
              </a:gsLst>
              <a:lin ang="0"/>
            </a:gradFill>
          </p:spPr>
        </p:sp>
        <p:sp>
          <p:nvSpPr>
            <p:cNvPr name="TextBox 18" id="18"/>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sp>
        <p:nvSpPr>
          <p:cNvPr name="TextBox 19" id="19"/>
          <p:cNvSpPr txBox="true"/>
          <p:nvPr/>
        </p:nvSpPr>
        <p:spPr>
          <a:xfrm rot="0">
            <a:off x="1323801" y="3618425"/>
            <a:ext cx="15640397" cy="1089171"/>
          </a:xfrm>
          <a:prstGeom prst="rect">
            <a:avLst/>
          </a:prstGeom>
        </p:spPr>
        <p:txBody>
          <a:bodyPr anchor="t" rtlCol="false" tIns="0" lIns="0" bIns="0" rIns="0">
            <a:spAutoFit/>
          </a:bodyPr>
          <a:lstStyle/>
          <a:p>
            <a:pPr algn="ctr">
              <a:lnSpc>
                <a:spcPts val="8976"/>
              </a:lnSpc>
              <a:spcBef>
                <a:spcPct val="0"/>
              </a:spcBef>
            </a:pPr>
            <a:r>
              <a:rPr lang="en-US" b="true" sz="6411">
                <a:solidFill>
                  <a:srgbClr val="FFFFFF"/>
                </a:solidFill>
                <a:latin typeface="TT Lakes Neue Extended Bold"/>
                <a:ea typeface="TT Lakes Neue Extended Bold"/>
                <a:cs typeface="TT Lakes Neue Extended Bold"/>
                <a:sym typeface="TT Lakes Neue Extended Bold"/>
              </a:rPr>
              <a:t>CẬP NHẬT FIRMWARE AN TOÀN</a:t>
            </a:r>
          </a:p>
        </p:txBody>
      </p:sp>
      <p:sp>
        <p:nvSpPr>
          <p:cNvPr name="TextBox 20" id="20"/>
          <p:cNvSpPr txBox="true"/>
          <p:nvPr/>
        </p:nvSpPr>
        <p:spPr>
          <a:xfrm rot="0">
            <a:off x="1920618" y="4746198"/>
            <a:ext cx="14446764" cy="1155293"/>
          </a:xfrm>
          <a:prstGeom prst="rect">
            <a:avLst/>
          </a:prstGeom>
        </p:spPr>
        <p:txBody>
          <a:bodyPr anchor="t" rtlCol="false" tIns="0" lIns="0" bIns="0" rIns="0">
            <a:spAutoFit/>
          </a:bodyPr>
          <a:lstStyle/>
          <a:p>
            <a:pPr algn="ctr">
              <a:lnSpc>
                <a:spcPts val="9497"/>
              </a:lnSpc>
              <a:spcBef>
                <a:spcPct val="0"/>
              </a:spcBef>
            </a:pPr>
            <a:r>
              <a:rPr lang="en-US" sz="6783">
                <a:solidFill>
                  <a:srgbClr val="FFFFFF"/>
                </a:solidFill>
                <a:latin typeface="TT Lakes Neue Extended"/>
                <a:ea typeface="TT Lakes Neue Extended"/>
                <a:cs typeface="TT Lakes Neue Extended"/>
                <a:sym typeface="TT Lakes Neue Extended"/>
              </a:rPr>
              <a:t> CHO THIẾT BỊ IOT</a:t>
            </a:r>
          </a:p>
        </p:txBody>
      </p:sp>
      <p:sp>
        <p:nvSpPr>
          <p:cNvPr name="TextBox 21" id="21"/>
          <p:cNvSpPr txBox="true"/>
          <p:nvPr/>
        </p:nvSpPr>
        <p:spPr>
          <a:xfrm rot="0">
            <a:off x="5521572" y="6498343"/>
            <a:ext cx="7244857" cy="396280"/>
          </a:xfrm>
          <a:prstGeom prst="rect">
            <a:avLst/>
          </a:prstGeom>
        </p:spPr>
        <p:txBody>
          <a:bodyPr anchor="t" rtlCol="false" tIns="0" lIns="0" bIns="0" rIns="0">
            <a:spAutoFit/>
          </a:bodyPr>
          <a:lstStyle/>
          <a:p>
            <a:pPr algn="ctr">
              <a:lnSpc>
                <a:spcPts val="3357"/>
              </a:lnSpc>
              <a:spcBef>
                <a:spcPct val="0"/>
              </a:spcBef>
            </a:pPr>
            <a:r>
              <a:rPr lang="en-US" sz="2398">
                <a:solidFill>
                  <a:srgbClr val="FFFFFF"/>
                </a:solidFill>
                <a:latin typeface="Montserrat Light"/>
                <a:ea typeface="Montserrat Light"/>
                <a:cs typeface="Montserrat Light"/>
                <a:sym typeface="Montserrat Light"/>
              </a:rPr>
              <a:t>Secure firmw</a:t>
            </a:r>
            <a:r>
              <a:rPr lang="en-US" sz="2398">
                <a:solidFill>
                  <a:srgbClr val="FFFFFF"/>
                </a:solidFill>
                <a:latin typeface="Montserrat Light"/>
                <a:ea typeface="Montserrat Light"/>
                <a:cs typeface="Montserrat Light"/>
                <a:sym typeface="Montserrat Light"/>
              </a:rPr>
              <a:t>are update for IoT devices</a:t>
            </a:r>
          </a:p>
        </p:txBody>
      </p:sp>
      <p:sp>
        <p:nvSpPr>
          <p:cNvPr name="TextBox 22" id="22"/>
          <p:cNvSpPr txBox="true"/>
          <p:nvPr/>
        </p:nvSpPr>
        <p:spPr>
          <a:xfrm rot="0">
            <a:off x="1028700" y="849292"/>
            <a:ext cx="3364660" cy="330181"/>
          </a:xfrm>
          <a:prstGeom prst="rect">
            <a:avLst/>
          </a:prstGeom>
        </p:spPr>
        <p:txBody>
          <a:bodyPr anchor="t" rtlCol="false" tIns="0" lIns="0" bIns="0" rIns="0">
            <a:spAutoFit/>
          </a:bodyPr>
          <a:lstStyle/>
          <a:p>
            <a:pPr algn="l">
              <a:lnSpc>
                <a:spcPts val="2797"/>
              </a:lnSpc>
              <a:spcBef>
                <a:spcPct val="0"/>
              </a:spcBef>
            </a:pPr>
            <a:r>
              <a:rPr lang="en-US" sz="1998">
                <a:solidFill>
                  <a:srgbClr val="FFFFFF"/>
                </a:solidFill>
                <a:latin typeface="Montserrat Light"/>
                <a:ea typeface="Montserrat Light"/>
                <a:cs typeface="Montserrat Light"/>
                <a:sym typeface="Montserrat Light"/>
              </a:rPr>
              <a:t>NHOM20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true" rot="0">
            <a:off x="0" y="0"/>
            <a:ext cx="18288000" cy="10287000"/>
          </a:xfrm>
          <a:custGeom>
            <a:avLst/>
            <a:gdLst/>
            <a:ahLst/>
            <a:cxnLst/>
            <a:rect r="r" b="b" t="t" l="l"/>
            <a:pathLst>
              <a:path h="10287000" w="18288000">
                <a:moveTo>
                  <a:pt x="0" y="10287000"/>
                </a:moveTo>
                <a:lnTo>
                  <a:pt x="18288000" y="10287000"/>
                </a:lnTo>
                <a:lnTo>
                  <a:pt x="18288000" y="0"/>
                </a:lnTo>
                <a:lnTo>
                  <a:pt x="0" y="0"/>
                </a:lnTo>
                <a:lnTo>
                  <a:pt x="0" y="10287000"/>
                </a:lnTo>
                <a:close/>
              </a:path>
            </a:pathLst>
          </a:custGeom>
          <a:blipFill>
            <a:blip r:embed="rId2"/>
            <a:stretch>
              <a:fillRect l="0" t="-124631" r="-124631" b="0"/>
            </a:stretch>
          </a:blipFill>
        </p:spPr>
      </p:sp>
      <p:sp>
        <p:nvSpPr>
          <p:cNvPr name="TextBox 3" id="3"/>
          <p:cNvSpPr txBox="true"/>
          <p:nvPr/>
        </p:nvSpPr>
        <p:spPr>
          <a:xfrm rot="0">
            <a:off x="1028700" y="849292"/>
            <a:ext cx="2917936" cy="330240"/>
          </a:xfrm>
          <a:prstGeom prst="rect">
            <a:avLst/>
          </a:prstGeom>
        </p:spPr>
        <p:txBody>
          <a:bodyPr anchor="t" rtlCol="false" tIns="0" lIns="0" bIns="0" rIns="0">
            <a:spAutoFit/>
          </a:bodyPr>
          <a:lstStyle/>
          <a:p>
            <a:pPr algn="l">
              <a:lnSpc>
                <a:spcPts val="2797"/>
              </a:lnSpc>
              <a:spcBef>
                <a:spcPct val="0"/>
              </a:spcBef>
            </a:pPr>
            <a:r>
              <a:rPr lang="en-US" sz="1998">
                <a:solidFill>
                  <a:srgbClr val="FFFFFF"/>
                </a:solidFill>
                <a:latin typeface="Montserrat Light"/>
                <a:ea typeface="Montserrat Light"/>
                <a:cs typeface="Montserrat Light"/>
                <a:sym typeface="Montserrat Light"/>
              </a:rPr>
              <a:t>Thynk</a:t>
            </a:r>
            <a:r>
              <a:rPr lang="en-US" sz="1998">
                <a:solidFill>
                  <a:srgbClr val="FFFFFF"/>
                </a:solidFill>
                <a:latin typeface="Montserrat Light"/>
                <a:ea typeface="Montserrat Light"/>
                <a:cs typeface="Montserrat Light"/>
                <a:sym typeface="Montserrat Light"/>
              </a:rPr>
              <a:t> Unlimited</a:t>
            </a:r>
          </a:p>
        </p:txBody>
      </p:sp>
      <p:sp>
        <p:nvSpPr>
          <p:cNvPr name="TextBox 4" id="4"/>
          <p:cNvSpPr txBox="true"/>
          <p:nvPr/>
        </p:nvSpPr>
        <p:spPr>
          <a:xfrm rot="0">
            <a:off x="1520396" y="2552066"/>
            <a:ext cx="7800821"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COMPA</a:t>
            </a:r>
            <a:r>
              <a:rPr lang="en-US" b="true" sz="5885">
                <a:solidFill>
                  <a:srgbClr val="FFFFFF"/>
                </a:solidFill>
                <a:latin typeface="TT Lakes Neue Extended Bold"/>
                <a:ea typeface="TT Lakes Neue Extended Bold"/>
                <a:cs typeface="TT Lakes Neue Extended Bold"/>
                <a:sym typeface="TT Lakes Neue Extended Bold"/>
              </a:rPr>
              <a:t>N</a:t>
            </a:r>
            <a:r>
              <a:rPr lang="en-US" b="true" sz="5885">
                <a:solidFill>
                  <a:srgbClr val="FFFFFF"/>
                </a:solidFill>
                <a:latin typeface="TT Lakes Neue Extended Bold"/>
                <a:ea typeface="TT Lakes Neue Extended Bold"/>
                <a:cs typeface="TT Lakes Neue Extended Bold"/>
                <a:sym typeface="TT Lakes Neue Extended Bold"/>
              </a:rPr>
              <a:t>Y</a:t>
            </a:r>
          </a:p>
        </p:txBody>
      </p:sp>
      <p:sp>
        <p:nvSpPr>
          <p:cNvPr name="TextBox 5" id="5"/>
          <p:cNvSpPr txBox="true"/>
          <p:nvPr/>
        </p:nvSpPr>
        <p:spPr>
          <a:xfrm rot="0">
            <a:off x="1520396" y="3447020"/>
            <a:ext cx="7800821"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OVERVIEW</a:t>
            </a:r>
          </a:p>
        </p:txBody>
      </p:sp>
      <p:sp>
        <p:nvSpPr>
          <p:cNvPr name="TextBox 6" id="6"/>
          <p:cNvSpPr txBox="true"/>
          <p:nvPr/>
        </p:nvSpPr>
        <p:spPr>
          <a:xfrm rot="0">
            <a:off x="1520396" y="5297129"/>
            <a:ext cx="5986116" cy="2323505"/>
          </a:xfrm>
          <a:prstGeom prst="rect">
            <a:avLst/>
          </a:prstGeom>
        </p:spPr>
        <p:txBody>
          <a:bodyPr anchor="t" rtlCol="false" tIns="0" lIns="0" bIns="0" rIns="0">
            <a:spAutoFit/>
          </a:bodyPr>
          <a:lstStyle/>
          <a:p>
            <a:pPr algn="l">
              <a:lnSpc>
                <a:spcPts val="2657"/>
              </a:lnSpc>
              <a:spcBef>
                <a:spcPct val="0"/>
              </a:spcBef>
            </a:pPr>
            <a:r>
              <a:rPr lang="en-US" sz="18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p>
        </p:txBody>
      </p:sp>
      <p:grpSp>
        <p:nvGrpSpPr>
          <p:cNvPr name="Group 7" id="7"/>
          <p:cNvGrpSpPr/>
          <p:nvPr/>
        </p:nvGrpSpPr>
        <p:grpSpPr>
          <a:xfrm rot="0">
            <a:off x="9592810" y="1217740"/>
            <a:ext cx="9329646" cy="2318856"/>
            <a:chOff x="0" y="0"/>
            <a:chExt cx="1046692" cy="260152"/>
          </a:xfrm>
        </p:grpSpPr>
        <p:sp>
          <p:nvSpPr>
            <p:cNvPr name="Freeform 8" id="8"/>
            <p:cNvSpPr/>
            <p:nvPr/>
          </p:nvSpPr>
          <p:spPr>
            <a:xfrm flipH="false" flipV="false" rot="0">
              <a:off x="0" y="0"/>
              <a:ext cx="1046692" cy="260152"/>
            </a:xfrm>
            <a:custGeom>
              <a:avLst/>
              <a:gdLst/>
              <a:ahLst/>
              <a:cxnLst/>
              <a:rect r="r" b="b" t="t" l="l"/>
              <a:pathLst>
                <a:path h="260152" w="1046692">
                  <a:moveTo>
                    <a:pt x="20745" y="0"/>
                  </a:moveTo>
                  <a:lnTo>
                    <a:pt x="1025947" y="0"/>
                  </a:lnTo>
                  <a:cubicBezTo>
                    <a:pt x="1037404" y="0"/>
                    <a:pt x="1046692" y="9288"/>
                    <a:pt x="1046692" y="20745"/>
                  </a:cubicBezTo>
                  <a:lnTo>
                    <a:pt x="1046692" y="239407"/>
                  </a:lnTo>
                  <a:cubicBezTo>
                    <a:pt x="1046692" y="250864"/>
                    <a:pt x="1037404" y="260152"/>
                    <a:pt x="1025947" y="260152"/>
                  </a:cubicBezTo>
                  <a:lnTo>
                    <a:pt x="20745" y="260152"/>
                  </a:lnTo>
                  <a:cubicBezTo>
                    <a:pt x="9288" y="260152"/>
                    <a:pt x="0" y="250864"/>
                    <a:pt x="0" y="239407"/>
                  </a:cubicBezTo>
                  <a:lnTo>
                    <a:pt x="0" y="20745"/>
                  </a:lnTo>
                  <a:cubicBezTo>
                    <a:pt x="0" y="9288"/>
                    <a:pt x="9288" y="0"/>
                    <a:pt x="20745" y="0"/>
                  </a:cubicBezTo>
                  <a:close/>
                </a:path>
              </a:pathLst>
            </a:custGeom>
            <a:gradFill rotWithShape="true">
              <a:gsLst>
                <a:gs pos="0">
                  <a:srgbClr val="31A1D4">
                    <a:alpha val="47000"/>
                  </a:srgbClr>
                </a:gs>
                <a:gs pos="100000">
                  <a:srgbClr val="035E8E">
                    <a:alpha val="0"/>
                  </a:srgbClr>
                </a:gs>
              </a:gsLst>
              <a:lin ang="2700000"/>
            </a:gradFill>
          </p:spPr>
        </p:sp>
        <p:sp>
          <p:nvSpPr>
            <p:cNvPr name="TextBox 9" id="9"/>
            <p:cNvSpPr txBox="true"/>
            <p:nvPr/>
          </p:nvSpPr>
          <p:spPr>
            <a:xfrm>
              <a:off x="0" y="-38100"/>
              <a:ext cx="1046692" cy="298252"/>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10" id="10"/>
          <p:cNvGrpSpPr/>
          <p:nvPr/>
        </p:nvGrpSpPr>
        <p:grpSpPr>
          <a:xfrm rot="0">
            <a:off x="9592810" y="3984072"/>
            <a:ext cx="9329646" cy="2318856"/>
            <a:chOff x="0" y="0"/>
            <a:chExt cx="1046692" cy="260152"/>
          </a:xfrm>
        </p:grpSpPr>
        <p:sp>
          <p:nvSpPr>
            <p:cNvPr name="Freeform 11" id="11"/>
            <p:cNvSpPr/>
            <p:nvPr/>
          </p:nvSpPr>
          <p:spPr>
            <a:xfrm flipH="false" flipV="false" rot="0">
              <a:off x="0" y="0"/>
              <a:ext cx="1046692" cy="260152"/>
            </a:xfrm>
            <a:custGeom>
              <a:avLst/>
              <a:gdLst/>
              <a:ahLst/>
              <a:cxnLst/>
              <a:rect r="r" b="b" t="t" l="l"/>
              <a:pathLst>
                <a:path h="260152" w="1046692">
                  <a:moveTo>
                    <a:pt x="20745" y="0"/>
                  </a:moveTo>
                  <a:lnTo>
                    <a:pt x="1025947" y="0"/>
                  </a:lnTo>
                  <a:cubicBezTo>
                    <a:pt x="1037404" y="0"/>
                    <a:pt x="1046692" y="9288"/>
                    <a:pt x="1046692" y="20745"/>
                  </a:cubicBezTo>
                  <a:lnTo>
                    <a:pt x="1046692" y="239407"/>
                  </a:lnTo>
                  <a:cubicBezTo>
                    <a:pt x="1046692" y="250864"/>
                    <a:pt x="1037404" y="260152"/>
                    <a:pt x="1025947" y="260152"/>
                  </a:cubicBezTo>
                  <a:lnTo>
                    <a:pt x="20745" y="260152"/>
                  </a:lnTo>
                  <a:cubicBezTo>
                    <a:pt x="9288" y="260152"/>
                    <a:pt x="0" y="250864"/>
                    <a:pt x="0" y="239407"/>
                  </a:cubicBezTo>
                  <a:lnTo>
                    <a:pt x="0" y="20745"/>
                  </a:lnTo>
                  <a:cubicBezTo>
                    <a:pt x="0" y="9288"/>
                    <a:pt x="9288" y="0"/>
                    <a:pt x="20745" y="0"/>
                  </a:cubicBezTo>
                  <a:close/>
                </a:path>
              </a:pathLst>
            </a:custGeom>
            <a:gradFill rotWithShape="true">
              <a:gsLst>
                <a:gs pos="0">
                  <a:srgbClr val="31A1D4">
                    <a:alpha val="47000"/>
                  </a:srgbClr>
                </a:gs>
                <a:gs pos="100000">
                  <a:srgbClr val="035E8E">
                    <a:alpha val="0"/>
                  </a:srgbClr>
                </a:gs>
              </a:gsLst>
              <a:lin ang="2700000"/>
            </a:gradFill>
          </p:spPr>
        </p:sp>
        <p:sp>
          <p:nvSpPr>
            <p:cNvPr name="TextBox 12" id="12"/>
            <p:cNvSpPr txBox="true"/>
            <p:nvPr/>
          </p:nvSpPr>
          <p:spPr>
            <a:xfrm>
              <a:off x="0" y="-38100"/>
              <a:ext cx="1046692" cy="298252"/>
            </a:xfrm>
            <a:prstGeom prst="rect">
              <a:avLst/>
            </a:prstGeom>
          </p:spPr>
          <p:txBody>
            <a:bodyPr anchor="ctr" rtlCol="false" tIns="50800" lIns="50800" bIns="50800" rIns="50800"/>
            <a:lstStyle/>
            <a:p>
              <a:pPr algn="ctr" marL="0" indent="0" lvl="0">
                <a:lnSpc>
                  <a:spcPts val="3357"/>
                </a:lnSpc>
                <a:spcBef>
                  <a:spcPct val="0"/>
                </a:spcBef>
              </a:pPr>
            </a:p>
          </p:txBody>
        </p:sp>
      </p:grpSp>
      <p:sp>
        <p:nvSpPr>
          <p:cNvPr name="TextBox 13" id="13"/>
          <p:cNvSpPr txBox="true"/>
          <p:nvPr/>
        </p:nvSpPr>
        <p:spPr>
          <a:xfrm rot="0">
            <a:off x="11043143" y="2348592"/>
            <a:ext cx="5256547" cy="76204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14" id="14"/>
          <p:cNvSpPr txBox="true"/>
          <p:nvPr/>
        </p:nvSpPr>
        <p:spPr>
          <a:xfrm rot="0">
            <a:off x="11043143" y="5114925"/>
            <a:ext cx="5256547" cy="76204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15" id="15"/>
          <p:cNvSpPr txBox="true"/>
          <p:nvPr/>
        </p:nvSpPr>
        <p:spPr>
          <a:xfrm rot="0">
            <a:off x="11043143" y="1739909"/>
            <a:ext cx="5256547" cy="372785"/>
          </a:xfrm>
          <a:prstGeom prst="rect">
            <a:avLst/>
          </a:prstGeom>
        </p:spPr>
        <p:txBody>
          <a:bodyPr anchor="t" rtlCol="false" tIns="0" lIns="0" bIns="0" rIns="0">
            <a:spAutoFit/>
          </a:bodyPr>
          <a:lstStyle/>
          <a:p>
            <a:pPr algn="l">
              <a:lnSpc>
                <a:spcPts val="3077"/>
              </a:lnSpc>
              <a:spcBef>
                <a:spcPct val="0"/>
              </a:spcBef>
            </a:pPr>
            <a:r>
              <a:rPr lang="en-US" b="true" sz="2198">
                <a:solidFill>
                  <a:srgbClr val="FFFFFF"/>
                </a:solidFill>
                <a:latin typeface="Montserrat Bold"/>
                <a:ea typeface="Montserrat Bold"/>
                <a:cs typeface="Montserrat Bold"/>
                <a:sym typeface="Montserrat Bold"/>
              </a:rPr>
              <a:t>Technology-focused company</a:t>
            </a:r>
          </a:p>
        </p:txBody>
      </p:sp>
      <p:sp>
        <p:nvSpPr>
          <p:cNvPr name="TextBox 16" id="16"/>
          <p:cNvSpPr txBox="true"/>
          <p:nvPr/>
        </p:nvSpPr>
        <p:spPr>
          <a:xfrm rot="0">
            <a:off x="10216697" y="1739909"/>
            <a:ext cx="826446"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01</a:t>
            </a:r>
          </a:p>
        </p:txBody>
      </p:sp>
      <p:sp>
        <p:nvSpPr>
          <p:cNvPr name="TextBox 17" id="17"/>
          <p:cNvSpPr txBox="true"/>
          <p:nvPr/>
        </p:nvSpPr>
        <p:spPr>
          <a:xfrm rot="0">
            <a:off x="10216697" y="4506241"/>
            <a:ext cx="826446"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02</a:t>
            </a:r>
          </a:p>
        </p:txBody>
      </p:sp>
      <p:sp>
        <p:nvSpPr>
          <p:cNvPr name="TextBox 18" id="18"/>
          <p:cNvSpPr txBox="true"/>
          <p:nvPr/>
        </p:nvSpPr>
        <p:spPr>
          <a:xfrm rot="0">
            <a:off x="11043143" y="4506241"/>
            <a:ext cx="5256547"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S</a:t>
            </a:r>
            <a:r>
              <a:rPr lang="en-US" b="true" sz="2198">
                <a:solidFill>
                  <a:srgbClr val="FFFFFF"/>
                </a:solidFill>
                <a:latin typeface="Montserrat Bold"/>
                <a:ea typeface="Montserrat Bold"/>
                <a:cs typeface="Montserrat Bold"/>
                <a:sym typeface="Montserrat Bold"/>
              </a:rPr>
              <a:t>upports digital solutions</a:t>
            </a:r>
          </a:p>
        </p:txBody>
      </p:sp>
      <p:grpSp>
        <p:nvGrpSpPr>
          <p:cNvPr name="Group 19" id="19"/>
          <p:cNvGrpSpPr/>
          <p:nvPr/>
        </p:nvGrpSpPr>
        <p:grpSpPr>
          <a:xfrm rot="0">
            <a:off x="9592810" y="6750405"/>
            <a:ext cx="9329646" cy="2318856"/>
            <a:chOff x="0" y="0"/>
            <a:chExt cx="1046692" cy="260152"/>
          </a:xfrm>
        </p:grpSpPr>
        <p:sp>
          <p:nvSpPr>
            <p:cNvPr name="Freeform 20" id="20"/>
            <p:cNvSpPr/>
            <p:nvPr/>
          </p:nvSpPr>
          <p:spPr>
            <a:xfrm flipH="false" flipV="false" rot="0">
              <a:off x="0" y="0"/>
              <a:ext cx="1046692" cy="260152"/>
            </a:xfrm>
            <a:custGeom>
              <a:avLst/>
              <a:gdLst/>
              <a:ahLst/>
              <a:cxnLst/>
              <a:rect r="r" b="b" t="t" l="l"/>
              <a:pathLst>
                <a:path h="260152" w="1046692">
                  <a:moveTo>
                    <a:pt x="20745" y="0"/>
                  </a:moveTo>
                  <a:lnTo>
                    <a:pt x="1025947" y="0"/>
                  </a:lnTo>
                  <a:cubicBezTo>
                    <a:pt x="1037404" y="0"/>
                    <a:pt x="1046692" y="9288"/>
                    <a:pt x="1046692" y="20745"/>
                  </a:cubicBezTo>
                  <a:lnTo>
                    <a:pt x="1046692" y="239407"/>
                  </a:lnTo>
                  <a:cubicBezTo>
                    <a:pt x="1046692" y="250864"/>
                    <a:pt x="1037404" y="260152"/>
                    <a:pt x="1025947" y="260152"/>
                  </a:cubicBezTo>
                  <a:lnTo>
                    <a:pt x="20745" y="260152"/>
                  </a:lnTo>
                  <a:cubicBezTo>
                    <a:pt x="9288" y="260152"/>
                    <a:pt x="0" y="250864"/>
                    <a:pt x="0" y="239407"/>
                  </a:cubicBezTo>
                  <a:lnTo>
                    <a:pt x="0" y="20745"/>
                  </a:lnTo>
                  <a:cubicBezTo>
                    <a:pt x="0" y="9288"/>
                    <a:pt x="9288" y="0"/>
                    <a:pt x="20745" y="0"/>
                  </a:cubicBezTo>
                  <a:close/>
                </a:path>
              </a:pathLst>
            </a:custGeom>
            <a:gradFill rotWithShape="true">
              <a:gsLst>
                <a:gs pos="0">
                  <a:srgbClr val="31A1D4">
                    <a:alpha val="47000"/>
                  </a:srgbClr>
                </a:gs>
                <a:gs pos="100000">
                  <a:srgbClr val="035E8E">
                    <a:alpha val="0"/>
                  </a:srgbClr>
                </a:gs>
              </a:gsLst>
              <a:lin ang="2700000"/>
            </a:gradFill>
          </p:spPr>
        </p:sp>
        <p:sp>
          <p:nvSpPr>
            <p:cNvPr name="TextBox 21" id="21"/>
            <p:cNvSpPr txBox="true"/>
            <p:nvPr/>
          </p:nvSpPr>
          <p:spPr>
            <a:xfrm>
              <a:off x="0" y="-38100"/>
              <a:ext cx="1046692" cy="298252"/>
            </a:xfrm>
            <a:prstGeom prst="rect">
              <a:avLst/>
            </a:prstGeom>
          </p:spPr>
          <p:txBody>
            <a:bodyPr anchor="ctr" rtlCol="false" tIns="50800" lIns="50800" bIns="50800" rIns="50800"/>
            <a:lstStyle/>
            <a:p>
              <a:pPr algn="ctr" marL="0" indent="0" lvl="0">
                <a:lnSpc>
                  <a:spcPts val="3357"/>
                </a:lnSpc>
                <a:spcBef>
                  <a:spcPct val="0"/>
                </a:spcBef>
              </a:pPr>
            </a:p>
          </p:txBody>
        </p:sp>
      </p:grpSp>
      <p:sp>
        <p:nvSpPr>
          <p:cNvPr name="TextBox 22" id="22"/>
          <p:cNvSpPr txBox="true"/>
          <p:nvPr/>
        </p:nvSpPr>
        <p:spPr>
          <a:xfrm rot="0">
            <a:off x="11043143" y="7881258"/>
            <a:ext cx="5256547" cy="76204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23" id="23"/>
          <p:cNvSpPr txBox="true"/>
          <p:nvPr/>
        </p:nvSpPr>
        <p:spPr>
          <a:xfrm rot="0">
            <a:off x="11043143" y="7272574"/>
            <a:ext cx="5256547"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Mod</a:t>
            </a:r>
            <a:r>
              <a:rPr lang="en-US" b="true" sz="2198">
                <a:solidFill>
                  <a:srgbClr val="FFFFFF"/>
                </a:solidFill>
                <a:latin typeface="Montserrat Bold"/>
                <a:ea typeface="Montserrat Bold"/>
                <a:cs typeface="Montserrat Bold"/>
                <a:sym typeface="Montserrat Bold"/>
              </a:rPr>
              <a:t>ern and flexible approach</a:t>
            </a:r>
          </a:p>
        </p:txBody>
      </p:sp>
      <p:sp>
        <p:nvSpPr>
          <p:cNvPr name="TextBox 24" id="24"/>
          <p:cNvSpPr txBox="true"/>
          <p:nvPr/>
        </p:nvSpPr>
        <p:spPr>
          <a:xfrm rot="0">
            <a:off x="10216697" y="7272574"/>
            <a:ext cx="826446"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03</a:t>
            </a:r>
          </a:p>
        </p:txBody>
      </p:sp>
      <p:sp>
        <p:nvSpPr>
          <p:cNvPr name="Freeform 25" id="25"/>
          <p:cNvSpPr/>
          <p:nvPr/>
        </p:nvSpPr>
        <p:spPr>
          <a:xfrm flipH="false" flipV="false" rot="0">
            <a:off x="-2108849" y="7310674"/>
            <a:ext cx="9438577" cy="6748583"/>
          </a:xfrm>
          <a:custGeom>
            <a:avLst/>
            <a:gdLst/>
            <a:ahLst/>
            <a:cxnLst/>
            <a:rect r="r" b="b" t="t" l="l"/>
            <a:pathLst>
              <a:path h="6748583" w="9438577">
                <a:moveTo>
                  <a:pt x="0" y="0"/>
                </a:moveTo>
                <a:lnTo>
                  <a:pt x="9438578" y="0"/>
                </a:lnTo>
                <a:lnTo>
                  <a:pt x="9438578" y="6748583"/>
                </a:lnTo>
                <a:lnTo>
                  <a:pt x="0" y="674858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26" id="26"/>
          <p:cNvGrpSpPr/>
          <p:nvPr/>
        </p:nvGrpSpPr>
        <p:grpSpPr>
          <a:xfrm rot="0">
            <a:off x="1028700" y="8848918"/>
            <a:ext cx="4155559" cy="3571183"/>
            <a:chOff x="0" y="0"/>
            <a:chExt cx="812800" cy="698500"/>
          </a:xfrm>
        </p:grpSpPr>
        <p:sp>
          <p:nvSpPr>
            <p:cNvPr name="Freeform 27" id="27"/>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28" id="28"/>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grpSp>
        <p:nvGrpSpPr>
          <p:cNvPr name="Group 29" id="29"/>
          <p:cNvGrpSpPr/>
          <p:nvPr/>
        </p:nvGrpSpPr>
        <p:grpSpPr>
          <a:xfrm rot="0">
            <a:off x="3746822" y="8848918"/>
            <a:ext cx="1510485" cy="1298073"/>
            <a:chOff x="0" y="0"/>
            <a:chExt cx="812800" cy="698500"/>
          </a:xfrm>
        </p:grpSpPr>
        <p:sp>
          <p:nvSpPr>
            <p:cNvPr name="Freeform 30" id="30"/>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47000"/>
                  </a:srgbClr>
                </a:gs>
                <a:gs pos="100000">
                  <a:srgbClr val="035E8E">
                    <a:alpha val="0"/>
                  </a:srgbClr>
                </a:gs>
              </a:gsLst>
              <a:lin ang="0"/>
            </a:gradFill>
          </p:spPr>
        </p:sp>
        <p:sp>
          <p:nvSpPr>
            <p:cNvPr name="TextBox 31" id="31"/>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FFFFF">
                <a:alpha val="100000"/>
              </a:srgbClr>
            </a:gs>
            <a:gs pos="100000">
              <a:srgbClr val="D8D8D8">
                <a:alpha val="100000"/>
              </a:srgbClr>
            </a:gs>
          </a:gsLst>
          <a:lin ang="5400000"/>
        </a:gradFill>
      </p:bgPr>
    </p:bg>
    <p:spTree>
      <p:nvGrpSpPr>
        <p:cNvPr id="1" name=""/>
        <p:cNvGrpSpPr/>
        <p:nvPr/>
      </p:nvGrpSpPr>
      <p:grpSpPr>
        <a:xfrm>
          <a:off x="0" y="0"/>
          <a:ext cx="0" cy="0"/>
          <a:chOff x="0" y="0"/>
          <a:chExt cx="0" cy="0"/>
        </a:xfrm>
      </p:grpSpPr>
      <p:grpSp>
        <p:nvGrpSpPr>
          <p:cNvPr name="Group 2" id="2"/>
          <p:cNvGrpSpPr/>
          <p:nvPr/>
        </p:nvGrpSpPr>
        <p:grpSpPr>
          <a:xfrm rot="0">
            <a:off x="1520396" y="4144605"/>
            <a:ext cx="4742670" cy="4676574"/>
            <a:chOff x="0" y="0"/>
            <a:chExt cx="532080" cy="524665"/>
          </a:xfrm>
        </p:grpSpPr>
        <p:sp>
          <p:nvSpPr>
            <p:cNvPr name="Freeform 3" id="3"/>
            <p:cNvSpPr/>
            <p:nvPr/>
          </p:nvSpPr>
          <p:spPr>
            <a:xfrm flipH="false" flipV="false" rot="0">
              <a:off x="0" y="0"/>
              <a:ext cx="532080" cy="524665"/>
            </a:xfrm>
            <a:custGeom>
              <a:avLst/>
              <a:gdLst/>
              <a:ahLst/>
              <a:cxnLst/>
              <a:rect r="r" b="b" t="t" l="l"/>
              <a:pathLst>
                <a:path h="524665" w="532080">
                  <a:moveTo>
                    <a:pt x="40810" y="0"/>
                  </a:moveTo>
                  <a:lnTo>
                    <a:pt x="491270" y="0"/>
                  </a:lnTo>
                  <a:cubicBezTo>
                    <a:pt x="513809" y="0"/>
                    <a:pt x="532080" y="18271"/>
                    <a:pt x="532080" y="40810"/>
                  </a:cubicBezTo>
                  <a:lnTo>
                    <a:pt x="532080" y="483855"/>
                  </a:lnTo>
                  <a:cubicBezTo>
                    <a:pt x="532080" y="506393"/>
                    <a:pt x="513809" y="524665"/>
                    <a:pt x="491270" y="524665"/>
                  </a:cubicBezTo>
                  <a:lnTo>
                    <a:pt x="40810" y="524665"/>
                  </a:lnTo>
                  <a:cubicBezTo>
                    <a:pt x="18271" y="524665"/>
                    <a:pt x="0" y="506393"/>
                    <a:pt x="0" y="483855"/>
                  </a:cubicBezTo>
                  <a:lnTo>
                    <a:pt x="0" y="40810"/>
                  </a:lnTo>
                  <a:cubicBezTo>
                    <a:pt x="0" y="18271"/>
                    <a:pt x="18271" y="0"/>
                    <a:pt x="40810" y="0"/>
                  </a:cubicBezTo>
                  <a:close/>
                </a:path>
              </a:pathLst>
            </a:custGeom>
            <a:gradFill rotWithShape="true">
              <a:gsLst>
                <a:gs pos="0">
                  <a:srgbClr val="31A1D4">
                    <a:alpha val="100000"/>
                  </a:srgbClr>
                </a:gs>
                <a:gs pos="100000">
                  <a:srgbClr val="001C37">
                    <a:alpha val="100000"/>
                  </a:srgbClr>
                </a:gs>
              </a:gsLst>
              <a:lin ang="2700000"/>
            </a:gradFill>
          </p:spPr>
        </p:sp>
        <p:sp>
          <p:nvSpPr>
            <p:cNvPr name="TextBox 4" id="4"/>
            <p:cNvSpPr txBox="true"/>
            <p:nvPr/>
          </p:nvSpPr>
          <p:spPr>
            <a:xfrm>
              <a:off x="0" y="-38100"/>
              <a:ext cx="532080" cy="562765"/>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5" id="5"/>
          <p:cNvGrpSpPr/>
          <p:nvPr/>
        </p:nvGrpSpPr>
        <p:grpSpPr>
          <a:xfrm rot="0">
            <a:off x="12024934" y="4144605"/>
            <a:ext cx="4742670" cy="4676574"/>
            <a:chOff x="0" y="0"/>
            <a:chExt cx="532080" cy="524665"/>
          </a:xfrm>
        </p:grpSpPr>
        <p:sp>
          <p:nvSpPr>
            <p:cNvPr name="Freeform 6" id="6"/>
            <p:cNvSpPr/>
            <p:nvPr/>
          </p:nvSpPr>
          <p:spPr>
            <a:xfrm flipH="false" flipV="false" rot="0">
              <a:off x="0" y="0"/>
              <a:ext cx="532080" cy="524665"/>
            </a:xfrm>
            <a:custGeom>
              <a:avLst/>
              <a:gdLst/>
              <a:ahLst/>
              <a:cxnLst/>
              <a:rect r="r" b="b" t="t" l="l"/>
              <a:pathLst>
                <a:path h="524665" w="532080">
                  <a:moveTo>
                    <a:pt x="40810" y="0"/>
                  </a:moveTo>
                  <a:lnTo>
                    <a:pt x="491270" y="0"/>
                  </a:lnTo>
                  <a:cubicBezTo>
                    <a:pt x="513809" y="0"/>
                    <a:pt x="532080" y="18271"/>
                    <a:pt x="532080" y="40810"/>
                  </a:cubicBezTo>
                  <a:lnTo>
                    <a:pt x="532080" y="483855"/>
                  </a:lnTo>
                  <a:cubicBezTo>
                    <a:pt x="532080" y="506393"/>
                    <a:pt x="513809" y="524665"/>
                    <a:pt x="491270" y="524665"/>
                  </a:cubicBezTo>
                  <a:lnTo>
                    <a:pt x="40810" y="524665"/>
                  </a:lnTo>
                  <a:cubicBezTo>
                    <a:pt x="18271" y="524665"/>
                    <a:pt x="0" y="506393"/>
                    <a:pt x="0" y="483855"/>
                  </a:cubicBezTo>
                  <a:lnTo>
                    <a:pt x="0" y="40810"/>
                  </a:lnTo>
                  <a:cubicBezTo>
                    <a:pt x="0" y="18271"/>
                    <a:pt x="18271" y="0"/>
                    <a:pt x="40810" y="0"/>
                  </a:cubicBezTo>
                  <a:close/>
                </a:path>
              </a:pathLst>
            </a:custGeom>
            <a:gradFill rotWithShape="true">
              <a:gsLst>
                <a:gs pos="0">
                  <a:srgbClr val="31A1D4">
                    <a:alpha val="100000"/>
                  </a:srgbClr>
                </a:gs>
                <a:gs pos="100000">
                  <a:srgbClr val="001C37">
                    <a:alpha val="100000"/>
                  </a:srgbClr>
                </a:gs>
              </a:gsLst>
              <a:lin ang="2700000"/>
            </a:gradFill>
          </p:spPr>
        </p:sp>
        <p:sp>
          <p:nvSpPr>
            <p:cNvPr name="TextBox 7" id="7"/>
            <p:cNvSpPr txBox="true"/>
            <p:nvPr/>
          </p:nvSpPr>
          <p:spPr>
            <a:xfrm>
              <a:off x="0" y="-38100"/>
              <a:ext cx="532080" cy="562765"/>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8" id="8"/>
          <p:cNvGrpSpPr/>
          <p:nvPr/>
        </p:nvGrpSpPr>
        <p:grpSpPr>
          <a:xfrm rot="0">
            <a:off x="6772665" y="4144605"/>
            <a:ext cx="4742670" cy="4676574"/>
            <a:chOff x="0" y="0"/>
            <a:chExt cx="734764" cy="724524"/>
          </a:xfrm>
        </p:grpSpPr>
        <p:sp>
          <p:nvSpPr>
            <p:cNvPr name="Freeform 9" id="9"/>
            <p:cNvSpPr/>
            <p:nvPr/>
          </p:nvSpPr>
          <p:spPr>
            <a:xfrm flipH="false" flipV="false" rot="0">
              <a:off x="0" y="0"/>
              <a:ext cx="734764" cy="724524"/>
            </a:xfrm>
            <a:custGeom>
              <a:avLst/>
              <a:gdLst/>
              <a:ahLst/>
              <a:cxnLst/>
              <a:rect r="r" b="b" t="t" l="l"/>
              <a:pathLst>
                <a:path h="724524" w="734764">
                  <a:moveTo>
                    <a:pt x="40810" y="0"/>
                  </a:moveTo>
                  <a:lnTo>
                    <a:pt x="693954" y="0"/>
                  </a:lnTo>
                  <a:cubicBezTo>
                    <a:pt x="716493" y="0"/>
                    <a:pt x="734764" y="18271"/>
                    <a:pt x="734764" y="40810"/>
                  </a:cubicBezTo>
                  <a:lnTo>
                    <a:pt x="734764" y="683714"/>
                  </a:lnTo>
                  <a:cubicBezTo>
                    <a:pt x="734764" y="706252"/>
                    <a:pt x="716493" y="724524"/>
                    <a:pt x="693954" y="724524"/>
                  </a:cubicBezTo>
                  <a:lnTo>
                    <a:pt x="40810" y="724524"/>
                  </a:lnTo>
                  <a:cubicBezTo>
                    <a:pt x="18271" y="724524"/>
                    <a:pt x="0" y="706252"/>
                    <a:pt x="0" y="683714"/>
                  </a:cubicBezTo>
                  <a:lnTo>
                    <a:pt x="0" y="40810"/>
                  </a:lnTo>
                  <a:cubicBezTo>
                    <a:pt x="0" y="18271"/>
                    <a:pt x="18271" y="0"/>
                    <a:pt x="40810" y="0"/>
                  </a:cubicBezTo>
                  <a:close/>
                </a:path>
              </a:pathLst>
            </a:custGeom>
            <a:blipFill>
              <a:blip r:embed="rId2"/>
              <a:stretch>
                <a:fillRect l="-24089" t="0" r="-24089" b="0"/>
              </a:stretch>
            </a:blipFill>
          </p:spPr>
        </p:sp>
      </p:grpSp>
      <p:sp>
        <p:nvSpPr>
          <p:cNvPr name="Freeform 10" id="10"/>
          <p:cNvSpPr/>
          <p:nvPr/>
        </p:nvSpPr>
        <p:spPr>
          <a:xfrm flipH="false" flipV="false" rot="0">
            <a:off x="13568711" y="-3962307"/>
            <a:ext cx="9438577" cy="6748583"/>
          </a:xfrm>
          <a:custGeom>
            <a:avLst/>
            <a:gdLst/>
            <a:ahLst/>
            <a:cxnLst/>
            <a:rect r="r" b="b" t="t" l="l"/>
            <a:pathLst>
              <a:path h="6748583" w="9438577">
                <a:moveTo>
                  <a:pt x="0" y="0"/>
                </a:moveTo>
                <a:lnTo>
                  <a:pt x="9438578" y="0"/>
                </a:lnTo>
                <a:lnTo>
                  <a:pt x="9438578" y="6748583"/>
                </a:lnTo>
                <a:lnTo>
                  <a:pt x="0" y="674858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1" id="11"/>
          <p:cNvGrpSpPr/>
          <p:nvPr/>
        </p:nvGrpSpPr>
        <p:grpSpPr>
          <a:xfrm rot="0">
            <a:off x="16128358" y="-502202"/>
            <a:ext cx="4155559" cy="3571183"/>
            <a:chOff x="0" y="0"/>
            <a:chExt cx="812800" cy="698500"/>
          </a:xfrm>
        </p:grpSpPr>
        <p:sp>
          <p:nvSpPr>
            <p:cNvPr name="Freeform 12" id="12"/>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13" id="13"/>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grpSp>
        <p:nvGrpSpPr>
          <p:cNvPr name="Group 14" id="14"/>
          <p:cNvGrpSpPr/>
          <p:nvPr/>
        </p:nvGrpSpPr>
        <p:grpSpPr>
          <a:xfrm rot="0">
            <a:off x="15234643" y="515353"/>
            <a:ext cx="1787431" cy="1536073"/>
            <a:chOff x="0" y="0"/>
            <a:chExt cx="812800" cy="698500"/>
          </a:xfrm>
        </p:grpSpPr>
        <p:sp>
          <p:nvSpPr>
            <p:cNvPr name="Freeform 15" id="15"/>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16" id="16"/>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sp>
        <p:nvSpPr>
          <p:cNvPr name="Freeform 17" id="17"/>
          <p:cNvSpPr/>
          <p:nvPr/>
        </p:nvSpPr>
        <p:spPr>
          <a:xfrm flipH="false" flipV="false" rot="0">
            <a:off x="3079042" y="4590815"/>
            <a:ext cx="1625377" cy="1625377"/>
          </a:xfrm>
          <a:custGeom>
            <a:avLst/>
            <a:gdLst/>
            <a:ahLst/>
            <a:cxnLst/>
            <a:rect r="r" b="b" t="t" l="l"/>
            <a:pathLst>
              <a:path h="1625377" w="1625377">
                <a:moveTo>
                  <a:pt x="0" y="0"/>
                </a:moveTo>
                <a:lnTo>
                  <a:pt x="1625377" y="0"/>
                </a:lnTo>
                <a:lnTo>
                  <a:pt x="1625377" y="1625377"/>
                </a:lnTo>
                <a:lnTo>
                  <a:pt x="0" y="162537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8" id="18"/>
          <p:cNvSpPr/>
          <p:nvPr/>
        </p:nvSpPr>
        <p:spPr>
          <a:xfrm flipH="false" flipV="false" rot="0">
            <a:off x="13597727" y="4590815"/>
            <a:ext cx="1482786" cy="1482786"/>
          </a:xfrm>
          <a:custGeom>
            <a:avLst/>
            <a:gdLst/>
            <a:ahLst/>
            <a:cxnLst/>
            <a:rect r="r" b="b" t="t" l="l"/>
            <a:pathLst>
              <a:path h="1482786" w="1482786">
                <a:moveTo>
                  <a:pt x="0" y="0"/>
                </a:moveTo>
                <a:lnTo>
                  <a:pt x="1482785" y="0"/>
                </a:lnTo>
                <a:lnTo>
                  <a:pt x="1482785" y="1482785"/>
                </a:lnTo>
                <a:lnTo>
                  <a:pt x="0" y="148278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9" id="19"/>
          <p:cNvSpPr txBox="true"/>
          <p:nvPr/>
        </p:nvSpPr>
        <p:spPr>
          <a:xfrm rot="0">
            <a:off x="1028700" y="849292"/>
            <a:ext cx="2917936" cy="330240"/>
          </a:xfrm>
          <a:prstGeom prst="rect">
            <a:avLst/>
          </a:prstGeom>
        </p:spPr>
        <p:txBody>
          <a:bodyPr anchor="t" rtlCol="false" tIns="0" lIns="0" bIns="0" rIns="0">
            <a:spAutoFit/>
          </a:bodyPr>
          <a:lstStyle/>
          <a:p>
            <a:pPr algn="l">
              <a:lnSpc>
                <a:spcPts val="2797"/>
              </a:lnSpc>
              <a:spcBef>
                <a:spcPct val="0"/>
              </a:spcBef>
            </a:pPr>
            <a:r>
              <a:rPr lang="en-US" sz="1998">
                <a:solidFill>
                  <a:srgbClr val="000000"/>
                </a:solidFill>
                <a:latin typeface="Montserrat Light"/>
                <a:ea typeface="Montserrat Light"/>
                <a:cs typeface="Montserrat Light"/>
                <a:sym typeface="Montserrat Light"/>
              </a:rPr>
              <a:t>Thynk Unlimited</a:t>
            </a:r>
          </a:p>
        </p:txBody>
      </p:sp>
      <p:sp>
        <p:nvSpPr>
          <p:cNvPr name="TextBox 20" id="20"/>
          <p:cNvSpPr txBox="true"/>
          <p:nvPr/>
        </p:nvSpPr>
        <p:spPr>
          <a:xfrm rot="0">
            <a:off x="5243589" y="1332661"/>
            <a:ext cx="7800821" cy="1003021"/>
          </a:xfrm>
          <a:prstGeom prst="rect">
            <a:avLst/>
          </a:prstGeom>
        </p:spPr>
        <p:txBody>
          <a:bodyPr anchor="t" rtlCol="false" tIns="0" lIns="0" bIns="0" rIns="0">
            <a:spAutoFit/>
          </a:bodyPr>
          <a:lstStyle/>
          <a:p>
            <a:pPr algn="ctr">
              <a:lnSpc>
                <a:spcPts val="8240"/>
              </a:lnSpc>
              <a:spcBef>
                <a:spcPct val="0"/>
              </a:spcBef>
            </a:pPr>
            <a:r>
              <a:rPr lang="en-US" b="true" sz="5885">
                <a:solidFill>
                  <a:srgbClr val="000000"/>
                </a:solidFill>
                <a:latin typeface="TT Lakes Neue Extended Bold"/>
                <a:ea typeface="TT Lakes Neue Extended Bold"/>
                <a:cs typeface="TT Lakes Neue Extended Bold"/>
                <a:sym typeface="TT Lakes Neue Extended Bold"/>
              </a:rPr>
              <a:t>VISI</a:t>
            </a:r>
            <a:r>
              <a:rPr lang="en-US" b="true" sz="5885">
                <a:solidFill>
                  <a:srgbClr val="000000"/>
                </a:solidFill>
                <a:latin typeface="TT Lakes Neue Extended Bold"/>
                <a:ea typeface="TT Lakes Neue Extended Bold"/>
                <a:cs typeface="TT Lakes Neue Extended Bold"/>
                <a:sym typeface="TT Lakes Neue Extended Bold"/>
              </a:rPr>
              <a:t>ON</a:t>
            </a:r>
          </a:p>
        </p:txBody>
      </p:sp>
      <p:sp>
        <p:nvSpPr>
          <p:cNvPr name="TextBox 21" id="21"/>
          <p:cNvSpPr txBox="true"/>
          <p:nvPr/>
        </p:nvSpPr>
        <p:spPr>
          <a:xfrm rot="0">
            <a:off x="5243589" y="2227616"/>
            <a:ext cx="7800821" cy="1003021"/>
          </a:xfrm>
          <a:prstGeom prst="rect">
            <a:avLst/>
          </a:prstGeom>
        </p:spPr>
        <p:txBody>
          <a:bodyPr anchor="t" rtlCol="false" tIns="0" lIns="0" bIns="0" rIns="0">
            <a:spAutoFit/>
          </a:bodyPr>
          <a:lstStyle/>
          <a:p>
            <a:pPr algn="ctr">
              <a:lnSpc>
                <a:spcPts val="8240"/>
              </a:lnSpc>
              <a:spcBef>
                <a:spcPct val="0"/>
              </a:spcBef>
            </a:pPr>
            <a:r>
              <a:rPr lang="en-US" b="true" sz="5885">
                <a:solidFill>
                  <a:srgbClr val="000000"/>
                </a:solidFill>
                <a:latin typeface="TT Lakes Neue Extended Bold"/>
                <a:ea typeface="TT Lakes Neue Extended Bold"/>
                <a:cs typeface="TT Lakes Neue Extended Bold"/>
                <a:sym typeface="TT Lakes Neue Extended Bold"/>
              </a:rPr>
              <a:t>AND MISS</a:t>
            </a:r>
            <a:r>
              <a:rPr lang="en-US" b="true" sz="5885">
                <a:solidFill>
                  <a:srgbClr val="000000"/>
                </a:solidFill>
                <a:latin typeface="TT Lakes Neue Extended Bold"/>
                <a:ea typeface="TT Lakes Neue Extended Bold"/>
                <a:cs typeface="TT Lakes Neue Extended Bold"/>
                <a:sym typeface="TT Lakes Neue Extended Bold"/>
              </a:rPr>
              <a:t>ION</a:t>
            </a:r>
          </a:p>
        </p:txBody>
      </p:sp>
      <p:sp>
        <p:nvSpPr>
          <p:cNvPr name="TextBox 22" id="22"/>
          <p:cNvSpPr txBox="true"/>
          <p:nvPr/>
        </p:nvSpPr>
        <p:spPr>
          <a:xfrm rot="0">
            <a:off x="2278217" y="7055702"/>
            <a:ext cx="3227027" cy="1276390"/>
          </a:xfrm>
          <a:prstGeom prst="rect">
            <a:avLst/>
          </a:prstGeom>
        </p:spPr>
        <p:txBody>
          <a:bodyPr anchor="t" rtlCol="false" tIns="0" lIns="0" bIns="0" rIns="0">
            <a:spAutoFit/>
          </a:bodyPr>
          <a:lstStyle/>
          <a:p>
            <a:pPr algn="ctr">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23" id="23"/>
          <p:cNvSpPr txBox="true"/>
          <p:nvPr/>
        </p:nvSpPr>
        <p:spPr>
          <a:xfrm rot="0">
            <a:off x="12782756" y="7055702"/>
            <a:ext cx="3227027" cy="1276390"/>
          </a:xfrm>
          <a:prstGeom prst="rect">
            <a:avLst/>
          </a:prstGeom>
        </p:spPr>
        <p:txBody>
          <a:bodyPr anchor="t" rtlCol="false" tIns="0" lIns="0" bIns="0" rIns="0">
            <a:spAutoFit/>
          </a:bodyPr>
          <a:lstStyle/>
          <a:p>
            <a:pPr algn="ctr">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24" id="24"/>
          <p:cNvSpPr txBox="true"/>
          <p:nvPr/>
        </p:nvSpPr>
        <p:spPr>
          <a:xfrm rot="0">
            <a:off x="2533149" y="6444792"/>
            <a:ext cx="2717163" cy="372785"/>
          </a:xfrm>
          <a:prstGeom prst="rect">
            <a:avLst/>
          </a:prstGeom>
        </p:spPr>
        <p:txBody>
          <a:bodyPr anchor="t" rtlCol="false" tIns="0" lIns="0" bIns="0" rIns="0">
            <a:spAutoFit/>
          </a:bodyPr>
          <a:lstStyle/>
          <a:p>
            <a:pPr algn="ctr">
              <a:lnSpc>
                <a:spcPts val="3077"/>
              </a:lnSpc>
              <a:spcBef>
                <a:spcPct val="0"/>
              </a:spcBef>
            </a:pPr>
            <a:r>
              <a:rPr lang="en-US" b="true" sz="2198">
                <a:solidFill>
                  <a:srgbClr val="FFFFFF"/>
                </a:solidFill>
                <a:latin typeface="Montserrat Bold"/>
                <a:ea typeface="Montserrat Bold"/>
                <a:cs typeface="Montserrat Bold"/>
                <a:sym typeface="Montserrat Bold"/>
              </a:rPr>
              <a:t>Vision</a:t>
            </a:r>
          </a:p>
        </p:txBody>
      </p:sp>
      <p:sp>
        <p:nvSpPr>
          <p:cNvPr name="TextBox 25" id="25"/>
          <p:cNvSpPr txBox="true"/>
          <p:nvPr/>
        </p:nvSpPr>
        <p:spPr>
          <a:xfrm rot="0">
            <a:off x="13037688" y="6444792"/>
            <a:ext cx="2717163" cy="372785"/>
          </a:xfrm>
          <a:prstGeom prst="rect">
            <a:avLst/>
          </a:prstGeom>
        </p:spPr>
        <p:txBody>
          <a:bodyPr anchor="t" rtlCol="false" tIns="0" lIns="0" bIns="0" rIns="0">
            <a:spAutoFit/>
          </a:bodyPr>
          <a:lstStyle/>
          <a:p>
            <a:pPr algn="ctr">
              <a:lnSpc>
                <a:spcPts val="3077"/>
              </a:lnSpc>
              <a:spcBef>
                <a:spcPct val="0"/>
              </a:spcBef>
            </a:pPr>
            <a:r>
              <a:rPr lang="en-US" b="true" sz="2198">
                <a:solidFill>
                  <a:srgbClr val="FFFFFF"/>
                </a:solidFill>
                <a:latin typeface="Montserrat Bold"/>
                <a:ea typeface="Montserrat Bold"/>
                <a:cs typeface="Montserrat Bold"/>
                <a:sym typeface="Montserrat Bold"/>
              </a:rPr>
              <a:t>Mission</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true" rot="0">
            <a:off x="0" y="0"/>
            <a:ext cx="18288000" cy="10287000"/>
          </a:xfrm>
          <a:custGeom>
            <a:avLst/>
            <a:gdLst/>
            <a:ahLst/>
            <a:cxnLst/>
            <a:rect r="r" b="b" t="t" l="l"/>
            <a:pathLst>
              <a:path h="10287000" w="18288000">
                <a:moveTo>
                  <a:pt x="0" y="10287000"/>
                </a:moveTo>
                <a:lnTo>
                  <a:pt x="18288000" y="10287000"/>
                </a:lnTo>
                <a:lnTo>
                  <a:pt x="18288000" y="0"/>
                </a:lnTo>
                <a:lnTo>
                  <a:pt x="0" y="0"/>
                </a:lnTo>
                <a:lnTo>
                  <a:pt x="0" y="10287000"/>
                </a:lnTo>
                <a:close/>
              </a:path>
            </a:pathLst>
          </a:custGeom>
          <a:blipFill>
            <a:blip r:embed="rId2"/>
            <a:stretch>
              <a:fillRect l="0" t="-124631" r="-124631" b="0"/>
            </a:stretch>
          </a:blipFill>
        </p:spPr>
      </p:sp>
      <p:grpSp>
        <p:nvGrpSpPr>
          <p:cNvPr name="Group 3" id="3"/>
          <p:cNvGrpSpPr/>
          <p:nvPr/>
        </p:nvGrpSpPr>
        <p:grpSpPr>
          <a:xfrm rot="0">
            <a:off x="1520396" y="2364939"/>
            <a:ext cx="599159" cy="599159"/>
            <a:chOff x="0" y="0"/>
            <a:chExt cx="651573" cy="651573"/>
          </a:xfrm>
        </p:grpSpPr>
        <p:sp>
          <p:nvSpPr>
            <p:cNvPr name="Freeform 4" id="4"/>
            <p:cNvSpPr/>
            <p:nvPr/>
          </p:nvSpPr>
          <p:spPr>
            <a:xfrm flipH="false" flipV="false" rot="0">
              <a:off x="0" y="0"/>
              <a:ext cx="651573" cy="651573"/>
            </a:xfrm>
            <a:custGeom>
              <a:avLst/>
              <a:gdLst/>
              <a:ahLst/>
              <a:cxnLst/>
              <a:rect r="r" b="b" t="t" l="l"/>
              <a:pathLst>
                <a:path h="651573" w="651573">
                  <a:moveTo>
                    <a:pt x="142134" y="0"/>
                  </a:moveTo>
                  <a:lnTo>
                    <a:pt x="509438" y="0"/>
                  </a:lnTo>
                  <a:cubicBezTo>
                    <a:pt x="547135" y="0"/>
                    <a:pt x="583287" y="14975"/>
                    <a:pt x="609942" y="41630"/>
                  </a:cubicBezTo>
                  <a:cubicBezTo>
                    <a:pt x="636598" y="68286"/>
                    <a:pt x="651573" y="104438"/>
                    <a:pt x="651573" y="142134"/>
                  </a:cubicBezTo>
                  <a:lnTo>
                    <a:pt x="651573" y="509438"/>
                  </a:lnTo>
                  <a:cubicBezTo>
                    <a:pt x="651573" y="587937"/>
                    <a:pt x="587937" y="651573"/>
                    <a:pt x="509438" y="651573"/>
                  </a:cubicBezTo>
                  <a:lnTo>
                    <a:pt x="142134" y="651573"/>
                  </a:lnTo>
                  <a:cubicBezTo>
                    <a:pt x="63636" y="651573"/>
                    <a:pt x="0" y="587937"/>
                    <a:pt x="0" y="509438"/>
                  </a:cubicBezTo>
                  <a:lnTo>
                    <a:pt x="0" y="142134"/>
                  </a:lnTo>
                  <a:cubicBezTo>
                    <a:pt x="0" y="63636"/>
                    <a:pt x="63636" y="0"/>
                    <a:pt x="142134" y="0"/>
                  </a:cubicBezTo>
                  <a:close/>
                </a:path>
              </a:pathLst>
            </a:custGeom>
            <a:gradFill rotWithShape="true">
              <a:gsLst>
                <a:gs pos="0">
                  <a:srgbClr val="31A1D4">
                    <a:alpha val="100000"/>
                  </a:srgbClr>
                </a:gs>
                <a:gs pos="100000">
                  <a:srgbClr val="035E8E">
                    <a:alpha val="100000"/>
                  </a:srgbClr>
                </a:gs>
              </a:gsLst>
              <a:lin ang="0"/>
            </a:gradFill>
          </p:spPr>
        </p:sp>
        <p:sp>
          <p:nvSpPr>
            <p:cNvPr name="TextBox 5" id="5"/>
            <p:cNvSpPr txBox="true"/>
            <p:nvPr/>
          </p:nvSpPr>
          <p:spPr>
            <a:xfrm>
              <a:off x="0" y="-38100"/>
              <a:ext cx="651573" cy="689673"/>
            </a:xfrm>
            <a:prstGeom prst="rect">
              <a:avLst/>
            </a:prstGeom>
          </p:spPr>
          <p:txBody>
            <a:bodyPr anchor="ctr" rtlCol="false" tIns="50800" lIns="50800" bIns="50800" rIns="50800"/>
            <a:lstStyle/>
            <a:p>
              <a:pPr algn="ctr">
                <a:lnSpc>
                  <a:spcPts val="3077"/>
                </a:lnSpc>
              </a:pPr>
            </a:p>
          </p:txBody>
        </p:sp>
      </p:grpSp>
      <p:grpSp>
        <p:nvGrpSpPr>
          <p:cNvPr name="Group 6" id="6"/>
          <p:cNvGrpSpPr/>
          <p:nvPr/>
        </p:nvGrpSpPr>
        <p:grpSpPr>
          <a:xfrm rot="0">
            <a:off x="1520396" y="5143500"/>
            <a:ext cx="599159" cy="599159"/>
            <a:chOff x="0" y="0"/>
            <a:chExt cx="651573" cy="651573"/>
          </a:xfrm>
        </p:grpSpPr>
        <p:sp>
          <p:nvSpPr>
            <p:cNvPr name="Freeform 7" id="7"/>
            <p:cNvSpPr/>
            <p:nvPr/>
          </p:nvSpPr>
          <p:spPr>
            <a:xfrm flipH="false" flipV="false" rot="0">
              <a:off x="0" y="0"/>
              <a:ext cx="651573" cy="651573"/>
            </a:xfrm>
            <a:custGeom>
              <a:avLst/>
              <a:gdLst/>
              <a:ahLst/>
              <a:cxnLst/>
              <a:rect r="r" b="b" t="t" l="l"/>
              <a:pathLst>
                <a:path h="651573" w="651573">
                  <a:moveTo>
                    <a:pt x="142134" y="0"/>
                  </a:moveTo>
                  <a:lnTo>
                    <a:pt x="509438" y="0"/>
                  </a:lnTo>
                  <a:cubicBezTo>
                    <a:pt x="547135" y="0"/>
                    <a:pt x="583287" y="14975"/>
                    <a:pt x="609942" y="41630"/>
                  </a:cubicBezTo>
                  <a:cubicBezTo>
                    <a:pt x="636598" y="68286"/>
                    <a:pt x="651573" y="104438"/>
                    <a:pt x="651573" y="142134"/>
                  </a:cubicBezTo>
                  <a:lnTo>
                    <a:pt x="651573" y="509438"/>
                  </a:lnTo>
                  <a:cubicBezTo>
                    <a:pt x="651573" y="587937"/>
                    <a:pt x="587937" y="651573"/>
                    <a:pt x="509438" y="651573"/>
                  </a:cubicBezTo>
                  <a:lnTo>
                    <a:pt x="142134" y="651573"/>
                  </a:lnTo>
                  <a:cubicBezTo>
                    <a:pt x="63636" y="651573"/>
                    <a:pt x="0" y="587937"/>
                    <a:pt x="0" y="509438"/>
                  </a:cubicBezTo>
                  <a:lnTo>
                    <a:pt x="0" y="142134"/>
                  </a:lnTo>
                  <a:cubicBezTo>
                    <a:pt x="0" y="63636"/>
                    <a:pt x="63636" y="0"/>
                    <a:pt x="142134" y="0"/>
                  </a:cubicBezTo>
                  <a:close/>
                </a:path>
              </a:pathLst>
            </a:custGeom>
            <a:gradFill rotWithShape="true">
              <a:gsLst>
                <a:gs pos="0">
                  <a:srgbClr val="31A1D4">
                    <a:alpha val="100000"/>
                  </a:srgbClr>
                </a:gs>
                <a:gs pos="100000">
                  <a:srgbClr val="035E8E">
                    <a:alpha val="100000"/>
                  </a:srgbClr>
                </a:gs>
              </a:gsLst>
              <a:lin ang="0"/>
            </a:gradFill>
          </p:spPr>
        </p:sp>
        <p:sp>
          <p:nvSpPr>
            <p:cNvPr name="TextBox 8" id="8"/>
            <p:cNvSpPr txBox="true"/>
            <p:nvPr/>
          </p:nvSpPr>
          <p:spPr>
            <a:xfrm>
              <a:off x="0" y="-38100"/>
              <a:ext cx="651573" cy="689673"/>
            </a:xfrm>
            <a:prstGeom prst="rect">
              <a:avLst/>
            </a:prstGeom>
          </p:spPr>
          <p:txBody>
            <a:bodyPr anchor="ctr" rtlCol="false" tIns="50800" lIns="50800" bIns="50800" rIns="50800"/>
            <a:lstStyle/>
            <a:p>
              <a:pPr algn="ctr">
                <a:lnSpc>
                  <a:spcPts val="3077"/>
                </a:lnSpc>
              </a:pPr>
            </a:p>
          </p:txBody>
        </p:sp>
      </p:grpSp>
      <p:grpSp>
        <p:nvGrpSpPr>
          <p:cNvPr name="Group 9" id="9"/>
          <p:cNvGrpSpPr/>
          <p:nvPr/>
        </p:nvGrpSpPr>
        <p:grpSpPr>
          <a:xfrm rot="0">
            <a:off x="1520396" y="7922061"/>
            <a:ext cx="599159" cy="599159"/>
            <a:chOff x="0" y="0"/>
            <a:chExt cx="651573" cy="651573"/>
          </a:xfrm>
        </p:grpSpPr>
        <p:sp>
          <p:nvSpPr>
            <p:cNvPr name="Freeform 10" id="10"/>
            <p:cNvSpPr/>
            <p:nvPr/>
          </p:nvSpPr>
          <p:spPr>
            <a:xfrm flipH="false" flipV="false" rot="0">
              <a:off x="0" y="0"/>
              <a:ext cx="651573" cy="651573"/>
            </a:xfrm>
            <a:custGeom>
              <a:avLst/>
              <a:gdLst/>
              <a:ahLst/>
              <a:cxnLst/>
              <a:rect r="r" b="b" t="t" l="l"/>
              <a:pathLst>
                <a:path h="651573" w="651573">
                  <a:moveTo>
                    <a:pt x="142134" y="0"/>
                  </a:moveTo>
                  <a:lnTo>
                    <a:pt x="509438" y="0"/>
                  </a:lnTo>
                  <a:cubicBezTo>
                    <a:pt x="547135" y="0"/>
                    <a:pt x="583287" y="14975"/>
                    <a:pt x="609942" y="41630"/>
                  </a:cubicBezTo>
                  <a:cubicBezTo>
                    <a:pt x="636598" y="68286"/>
                    <a:pt x="651573" y="104438"/>
                    <a:pt x="651573" y="142134"/>
                  </a:cubicBezTo>
                  <a:lnTo>
                    <a:pt x="651573" y="509438"/>
                  </a:lnTo>
                  <a:cubicBezTo>
                    <a:pt x="651573" y="587937"/>
                    <a:pt x="587937" y="651573"/>
                    <a:pt x="509438" y="651573"/>
                  </a:cubicBezTo>
                  <a:lnTo>
                    <a:pt x="142134" y="651573"/>
                  </a:lnTo>
                  <a:cubicBezTo>
                    <a:pt x="63636" y="651573"/>
                    <a:pt x="0" y="587937"/>
                    <a:pt x="0" y="509438"/>
                  </a:cubicBezTo>
                  <a:lnTo>
                    <a:pt x="0" y="142134"/>
                  </a:lnTo>
                  <a:cubicBezTo>
                    <a:pt x="0" y="63636"/>
                    <a:pt x="63636" y="0"/>
                    <a:pt x="142134" y="0"/>
                  </a:cubicBezTo>
                  <a:close/>
                </a:path>
              </a:pathLst>
            </a:custGeom>
            <a:gradFill rotWithShape="true">
              <a:gsLst>
                <a:gs pos="0">
                  <a:srgbClr val="31A1D4">
                    <a:alpha val="100000"/>
                  </a:srgbClr>
                </a:gs>
                <a:gs pos="100000">
                  <a:srgbClr val="035E8E">
                    <a:alpha val="100000"/>
                  </a:srgbClr>
                </a:gs>
              </a:gsLst>
              <a:lin ang="0"/>
            </a:gradFill>
          </p:spPr>
        </p:sp>
        <p:sp>
          <p:nvSpPr>
            <p:cNvPr name="TextBox 11" id="11"/>
            <p:cNvSpPr txBox="true"/>
            <p:nvPr/>
          </p:nvSpPr>
          <p:spPr>
            <a:xfrm>
              <a:off x="0" y="-38100"/>
              <a:ext cx="651573" cy="689673"/>
            </a:xfrm>
            <a:prstGeom prst="rect">
              <a:avLst/>
            </a:prstGeom>
          </p:spPr>
          <p:txBody>
            <a:bodyPr anchor="ctr" rtlCol="false" tIns="50800" lIns="50800" bIns="50800" rIns="50800"/>
            <a:lstStyle/>
            <a:p>
              <a:pPr algn="ctr">
                <a:lnSpc>
                  <a:spcPts val="3077"/>
                </a:lnSpc>
              </a:pPr>
            </a:p>
          </p:txBody>
        </p:sp>
      </p:grpSp>
      <p:sp>
        <p:nvSpPr>
          <p:cNvPr name="Freeform 12" id="12"/>
          <p:cNvSpPr/>
          <p:nvPr/>
        </p:nvSpPr>
        <p:spPr>
          <a:xfrm flipH="false" flipV="false" rot="0">
            <a:off x="1624870" y="8026536"/>
            <a:ext cx="390209" cy="390209"/>
          </a:xfrm>
          <a:custGeom>
            <a:avLst/>
            <a:gdLst/>
            <a:ahLst/>
            <a:cxnLst/>
            <a:rect r="r" b="b" t="t" l="l"/>
            <a:pathLst>
              <a:path h="390209" w="390209">
                <a:moveTo>
                  <a:pt x="0" y="0"/>
                </a:moveTo>
                <a:lnTo>
                  <a:pt x="390209" y="0"/>
                </a:lnTo>
                <a:lnTo>
                  <a:pt x="390209" y="390209"/>
                </a:lnTo>
                <a:lnTo>
                  <a:pt x="0" y="39020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3" id="13"/>
          <p:cNvSpPr/>
          <p:nvPr/>
        </p:nvSpPr>
        <p:spPr>
          <a:xfrm flipH="false" flipV="false" rot="0">
            <a:off x="1624870" y="5247975"/>
            <a:ext cx="390209" cy="390209"/>
          </a:xfrm>
          <a:custGeom>
            <a:avLst/>
            <a:gdLst/>
            <a:ahLst/>
            <a:cxnLst/>
            <a:rect r="r" b="b" t="t" l="l"/>
            <a:pathLst>
              <a:path h="390209" w="390209">
                <a:moveTo>
                  <a:pt x="0" y="0"/>
                </a:moveTo>
                <a:lnTo>
                  <a:pt x="390209" y="0"/>
                </a:lnTo>
                <a:lnTo>
                  <a:pt x="390209" y="390209"/>
                </a:lnTo>
                <a:lnTo>
                  <a:pt x="0" y="39020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4" id="14"/>
          <p:cNvSpPr txBox="true"/>
          <p:nvPr/>
        </p:nvSpPr>
        <p:spPr>
          <a:xfrm rot="0">
            <a:off x="1028700" y="849292"/>
            <a:ext cx="2917936" cy="330240"/>
          </a:xfrm>
          <a:prstGeom prst="rect">
            <a:avLst/>
          </a:prstGeom>
        </p:spPr>
        <p:txBody>
          <a:bodyPr anchor="t" rtlCol="false" tIns="0" lIns="0" bIns="0" rIns="0">
            <a:spAutoFit/>
          </a:bodyPr>
          <a:lstStyle/>
          <a:p>
            <a:pPr algn="l">
              <a:lnSpc>
                <a:spcPts val="2797"/>
              </a:lnSpc>
              <a:spcBef>
                <a:spcPct val="0"/>
              </a:spcBef>
            </a:pPr>
            <a:r>
              <a:rPr lang="en-US" sz="1998">
                <a:solidFill>
                  <a:srgbClr val="FFFFFF"/>
                </a:solidFill>
                <a:latin typeface="Montserrat Light"/>
                <a:ea typeface="Montserrat Light"/>
                <a:cs typeface="Montserrat Light"/>
                <a:sym typeface="Montserrat Light"/>
              </a:rPr>
              <a:t>Thynk</a:t>
            </a:r>
            <a:r>
              <a:rPr lang="en-US" sz="1998">
                <a:solidFill>
                  <a:srgbClr val="FFFFFF"/>
                </a:solidFill>
                <a:latin typeface="Montserrat Light"/>
                <a:ea typeface="Montserrat Light"/>
                <a:cs typeface="Montserrat Light"/>
                <a:sym typeface="Montserrat Light"/>
              </a:rPr>
              <a:t> Unlimited</a:t>
            </a:r>
          </a:p>
        </p:txBody>
      </p:sp>
      <p:sp>
        <p:nvSpPr>
          <p:cNvPr name="TextBox 15" id="15"/>
          <p:cNvSpPr txBox="true"/>
          <p:nvPr/>
        </p:nvSpPr>
        <p:spPr>
          <a:xfrm rot="0">
            <a:off x="10781488" y="2552066"/>
            <a:ext cx="5986116"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CORE</a:t>
            </a:r>
          </a:p>
        </p:txBody>
      </p:sp>
      <p:sp>
        <p:nvSpPr>
          <p:cNvPr name="TextBox 16" id="16"/>
          <p:cNvSpPr txBox="true"/>
          <p:nvPr/>
        </p:nvSpPr>
        <p:spPr>
          <a:xfrm rot="0">
            <a:off x="10781488" y="3447020"/>
            <a:ext cx="5986116"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SERVICES</a:t>
            </a:r>
          </a:p>
        </p:txBody>
      </p:sp>
      <p:sp>
        <p:nvSpPr>
          <p:cNvPr name="TextBox 17" id="17"/>
          <p:cNvSpPr txBox="true"/>
          <p:nvPr/>
        </p:nvSpPr>
        <p:spPr>
          <a:xfrm rot="0">
            <a:off x="10781488" y="5297129"/>
            <a:ext cx="5986116" cy="2323505"/>
          </a:xfrm>
          <a:prstGeom prst="rect">
            <a:avLst/>
          </a:prstGeom>
        </p:spPr>
        <p:txBody>
          <a:bodyPr anchor="t" rtlCol="false" tIns="0" lIns="0" bIns="0" rIns="0">
            <a:spAutoFit/>
          </a:bodyPr>
          <a:lstStyle/>
          <a:p>
            <a:pPr algn="l">
              <a:lnSpc>
                <a:spcPts val="2657"/>
              </a:lnSpc>
              <a:spcBef>
                <a:spcPct val="0"/>
              </a:spcBef>
            </a:pPr>
            <a:r>
              <a:rPr lang="en-US" sz="18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p>
        </p:txBody>
      </p:sp>
      <p:sp>
        <p:nvSpPr>
          <p:cNvPr name="TextBox 18" id="18"/>
          <p:cNvSpPr txBox="true"/>
          <p:nvPr/>
        </p:nvSpPr>
        <p:spPr>
          <a:xfrm rot="0">
            <a:off x="2677523" y="8496260"/>
            <a:ext cx="5256547" cy="76204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19" id="19"/>
          <p:cNvSpPr txBox="true"/>
          <p:nvPr/>
        </p:nvSpPr>
        <p:spPr>
          <a:xfrm rot="0">
            <a:off x="2677523" y="5715892"/>
            <a:ext cx="5256547" cy="76204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20" id="20"/>
          <p:cNvSpPr txBox="true"/>
          <p:nvPr/>
        </p:nvSpPr>
        <p:spPr>
          <a:xfrm rot="0">
            <a:off x="2677523" y="7887576"/>
            <a:ext cx="5256547"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Technical consultatio</a:t>
            </a:r>
            <a:r>
              <a:rPr lang="en-US" b="true" sz="2198">
                <a:solidFill>
                  <a:srgbClr val="FFFFFF"/>
                </a:solidFill>
                <a:latin typeface="Montserrat Bold"/>
                <a:ea typeface="Montserrat Bold"/>
                <a:cs typeface="Montserrat Bold"/>
                <a:sym typeface="Montserrat Bold"/>
              </a:rPr>
              <a:t>n &amp; guidance</a:t>
            </a:r>
          </a:p>
        </p:txBody>
      </p:sp>
      <p:sp>
        <p:nvSpPr>
          <p:cNvPr name="TextBox 21" id="21"/>
          <p:cNvSpPr txBox="true"/>
          <p:nvPr/>
        </p:nvSpPr>
        <p:spPr>
          <a:xfrm rot="0">
            <a:off x="2677523" y="5107208"/>
            <a:ext cx="5256547"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Syst</a:t>
            </a:r>
            <a:r>
              <a:rPr lang="en-US" b="true" sz="2198">
                <a:solidFill>
                  <a:srgbClr val="FFFFFF"/>
                </a:solidFill>
                <a:latin typeface="Montserrat Bold"/>
                <a:ea typeface="Montserrat Bold"/>
                <a:cs typeface="Montserrat Bold"/>
                <a:sym typeface="Montserrat Bold"/>
              </a:rPr>
              <a:t>em support and maintenance</a:t>
            </a:r>
          </a:p>
        </p:txBody>
      </p:sp>
      <p:sp>
        <p:nvSpPr>
          <p:cNvPr name="TextBox 22" id="22"/>
          <p:cNvSpPr txBox="true"/>
          <p:nvPr/>
        </p:nvSpPr>
        <p:spPr>
          <a:xfrm rot="0">
            <a:off x="2677523" y="2935523"/>
            <a:ext cx="5256547" cy="76204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23" id="23"/>
          <p:cNvSpPr txBox="true"/>
          <p:nvPr/>
        </p:nvSpPr>
        <p:spPr>
          <a:xfrm rot="0">
            <a:off x="2677523" y="2326839"/>
            <a:ext cx="5256547"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T</a:t>
            </a:r>
            <a:r>
              <a:rPr lang="en-US" b="true" sz="2198">
                <a:solidFill>
                  <a:srgbClr val="FFFFFF"/>
                </a:solidFill>
                <a:latin typeface="Montserrat Bold"/>
                <a:ea typeface="Montserrat Bold"/>
                <a:cs typeface="Montserrat Bold"/>
                <a:sym typeface="Montserrat Bold"/>
              </a:rPr>
              <a:t>echnology solution development</a:t>
            </a:r>
          </a:p>
        </p:txBody>
      </p:sp>
      <p:sp>
        <p:nvSpPr>
          <p:cNvPr name="Freeform 24" id="24"/>
          <p:cNvSpPr/>
          <p:nvPr/>
        </p:nvSpPr>
        <p:spPr>
          <a:xfrm flipH="false" flipV="false" rot="0">
            <a:off x="1624870" y="2469414"/>
            <a:ext cx="390209" cy="390209"/>
          </a:xfrm>
          <a:custGeom>
            <a:avLst/>
            <a:gdLst/>
            <a:ahLst/>
            <a:cxnLst/>
            <a:rect r="r" b="b" t="t" l="l"/>
            <a:pathLst>
              <a:path h="390209" w="390209">
                <a:moveTo>
                  <a:pt x="0" y="0"/>
                </a:moveTo>
                <a:lnTo>
                  <a:pt x="390209" y="0"/>
                </a:lnTo>
                <a:lnTo>
                  <a:pt x="390209" y="390209"/>
                </a:lnTo>
                <a:lnTo>
                  <a:pt x="0" y="39020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5" id="25"/>
          <p:cNvSpPr/>
          <p:nvPr/>
        </p:nvSpPr>
        <p:spPr>
          <a:xfrm flipH="false" flipV="false" rot="0">
            <a:off x="11768318" y="-4958517"/>
            <a:ext cx="9438577" cy="6748583"/>
          </a:xfrm>
          <a:custGeom>
            <a:avLst/>
            <a:gdLst/>
            <a:ahLst/>
            <a:cxnLst/>
            <a:rect r="r" b="b" t="t" l="l"/>
            <a:pathLst>
              <a:path h="6748583" w="9438577">
                <a:moveTo>
                  <a:pt x="0" y="0"/>
                </a:moveTo>
                <a:lnTo>
                  <a:pt x="9438578" y="0"/>
                </a:lnTo>
                <a:lnTo>
                  <a:pt x="9438578" y="6748583"/>
                </a:lnTo>
                <a:lnTo>
                  <a:pt x="0" y="674858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26" id="26"/>
          <p:cNvGrpSpPr/>
          <p:nvPr/>
        </p:nvGrpSpPr>
        <p:grpSpPr>
          <a:xfrm rot="0">
            <a:off x="16885087" y="-1481594"/>
            <a:ext cx="4155559" cy="3571183"/>
            <a:chOff x="0" y="0"/>
            <a:chExt cx="812800" cy="698500"/>
          </a:xfrm>
        </p:grpSpPr>
        <p:sp>
          <p:nvSpPr>
            <p:cNvPr name="Freeform 27" id="27"/>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28" id="28"/>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true" rot="0">
            <a:off x="0" y="0"/>
            <a:ext cx="18288000" cy="10287000"/>
          </a:xfrm>
          <a:custGeom>
            <a:avLst/>
            <a:gdLst/>
            <a:ahLst/>
            <a:cxnLst/>
            <a:rect r="r" b="b" t="t" l="l"/>
            <a:pathLst>
              <a:path h="10287000" w="18288000">
                <a:moveTo>
                  <a:pt x="0" y="10287000"/>
                </a:moveTo>
                <a:lnTo>
                  <a:pt x="18288000" y="10287000"/>
                </a:lnTo>
                <a:lnTo>
                  <a:pt x="18288000" y="0"/>
                </a:lnTo>
                <a:lnTo>
                  <a:pt x="0" y="0"/>
                </a:lnTo>
                <a:lnTo>
                  <a:pt x="0" y="10287000"/>
                </a:lnTo>
                <a:close/>
              </a:path>
            </a:pathLst>
          </a:custGeom>
          <a:blipFill>
            <a:blip r:embed="rId2"/>
            <a:stretch>
              <a:fillRect l="0" t="-124631" r="-124631" b="0"/>
            </a:stretch>
          </a:blipFill>
        </p:spPr>
      </p:sp>
      <p:grpSp>
        <p:nvGrpSpPr>
          <p:cNvPr name="Group 3" id="3"/>
          <p:cNvGrpSpPr/>
          <p:nvPr/>
        </p:nvGrpSpPr>
        <p:grpSpPr>
          <a:xfrm rot="0">
            <a:off x="1520396" y="5700984"/>
            <a:ext cx="4402254" cy="3454692"/>
            <a:chOff x="0" y="0"/>
            <a:chExt cx="493889" cy="387582"/>
          </a:xfrm>
        </p:grpSpPr>
        <p:sp>
          <p:nvSpPr>
            <p:cNvPr name="Freeform 4" id="4"/>
            <p:cNvSpPr/>
            <p:nvPr/>
          </p:nvSpPr>
          <p:spPr>
            <a:xfrm flipH="false" flipV="false" rot="0">
              <a:off x="0" y="0"/>
              <a:ext cx="493889" cy="387582"/>
            </a:xfrm>
            <a:custGeom>
              <a:avLst/>
              <a:gdLst/>
              <a:ahLst/>
              <a:cxnLst/>
              <a:rect r="r" b="b" t="t" l="l"/>
              <a:pathLst>
                <a:path h="387582" w="493889">
                  <a:moveTo>
                    <a:pt x="43966" y="0"/>
                  </a:moveTo>
                  <a:lnTo>
                    <a:pt x="449923" y="0"/>
                  </a:lnTo>
                  <a:cubicBezTo>
                    <a:pt x="461583" y="0"/>
                    <a:pt x="472766" y="4632"/>
                    <a:pt x="481011" y="12877"/>
                  </a:cubicBezTo>
                  <a:cubicBezTo>
                    <a:pt x="489256" y="21122"/>
                    <a:pt x="493889" y="32305"/>
                    <a:pt x="493889" y="43966"/>
                  </a:cubicBezTo>
                  <a:lnTo>
                    <a:pt x="493889" y="343616"/>
                  </a:lnTo>
                  <a:cubicBezTo>
                    <a:pt x="493889" y="367898"/>
                    <a:pt x="474204" y="387582"/>
                    <a:pt x="449923" y="387582"/>
                  </a:cubicBezTo>
                  <a:lnTo>
                    <a:pt x="43966" y="387582"/>
                  </a:lnTo>
                  <a:cubicBezTo>
                    <a:pt x="19684" y="387582"/>
                    <a:pt x="0" y="367898"/>
                    <a:pt x="0" y="343616"/>
                  </a:cubicBezTo>
                  <a:lnTo>
                    <a:pt x="0" y="43966"/>
                  </a:lnTo>
                  <a:cubicBezTo>
                    <a:pt x="0" y="19684"/>
                    <a:pt x="19684" y="0"/>
                    <a:pt x="43966" y="0"/>
                  </a:cubicBezTo>
                  <a:close/>
                </a:path>
              </a:pathLst>
            </a:custGeom>
            <a:gradFill rotWithShape="true">
              <a:gsLst>
                <a:gs pos="0">
                  <a:srgbClr val="31A1D4">
                    <a:alpha val="47000"/>
                  </a:srgbClr>
                </a:gs>
                <a:gs pos="100000">
                  <a:srgbClr val="035E8E">
                    <a:alpha val="0"/>
                  </a:srgbClr>
                </a:gs>
              </a:gsLst>
              <a:lin ang="2700000"/>
            </a:gradFill>
          </p:spPr>
        </p:sp>
        <p:sp>
          <p:nvSpPr>
            <p:cNvPr name="TextBox 5" id="5"/>
            <p:cNvSpPr txBox="true"/>
            <p:nvPr/>
          </p:nvSpPr>
          <p:spPr>
            <a:xfrm>
              <a:off x="0" y="-38100"/>
              <a:ext cx="493889" cy="425682"/>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6" id="6"/>
          <p:cNvGrpSpPr/>
          <p:nvPr/>
        </p:nvGrpSpPr>
        <p:grpSpPr>
          <a:xfrm rot="0">
            <a:off x="6942873" y="5700984"/>
            <a:ext cx="4402254" cy="3454692"/>
            <a:chOff x="0" y="0"/>
            <a:chExt cx="493889" cy="387582"/>
          </a:xfrm>
        </p:grpSpPr>
        <p:sp>
          <p:nvSpPr>
            <p:cNvPr name="Freeform 7" id="7"/>
            <p:cNvSpPr/>
            <p:nvPr/>
          </p:nvSpPr>
          <p:spPr>
            <a:xfrm flipH="false" flipV="false" rot="0">
              <a:off x="0" y="0"/>
              <a:ext cx="493889" cy="387582"/>
            </a:xfrm>
            <a:custGeom>
              <a:avLst/>
              <a:gdLst/>
              <a:ahLst/>
              <a:cxnLst/>
              <a:rect r="r" b="b" t="t" l="l"/>
              <a:pathLst>
                <a:path h="387582" w="493889">
                  <a:moveTo>
                    <a:pt x="43966" y="0"/>
                  </a:moveTo>
                  <a:lnTo>
                    <a:pt x="449923" y="0"/>
                  </a:lnTo>
                  <a:cubicBezTo>
                    <a:pt x="461583" y="0"/>
                    <a:pt x="472766" y="4632"/>
                    <a:pt x="481011" y="12877"/>
                  </a:cubicBezTo>
                  <a:cubicBezTo>
                    <a:pt x="489256" y="21122"/>
                    <a:pt x="493889" y="32305"/>
                    <a:pt x="493889" y="43966"/>
                  </a:cubicBezTo>
                  <a:lnTo>
                    <a:pt x="493889" y="343616"/>
                  </a:lnTo>
                  <a:cubicBezTo>
                    <a:pt x="493889" y="367898"/>
                    <a:pt x="474204" y="387582"/>
                    <a:pt x="449923" y="387582"/>
                  </a:cubicBezTo>
                  <a:lnTo>
                    <a:pt x="43966" y="387582"/>
                  </a:lnTo>
                  <a:cubicBezTo>
                    <a:pt x="19684" y="387582"/>
                    <a:pt x="0" y="367898"/>
                    <a:pt x="0" y="343616"/>
                  </a:cubicBezTo>
                  <a:lnTo>
                    <a:pt x="0" y="43966"/>
                  </a:lnTo>
                  <a:cubicBezTo>
                    <a:pt x="0" y="19684"/>
                    <a:pt x="19684" y="0"/>
                    <a:pt x="43966" y="0"/>
                  </a:cubicBezTo>
                  <a:close/>
                </a:path>
              </a:pathLst>
            </a:custGeom>
            <a:gradFill rotWithShape="true">
              <a:gsLst>
                <a:gs pos="0">
                  <a:srgbClr val="31A1D4">
                    <a:alpha val="47000"/>
                  </a:srgbClr>
                </a:gs>
                <a:gs pos="100000">
                  <a:srgbClr val="035E8E">
                    <a:alpha val="0"/>
                  </a:srgbClr>
                </a:gs>
              </a:gsLst>
              <a:lin ang="2700000"/>
            </a:gradFill>
          </p:spPr>
        </p:sp>
        <p:sp>
          <p:nvSpPr>
            <p:cNvPr name="TextBox 8" id="8"/>
            <p:cNvSpPr txBox="true"/>
            <p:nvPr/>
          </p:nvSpPr>
          <p:spPr>
            <a:xfrm>
              <a:off x="0" y="-38100"/>
              <a:ext cx="493889" cy="425682"/>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9" id="9"/>
          <p:cNvGrpSpPr/>
          <p:nvPr/>
        </p:nvGrpSpPr>
        <p:grpSpPr>
          <a:xfrm rot="0">
            <a:off x="12365351" y="5700984"/>
            <a:ext cx="4402254" cy="3454692"/>
            <a:chOff x="0" y="0"/>
            <a:chExt cx="493889" cy="387582"/>
          </a:xfrm>
        </p:grpSpPr>
        <p:sp>
          <p:nvSpPr>
            <p:cNvPr name="Freeform 10" id="10"/>
            <p:cNvSpPr/>
            <p:nvPr/>
          </p:nvSpPr>
          <p:spPr>
            <a:xfrm flipH="false" flipV="false" rot="0">
              <a:off x="0" y="0"/>
              <a:ext cx="493889" cy="387582"/>
            </a:xfrm>
            <a:custGeom>
              <a:avLst/>
              <a:gdLst/>
              <a:ahLst/>
              <a:cxnLst/>
              <a:rect r="r" b="b" t="t" l="l"/>
              <a:pathLst>
                <a:path h="387582" w="493889">
                  <a:moveTo>
                    <a:pt x="43966" y="0"/>
                  </a:moveTo>
                  <a:lnTo>
                    <a:pt x="449923" y="0"/>
                  </a:lnTo>
                  <a:cubicBezTo>
                    <a:pt x="461583" y="0"/>
                    <a:pt x="472766" y="4632"/>
                    <a:pt x="481011" y="12877"/>
                  </a:cubicBezTo>
                  <a:cubicBezTo>
                    <a:pt x="489256" y="21122"/>
                    <a:pt x="493889" y="32305"/>
                    <a:pt x="493889" y="43966"/>
                  </a:cubicBezTo>
                  <a:lnTo>
                    <a:pt x="493889" y="343616"/>
                  </a:lnTo>
                  <a:cubicBezTo>
                    <a:pt x="493889" y="367898"/>
                    <a:pt x="474204" y="387582"/>
                    <a:pt x="449923" y="387582"/>
                  </a:cubicBezTo>
                  <a:lnTo>
                    <a:pt x="43966" y="387582"/>
                  </a:lnTo>
                  <a:cubicBezTo>
                    <a:pt x="19684" y="387582"/>
                    <a:pt x="0" y="367898"/>
                    <a:pt x="0" y="343616"/>
                  </a:cubicBezTo>
                  <a:lnTo>
                    <a:pt x="0" y="43966"/>
                  </a:lnTo>
                  <a:cubicBezTo>
                    <a:pt x="0" y="19684"/>
                    <a:pt x="19684" y="0"/>
                    <a:pt x="43966" y="0"/>
                  </a:cubicBezTo>
                  <a:close/>
                </a:path>
              </a:pathLst>
            </a:custGeom>
            <a:gradFill rotWithShape="true">
              <a:gsLst>
                <a:gs pos="0">
                  <a:srgbClr val="31A1D4">
                    <a:alpha val="47000"/>
                  </a:srgbClr>
                </a:gs>
                <a:gs pos="100000">
                  <a:srgbClr val="035E8E">
                    <a:alpha val="0"/>
                  </a:srgbClr>
                </a:gs>
              </a:gsLst>
              <a:lin ang="2700000"/>
            </a:gradFill>
          </p:spPr>
        </p:sp>
        <p:sp>
          <p:nvSpPr>
            <p:cNvPr name="TextBox 11" id="11"/>
            <p:cNvSpPr txBox="true"/>
            <p:nvPr/>
          </p:nvSpPr>
          <p:spPr>
            <a:xfrm>
              <a:off x="0" y="-38100"/>
              <a:ext cx="493889" cy="425682"/>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12" id="12"/>
          <p:cNvGrpSpPr/>
          <p:nvPr/>
        </p:nvGrpSpPr>
        <p:grpSpPr>
          <a:xfrm rot="0">
            <a:off x="12365351" y="1280828"/>
            <a:ext cx="4402254" cy="3454692"/>
            <a:chOff x="0" y="0"/>
            <a:chExt cx="493889" cy="387582"/>
          </a:xfrm>
        </p:grpSpPr>
        <p:sp>
          <p:nvSpPr>
            <p:cNvPr name="Freeform 13" id="13"/>
            <p:cNvSpPr/>
            <p:nvPr/>
          </p:nvSpPr>
          <p:spPr>
            <a:xfrm flipH="false" flipV="false" rot="0">
              <a:off x="0" y="0"/>
              <a:ext cx="493889" cy="387582"/>
            </a:xfrm>
            <a:custGeom>
              <a:avLst/>
              <a:gdLst/>
              <a:ahLst/>
              <a:cxnLst/>
              <a:rect r="r" b="b" t="t" l="l"/>
              <a:pathLst>
                <a:path h="387582" w="493889">
                  <a:moveTo>
                    <a:pt x="43966" y="0"/>
                  </a:moveTo>
                  <a:lnTo>
                    <a:pt x="449923" y="0"/>
                  </a:lnTo>
                  <a:cubicBezTo>
                    <a:pt x="461583" y="0"/>
                    <a:pt x="472766" y="4632"/>
                    <a:pt x="481011" y="12877"/>
                  </a:cubicBezTo>
                  <a:cubicBezTo>
                    <a:pt x="489256" y="21122"/>
                    <a:pt x="493889" y="32305"/>
                    <a:pt x="493889" y="43966"/>
                  </a:cubicBezTo>
                  <a:lnTo>
                    <a:pt x="493889" y="343616"/>
                  </a:lnTo>
                  <a:cubicBezTo>
                    <a:pt x="493889" y="367898"/>
                    <a:pt x="474204" y="387582"/>
                    <a:pt x="449923" y="387582"/>
                  </a:cubicBezTo>
                  <a:lnTo>
                    <a:pt x="43966" y="387582"/>
                  </a:lnTo>
                  <a:cubicBezTo>
                    <a:pt x="19684" y="387582"/>
                    <a:pt x="0" y="367898"/>
                    <a:pt x="0" y="343616"/>
                  </a:cubicBezTo>
                  <a:lnTo>
                    <a:pt x="0" y="43966"/>
                  </a:lnTo>
                  <a:cubicBezTo>
                    <a:pt x="0" y="19684"/>
                    <a:pt x="19684" y="0"/>
                    <a:pt x="43966" y="0"/>
                  </a:cubicBezTo>
                  <a:close/>
                </a:path>
              </a:pathLst>
            </a:custGeom>
            <a:gradFill rotWithShape="true">
              <a:gsLst>
                <a:gs pos="0">
                  <a:srgbClr val="31A1D4">
                    <a:alpha val="47000"/>
                  </a:srgbClr>
                </a:gs>
                <a:gs pos="100000">
                  <a:srgbClr val="035E8E">
                    <a:alpha val="0"/>
                  </a:srgbClr>
                </a:gs>
              </a:gsLst>
              <a:lin ang="2700000"/>
            </a:gradFill>
          </p:spPr>
        </p:sp>
        <p:sp>
          <p:nvSpPr>
            <p:cNvPr name="TextBox 14" id="14"/>
            <p:cNvSpPr txBox="true"/>
            <p:nvPr/>
          </p:nvSpPr>
          <p:spPr>
            <a:xfrm>
              <a:off x="0" y="-38100"/>
              <a:ext cx="493889" cy="425682"/>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15" id="15"/>
          <p:cNvGrpSpPr/>
          <p:nvPr/>
        </p:nvGrpSpPr>
        <p:grpSpPr>
          <a:xfrm rot="0">
            <a:off x="6942873" y="1280828"/>
            <a:ext cx="4572462" cy="3454692"/>
            <a:chOff x="0" y="0"/>
            <a:chExt cx="734764" cy="555146"/>
          </a:xfrm>
        </p:grpSpPr>
        <p:sp>
          <p:nvSpPr>
            <p:cNvPr name="Freeform 16" id="16"/>
            <p:cNvSpPr/>
            <p:nvPr/>
          </p:nvSpPr>
          <p:spPr>
            <a:xfrm flipH="false" flipV="false" rot="0">
              <a:off x="0" y="0"/>
              <a:ext cx="734764" cy="555146"/>
            </a:xfrm>
            <a:custGeom>
              <a:avLst/>
              <a:gdLst/>
              <a:ahLst/>
              <a:cxnLst/>
              <a:rect r="r" b="b" t="t" l="l"/>
              <a:pathLst>
                <a:path h="555146" w="734764">
                  <a:moveTo>
                    <a:pt x="42329" y="0"/>
                  </a:moveTo>
                  <a:lnTo>
                    <a:pt x="692435" y="0"/>
                  </a:lnTo>
                  <a:cubicBezTo>
                    <a:pt x="703661" y="0"/>
                    <a:pt x="714428" y="4460"/>
                    <a:pt x="722366" y="12398"/>
                  </a:cubicBezTo>
                  <a:cubicBezTo>
                    <a:pt x="730304" y="20336"/>
                    <a:pt x="734764" y="31103"/>
                    <a:pt x="734764" y="42329"/>
                  </a:cubicBezTo>
                  <a:lnTo>
                    <a:pt x="734764" y="512817"/>
                  </a:lnTo>
                  <a:cubicBezTo>
                    <a:pt x="734764" y="524043"/>
                    <a:pt x="730304" y="534810"/>
                    <a:pt x="722366" y="542748"/>
                  </a:cubicBezTo>
                  <a:cubicBezTo>
                    <a:pt x="714428" y="550686"/>
                    <a:pt x="703661" y="555146"/>
                    <a:pt x="692435" y="555146"/>
                  </a:cubicBezTo>
                  <a:lnTo>
                    <a:pt x="42329" y="555146"/>
                  </a:lnTo>
                  <a:cubicBezTo>
                    <a:pt x="31103" y="555146"/>
                    <a:pt x="20336" y="550686"/>
                    <a:pt x="12398" y="542748"/>
                  </a:cubicBezTo>
                  <a:cubicBezTo>
                    <a:pt x="4460" y="534810"/>
                    <a:pt x="0" y="524043"/>
                    <a:pt x="0" y="512817"/>
                  </a:cubicBezTo>
                  <a:lnTo>
                    <a:pt x="0" y="42329"/>
                  </a:lnTo>
                  <a:cubicBezTo>
                    <a:pt x="0" y="31103"/>
                    <a:pt x="4460" y="20336"/>
                    <a:pt x="12398" y="12398"/>
                  </a:cubicBezTo>
                  <a:cubicBezTo>
                    <a:pt x="20336" y="4460"/>
                    <a:pt x="31103" y="0"/>
                    <a:pt x="42329" y="0"/>
                  </a:cubicBezTo>
                  <a:close/>
                </a:path>
              </a:pathLst>
            </a:custGeom>
            <a:blipFill>
              <a:blip r:embed="rId3"/>
              <a:stretch>
                <a:fillRect l="0" t="-49564" r="-99122" b="0"/>
              </a:stretch>
            </a:blipFill>
          </p:spPr>
        </p:sp>
      </p:grpSp>
      <p:sp>
        <p:nvSpPr>
          <p:cNvPr name="Freeform 17" id="17"/>
          <p:cNvSpPr/>
          <p:nvPr/>
        </p:nvSpPr>
        <p:spPr>
          <a:xfrm flipH="false" flipV="false" rot="0">
            <a:off x="2110383" y="6366778"/>
            <a:ext cx="571332" cy="571332"/>
          </a:xfrm>
          <a:custGeom>
            <a:avLst/>
            <a:gdLst/>
            <a:ahLst/>
            <a:cxnLst/>
            <a:rect r="r" b="b" t="t" l="l"/>
            <a:pathLst>
              <a:path h="571332" w="571332">
                <a:moveTo>
                  <a:pt x="0" y="0"/>
                </a:moveTo>
                <a:lnTo>
                  <a:pt x="571332" y="0"/>
                </a:lnTo>
                <a:lnTo>
                  <a:pt x="571332" y="571332"/>
                </a:lnTo>
                <a:lnTo>
                  <a:pt x="0" y="57133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8" id="18"/>
          <p:cNvSpPr/>
          <p:nvPr/>
        </p:nvSpPr>
        <p:spPr>
          <a:xfrm flipH="false" flipV="false" rot="0">
            <a:off x="7532861" y="6366778"/>
            <a:ext cx="571332" cy="571332"/>
          </a:xfrm>
          <a:custGeom>
            <a:avLst/>
            <a:gdLst/>
            <a:ahLst/>
            <a:cxnLst/>
            <a:rect r="r" b="b" t="t" l="l"/>
            <a:pathLst>
              <a:path h="571332" w="571332">
                <a:moveTo>
                  <a:pt x="0" y="0"/>
                </a:moveTo>
                <a:lnTo>
                  <a:pt x="571332" y="0"/>
                </a:lnTo>
                <a:lnTo>
                  <a:pt x="571332" y="571332"/>
                </a:lnTo>
                <a:lnTo>
                  <a:pt x="0" y="57133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9" id="19"/>
          <p:cNvSpPr/>
          <p:nvPr/>
        </p:nvSpPr>
        <p:spPr>
          <a:xfrm flipH="false" flipV="false" rot="0">
            <a:off x="12955338" y="6366778"/>
            <a:ext cx="571332" cy="571332"/>
          </a:xfrm>
          <a:custGeom>
            <a:avLst/>
            <a:gdLst/>
            <a:ahLst/>
            <a:cxnLst/>
            <a:rect r="r" b="b" t="t" l="l"/>
            <a:pathLst>
              <a:path h="571332" w="571332">
                <a:moveTo>
                  <a:pt x="0" y="0"/>
                </a:moveTo>
                <a:lnTo>
                  <a:pt x="571333" y="0"/>
                </a:lnTo>
                <a:lnTo>
                  <a:pt x="571333" y="571332"/>
                </a:lnTo>
                <a:lnTo>
                  <a:pt x="0" y="57133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0" id="20"/>
          <p:cNvSpPr/>
          <p:nvPr/>
        </p:nvSpPr>
        <p:spPr>
          <a:xfrm flipH="false" flipV="false" rot="0">
            <a:off x="12955338" y="1946623"/>
            <a:ext cx="571332" cy="571332"/>
          </a:xfrm>
          <a:custGeom>
            <a:avLst/>
            <a:gdLst/>
            <a:ahLst/>
            <a:cxnLst/>
            <a:rect r="r" b="b" t="t" l="l"/>
            <a:pathLst>
              <a:path h="571332" w="571332">
                <a:moveTo>
                  <a:pt x="0" y="0"/>
                </a:moveTo>
                <a:lnTo>
                  <a:pt x="571333" y="0"/>
                </a:lnTo>
                <a:lnTo>
                  <a:pt x="571333" y="571332"/>
                </a:lnTo>
                <a:lnTo>
                  <a:pt x="0" y="57133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1" id="21"/>
          <p:cNvSpPr txBox="true"/>
          <p:nvPr/>
        </p:nvSpPr>
        <p:spPr>
          <a:xfrm rot="0">
            <a:off x="1028700" y="849292"/>
            <a:ext cx="2917936" cy="330240"/>
          </a:xfrm>
          <a:prstGeom prst="rect">
            <a:avLst/>
          </a:prstGeom>
        </p:spPr>
        <p:txBody>
          <a:bodyPr anchor="t" rtlCol="false" tIns="0" lIns="0" bIns="0" rIns="0">
            <a:spAutoFit/>
          </a:bodyPr>
          <a:lstStyle/>
          <a:p>
            <a:pPr algn="l">
              <a:lnSpc>
                <a:spcPts val="2797"/>
              </a:lnSpc>
              <a:spcBef>
                <a:spcPct val="0"/>
              </a:spcBef>
            </a:pPr>
            <a:r>
              <a:rPr lang="en-US" sz="1998">
                <a:solidFill>
                  <a:srgbClr val="FFFFFF"/>
                </a:solidFill>
                <a:latin typeface="Montserrat Light"/>
                <a:ea typeface="Montserrat Light"/>
                <a:cs typeface="Montserrat Light"/>
                <a:sym typeface="Montserrat Light"/>
              </a:rPr>
              <a:t>Thynk</a:t>
            </a:r>
            <a:r>
              <a:rPr lang="en-US" sz="1998">
                <a:solidFill>
                  <a:srgbClr val="FFFFFF"/>
                </a:solidFill>
                <a:latin typeface="Montserrat Light"/>
                <a:ea typeface="Montserrat Light"/>
                <a:cs typeface="Montserrat Light"/>
                <a:sym typeface="Montserrat Light"/>
              </a:rPr>
              <a:t> Unlimited</a:t>
            </a:r>
          </a:p>
        </p:txBody>
      </p:sp>
      <p:sp>
        <p:nvSpPr>
          <p:cNvPr name="TextBox 22" id="22"/>
          <p:cNvSpPr txBox="true"/>
          <p:nvPr/>
        </p:nvSpPr>
        <p:spPr>
          <a:xfrm rot="0">
            <a:off x="1520396" y="2681807"/>
            <a:ext cx="5422478"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HOW WE</a:t>
            </a:r>
          </a:p>
        </p:txBody>
      </p:sp>
      <p:sp>
        <p:nvSpPr>
          <p:cNvPr name="TextBox 23" id="23"/>
          <p:cNvSpPr txBox="true"/>
          <p:nvPr/>
        </p:nvSpPr>
        <p:spPr>
          <a:xfrm rot="0">
            <a:off x="1520396" y="3576762"/>
            <a:ext cx="5422478"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WORK</a:t>
            </a:r>
          </a:p>
        </p:txBody>
      </p:sp>
      <p:sp>
        <p:nvSpPr>
          <p:cNvPr name="TextBox 24" id="24"/>
          <p:cNvSpPr txBox="true"/>
          <p:nvPr/>
        </p:nvSpPr>
        <p:spPr>
          <a:xfrm rot="0">
            <a:off x="2110383" y="7290431"/>
            <a:ext cx="3222279" cy="127639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25" id="25"/>
          <p:cNvSpPr txBox="true"/>
          <p:nvPr/>
        </p:nvSpPr>
        <p:spPr>
          <a:xfrm rot="0">
            <a:off x="7532861" y="7290431"/>
            <a:ext cx="3222279" cy="127639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26" id="26"/>
          <p:cNvSpPr txBox="true"/>
          <p:nvPr/>
        </p:nvSpPr>
        <p:spPr>
          <a:xfrm rot="0">
            <a:off x="3003476" y="6251739"/>
            <a:ext cx="2329185" cy="763310"/>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Und</a:t>
            </a:r>
            <a:r>
              <a:rPr lang="en-US" b="true" sz="2198">
                <a:solidFill>
                  <a:srgbClr val="FFFFFF"/>
                </a:solidFill>
                <a:latin typeface="Montserrat Bold"/>
                <a:ea typeface="Montserrat Bold"/>
                <a:cs typeface="Montserrat Bold"/>
                <a:sym typeface="Montserrat Bold"/>
              </a:rPr>
              <a:t>erstand user needs</a:t>
            </a:r>
          </a:p>
        </p:txBody>
      </p:sp>
      <p:sp>
        <p:nvSpPr>
          <p:cNvPr name="TextBox 27" id="27"/>
          <p:cNvSpPr txBox="true"/>
          <p:nvPr/>
        </p:nvSpPr>
        <p:spPr>
          <a:xfrm rot="0">
            <a:off x="8425954" y="6251739"/>
            <a:ext cx="2329185" cy="763310"/>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Pl</a:t>
            </a:r>
            <a:r>
              <a:rPr lang="en-US" b="true" sz="2198">
                <a:solidFill>
                  <a:srgbClr val="FFFFFF"/>
                </a:solidFill>
                <a:latin typeface="Montserrat Bold"/>
                <a:ea typeface="Montserrat Bold"/>
                <a:cs typeface="Montserrat Bold"/>
                <a:sym typeface="Montserrat Bold"/>
              </a:rPr>
              <a:t>an simple solutions</a:t>
            </a:r>
          </a:p>
        </p:txBody>
      </p:sp>
      <p:sp>
        <p:nvSpPr>
          <p:cNvPr name="TextBox 28" id="28"/>
          <p:cNvSpPr txBox="true"/>
          <p:nvPr/>
        </p:nvSpPr>
        <p:spPr>
          <a:xfrm rot="0">
            <a:off x="12955338" y="7290431"/>
            <a:ext cx="3222279" cy="127639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29" id="29"/>
          <p:cNvSpPr txBox="true"/>
          <p:nvPr/>
        </p:nvSpPr>
        <p:spPr>
          <a:xfrm rot="0">
            <a:off x="12955338" y="2870275"/>
            <a:ext cx="3222279" cy="127639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30" id="30"/>
          <p:cNvSpPr txBox="true"/>
          <p:nvPr/>
        </p:nvSpPr>
        <p:spPr>
          <a:xfrm rot="0">
            <a:off x="13848432" y="6251739"/>
            <a:ext cx="2132507" cy="763310"/>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Ex</a:t>
            </a:r>
            <a:r>
              <a:rPr lang="en-US" b="true" sz="2198">
                <a:solidFill>
                  <a:srgbClr val="FFFFFF"/>
                </a:solidFill>
                <a:latin typeface="Montserrat Bold"/>
                <a:ea typeface="Montserrat Bold"/>
                <a:cs typeface="Montserrat Bold"/>
                <a:sym typeface="Montserrat Bold"/>
              </a:rPr>
              <a:t>ecute tasks carefully</a:t>
            </a:r>
          </a:p>
        </p:txBody>
      </p:sp>
      <p:sp>
        <p:nvSpPr>
          <p:cNvPr name="TextBox 31" id="31"/>
          <p:cNvSpPr txBox="true"/>
          <p:nvPr/>
        </p:nvSpPr>
        <p:spPr>
          <a:xfrm rot="0">
            <a:off x="13848432" y="1831584"/>
            <a:ext cx="2329185" cy="763310"/>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Improv</a:t>
            </a:r>
            <a:r>
              <a:rPr lang="en-US" b="true" sz="2198">
                <a:solidFill>
                  <a:srgbClr val="FFFFFF"/>
                </a:solidFill>
                <a:latin typeface="Montserrat Bold"/>
                <a:ea typeface="Montserrat Bold"/>
                <a:cs typeface="Montserrat Bold"/>
                <a:sym typeface="Montserrat Bold"/>
              </a:rPr>
              <a:t>e based on results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FFFFF">
                <a:alpha val="100000"/>
              </a:srgbClr>
            </a:gs>
            <a:gs pos="100000">
              <a:srgbClr val="D8D8D8">
                <a:alpha val="100000"/>
              </a:srgbClr>
            </a:gs>
          </a:gsLst>
          <a:lin ang="5400000"/>
        </a:gradFill>
      </p:bgPr>
    </p:bg>
    <p:spTree>
      <p:nvGrpSpPr>
        <p:cNvPr id="1" name=""/>
        <p:cNvGrpSpPr/>
        <p:nvPr/>
      </p:nvGrpSpPr>
      <p:grpSpPr>
        <a:xfrm>
          <a:off x="0" y="0"/>
          <a:ext cx="0" cy="0"/>
          <a:chOff x="0" y="0"/>
          <a:chExt cx="0" cy="0"/>
        </a:xfrm>
      </p:grpSpPr>
      <p:sp>
        <p:nvSpPr>
          <p:cNvPr name="TextBox 2" id="2"/>
          <p:cNvSpPr txBox="true"/>
          <p:nvPr/>
        </p:nvSpPr>
        <p:spPr>
          <a:xfrm rot="0">
            <a:off x="10781488" y="1664396"/>
            <a:ext cx="5986116" cy="1009254"/>
          </a:xfrm>
          <a:prstGeom prst="rect">
            <a:avLst/>
          </a:prstGeom>
        </p:spPr>
        <p:txBody>
          <a:bodyPr anchor="t" rtlCol="false" tIns="0" lIns="0" bIns="0" rIns="0">
            <a:spAutoFit/>
          </a:bodyPr>
          <a:lstStyle/>
          <a:p>
            <a:pPr algn="l">
              <a:lnSpc>
                <a:spcPts val="8240"/>
              </a:lnSpc>
              <a:spcBef>
                <a:spcPct val="0"/>
              </a:spcBef>
            </a:pPr>
            <a:r>
              <a:rPr lang="en-US" b="true" sz="5885">
                <a:solidFill>
                  <a:srgbClr val="000000"/>
                </a:solidFill>
                <a:latin typeface="TT Lakes Neue Extended Bold"/>
                <a:ea typeface="TT Lakes Neue Extended Bold"/>
                <a:cs typeface="TT Lakes Neue Extended Bold"/>
                <a:sym typeface="TT Lakes Neue Extended Bold"/>
              </a:rPr>
              <a:t>KEY</a:t>
            </a:r>
          </a:p>
        </p:txBody>
      </p:sp>
      <p:grpSp>
        <p:nvGrpSpPr>
          <p:cNvPr name="Group 3" id="3"/>
          <p:cNvGrpSpPr/>
          <p:nvPr/>
        </p:nvGrpSpPr>
        <p:grpSpPr>
          <a:xfrm rot="0">
            <a:off x="1520396" y="5206562"/>
            <a:ext cx="7244857" cy="616879"/>
            <a:chOff x="0" y="0"/>
            <a:chExt cx="4772913" cy="406400"/>
          </a:xfrm>
        </p:grpSpPr>
        <p:sp>
          <p:nvSpPr>
            <p:cNvPr name="Freeform 4" id="4"/>
            <p:cNvSpPr/>
            <p:nvPr/>
          </p:nvSpPr>
          <p:spPr>
            <a:xfrm flipH="false" flipV="false" rot="0">
              <a:off x="0" y="0"/>
              <a:ext cx="4772913" cy="406400"/>
            </a:xfrm>
            <a:custGeom>
              <a:avLst/>
              <a:gdLst/>
              <a:ahLst/>
              <a:cxnLst/>
              <a:rect r="r" b="b" t="t" l="l"/>
              <a:pathLst>
                <a:path h="406400" w="4772913">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close/>
                </a:path>
              </a:pathLst>
            </a:custGeom>
            <a:gradFill rotWithShape="true">
              <a:gsLst>
                <a:gs pos="0">
                  <a:srgbClr val="31A1D4">
                    <a:alpha val="100000"/>
                  </a:srgbClr>
                </a:gs>
                <a:gs pos="100000">
                  <a:srgbClr val="035E8E">
                    <a:alpha val="100000"/>
                  </a:srgbClr>
                </a:gs>
              </a:gsLst>
              <a:lin ang="0"/>
            </a:gradFill>
          </p:spPr>
        </p:sp>
        <p:sp>
          <p:nvSpPr>
            <p:cNvPr name="TextBox 5" id="5"/>
            <p:cNvSpPr txBox="true"/>
            <p:nvPr/>
          </p:nvSpPr>
          <p:spPr>
            <a:xfrm>
              <a:off x="0" y="-38100"/>
              <a:ext cx="4772913" cy="444500"/>
            </a:xfrm>
            <a:prstGeom prst="rect">
              <a:avLst/>
            </a:prstGeom>
          </p:spPr>
          <p:txBody>
            <a:bodyPr anchor="ctr" rtlCol="false" tIns="50800" lIns="50800" bIns="50800" rIns="50800"/>
            <a:lstStyle/>
            <a:p>
              <a:pPr algn="ctr">
                <a:lnSpc>
                  <a:spcPts val="3357"/>
                </a:lnSpc>
              </a:pPr>
            </a:p>
          </p:txBody>
        </p:sp>
      </p:grpSp>
      <p:grpSp>
        <p:nvGrpSpPr>
          <p:cNvPr name="Group 6" id="6"/>
          <p:cNvGrpSpPr/>
          <p:nvPr/>
        </p:nvGrpSpPr>
        <p:grpSpPr>
          <a:xfrm rot="0">
            <a:off x="1520396" y="6101517"/>
            <a:ext cx="7244857" cy="616879"/>
            <a:chOff x="0" y="0"/>
            <a:chExt cx="4772913" cy="406400"/>
          </a:xfrm>
        </p:grpSpPr>
        <p:sp>
          <p:nvSpPr>
            <p:cNvPr name="Freeform 7" id="7"/>
            <p:cNvSpPr/>
            <p:nvPr/>
          </p:nvSpPr>
          <p:spPr>
            <a:xfrm flipH="false" flipV="false" rot="0">
              <a:off x="0" y="0"/>
              <a:ext cx="4772913" cy="406400"/>
            </a:xfrm>
            <a:custGeom>
              <a:avLst/>
              <a:gdLst/>
              <a:ahLst/>
              <a:cxnLst/>
              <a:rect r="r" b="b" t="t" l="l"/>
              <a:pathLst>
                <a:path h="406400" w="4772913">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close/>
                </a:path>
              </a:pathLst>
            </a:custGeom>
            <a:gradFill rotWithShape="true">
              <a:gsLst>
                <a:gs pos="0">
                  <a:srgbClr val="31A1D4">
                    <a:alpha val="100000"/>
                  </a:srgbClr>
                </a:gs>
                <a:gs pos="100000">
                  <a:srgbClr val="035E8E">
                    <a:alpha val="100000"/>
                  </a:srgbClr>
                </a:gs>
              </a:gsLst>
              <a:lin ang="0"/>
            </a:gradFill>
          </p:spPr>
        </p:sp>
        <p:sp>
          <p:nvSpPr>
            <p:cNvPr name="TextBox 8" id="8"/>
            <p:cNvSpPr txBox="true"/>
            <p:nvPr/>
          </p:nvSpPr>
          <p:spPr>
            <a:xfrm>
              <a:off x="0" y="-38100"/>
              <a:ext cx="4772913" cy="444500"/>
            </a:xfrm>
            <a:prstGeom prst="rect">
              <a:avLst/>
            </a:prstGeom>
          </p:spPr>
          <p:txBody>
            <a:bodyPr anchor="ctr" rtlCol="false" tIns="50800" lIns="50800" bIns="50800" rIns="50800"/>
            <a:lstStyle/>
            <a:p>
              <a:pPr algn="ctr">
                <a:lnSpc>
                  <a:spcPts val="3357"/>
                </a:lnSpc>
              </a:pPr>
            </a:p>
          </p:txBody>
        </p:sp>
      </p:grpSp>
      <p:grpSp>
        <p:nvGrpSpPr>
          <p:cNvPr name="Group 9" id="9"/>
          <p:cNvGrpSpPr/>
          <p:nvPr/>
        </p:nvGrpSpPr>
        <p:grpSpPr>
          <a:xfrm rot="0">
            <a:off x="1520396" y="6996471"/>
            <a:ext cx="7244857" cy="616879"/>
            <a:chOff x="0" y="0"/>
            <a:chExt cx="4772913" cy="406400"/>
          </a:xfrm>
        </p:grpSpPr>
        <p:sp>
          <p:nvSpPr>
            <p:cNvPr name="Freeform 10" id="10"/>
            <p:cNvSpPr/>
            <p:nvPr/>
          </p:nvSpPr>
          <p:spPr>
            <a:xfrm flipH="false" flipV="false" rot="0">
              <a:off x="0" y="0"/>
              <a:ext cx="4772913" cy="406400"/>
            </a:xfrm>
            <a:custGeom>
              <a:avLst/>
              <a:gdLst/>
              <a:ahLst/>
              <a:cxnLst/>
              <a:rect r="r" b="b" t="t" l="l"/>
              <a:pathLst>
                <a:path h="406400" w="4772913">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close/>
                </a:path>
              </a:pathLst>
            </a:custGeom>
            <a:gradFill rotWithShape="true">
              <a:gsLst>
                <a:gs pos="0">
                  <a:srgbClr val="31A1D4">
                    <a:alpha val="100000"/>
                  </a:srgbClr>
                </a:gs>
                <a:gs pos="100000">
                  <a:srgbClr val="035E8E">
                    <a:alpha val="100000"/>
                  </a:srgbClr>
                </a:gs>
              </a:gsLst>
              <a:lin ang="0"/>
            </a:gradFill>
          </p:spPr>
        </p:sp>
        <p:sp>
          <p:nvSpPr>
            <p:cNvPr name="TextBox 11" id="11"/>
            <p:cNvSpPr txBox="true"/>
            <p:nvPr/>
          </p:nvSpPr>
          <p:spPr>
            <a:xfrm>
              <a:off x="0" y="-38100"/>
              <a:ext cx="4772913" cy="444500"/>
            </a:xfrm>
            <a:prstGeom prst="rect">
              <a:avLst/>
            </a:prstGeom>
          </p:spPr>
          <p:txBody>
            <a:bodyPr anchor="ctr" rtlCol="false" tIns="50800" lIns="50800" bIns="50800" rIns="50800"/>
            <a:lstStyle/>
            <a:p>
              <a:pPr algn="ctr">
                <a:lnSpc>
                  <a:spcPts val="3357"/>
                </a:lnSpc>
              </a:pPr>
            </a:p>
          </p:txBody>
        </p:sp>
      </p:grpSp>
      <p:grpSp>
        <p:nvGrpSpPr>
          <p:cNvPr name="Group 12" id="12"/>
          <p:cNvGrpSpPr/>
          <p:nvPr/>
        </p:nvGrpSpPr>
        <p:grpSpPr>
          <a:xfrm rot="0">
            <a:off x="1520396" y="7891425"/>
            <a:ext cx="7244857" cy="616879"/>
            <a:chOff x="0" y="0"/>
            <a:chExt cx="4772913" cy="406400"/>
          </a:xfrm>
        </p:grpSpPr>
        <p:sp>
          <p:nvSpPr>
            <p:cNvPr name="Freeform 13" id="13"/>
            <p:cNvSpPr/>
            <p:nvPr/>
          </p:nvSpPr>
          <p:spPr>
            <a:xfrm flipH="false" flipV="false" rot="0">
              <a:off x="0" y="0"/>
              <a:ext cx="4772913" cy="406400"/>
            </a:xfrm>
            <a:custGeom>
              <a:avLst/>
              <a:gdLst/>
              <a:ahLst/>
              <a:cxnLst/>
              <a:rect r="r" b="b" t="t" l="l"/>
              <a:pathLst>
                <a:path h="406400" w="4772913">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close/>
                </a:path>
              </a:pathLst>
            </a:custGeom>
            <a:gradFill rotWithShape="true">
              <a:gsLst>
                <a:gs pos="0">
                  <a:srgbClr val="31A1D4">
                    <a:alpha val="100000"/>
                  </a:srgbClr>
                </a:gs>
                <a:gs pos="100000">
                  <a:srgbClr val="035E8E">
                    <a:alpha val="100000"/>
                  </a:srgbClr>
                </a:gs>
              </a:gsLst>
              <a:lin ang="0"/>
            </a:gradFill>
          </p:spPr>
        </p:sp>
        <p:sp>
          <p:nvSpPr>
            <p:cNvPr name="TextBox 14" id="14"/>
            <p:cNvSpPr txBox="true"/>
            <p:nvPr/>
          </p:nvSpPr>
          <p:spPr>
            <a:xfrm>
              <a:off x="0" y="-38100"/>
              <a:ext cx="4772913" cy="444500"/>
            </a:xfrm>
            <a:prstGeom prst="rect">
              <a:avLst/>
            </a:prstGeom>
          </p:spPr>
          <p:txBody>
            <a:bodyPr anchor="ctr" rtlCol="false" tIns="50800" lIns="50800" bIns="50800" rIns="50800"/>
            <a:lstStyle/>
            <a:p>
              <a:pPr algn="ctr">
                <a:lnSpc>
                  <a:spcPts val="3357"/>
                </a:lnSpc>
              </a:pPr>
            </a:p>
          </p:txBody>
        </p:sp>
      </p:grpSp>
      <p:sp>
        <p:nvSpPr>
          <p:cNvPr name="Freeform 15" id="15"/>
          <p:cNvSpPr/>
          <p:nvPr/>
        </p:nvSpPr>
        <p:spPr>
          <a:xfrm flipH="false" flipV="false" rot="0">
            <a:off x="1645225" y="5324886"/>
            <a:ext cx="380232" cy="380232"/>
          </a:xfrm>
          <a:custGeom>
            <a:avLst/>
            <a:gdLst/>
            <a:ahLst/>
            <a:cxnLst/>
            <a:rect r="r" b="b" t="t" l="l"/>
            <a:pathLst>
              <a:path h="380232" w="380232">
                <a:moveTo>
                  <a:pt x="0" y="0"/>
                </a:moveTo>
                <a:lnTo>
                  <a:pt x="380232" y="0"/>
                </a:lnTo>
                <a:lnTo>
                  <a:pt x="380232" y="380232"/>
                </a:lnTo>
                <a:lnTo>
                  <a:pt x="0" y="38023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6" id="16"/>
          <p:cNvSpPr/>
          <p:nvPr/>
        </p:nvSpPr>
        <p:spPr>
          <a:xfrm flipH="false" flipV="false" rot="0">
            <a:off x="1645225" y="6219840"/>
            <a:ext cx="380232" cy="380232"/>
          </a:xfrm>
          <a:custGeom>
            <a:avLst/>
            <a:gdLst/>
            <a:ahLst/>
            <a:cxnLst/>
            <a:rect r="r" b="b" t="t" l="l"/>
            <a:pathLst>
              <a:path h="380232" w="380232">
                <a:moveTo>
                  <a:pt x="0" y="0"/>
                </a:moveTo>
                <a:lnTo>
                  <a:pt x="380232" y="0"/>
                </a:lnTo>
                <a:lnTo>
                  <a:pt x="380232" y="380232"/>
                </a:lnTo>
                <a:lnTo>
                  <a:pt x="0" y="38023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7" id="17"/>
          <p:cNvSpPr/>
          <p:nvPr/>
        </p:nvSpPr>
        <p:spPr>
          <a:xfrm flipH="false" flipV="false" rot="0">
            <a:off x="1645225" y="7114794"/>
            <a:ext cx="380232" cy="380232"/>
          </a:xfrm>
          <a:custGeom>
            <a:avLst/>
            <a:gdLst/>
            <a:ahLst/>
            <a:cxnLst/>
            <a:rect r="r" b="b" t="t" l="l"/>
            <a:pathLst>
              <a:path h="380232" w="380232">
                <a:moveTo>
                  <a:pt x="0" y="0"/>
                </a:moveTo>
                <a:lnTo>
                  <a:pt x="380232" y="0"/>
                </a:lnTo>
                <a:lnTo>
                  <a:pt x="380232" y="380233"/>
                </a:lnTo>
                <a:lnTo>
                  <a:pt x="0" y="38023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8" id="18"/>
          <p:cNvSpPr/>
          <p:nvPr/>
        </p:nvSpPr>
        <p:spPr>
          <a:xfrm flipH="false" flipV="false" rot="0">
            <a:off x="1645225" y="8009749"/>
            <a:ext cx="380232" cy="380232"/>
          </a:xfrm>
          <a:custGeom>
            <a:avLst/>
            <a:gdLst/>
            <a:ahLst/>
            <a:cxnLst/>
            <a:rect r="r" b="b" t="t" l="l"/>
            <a:pathLst>
              <a:path h="380232" w="380232">
                <a:moveTo>
                  <a:pt x="0" y="0"/>
                </a:moveTo>
                <a:lnTo>
                  <a:pt x="380232" y="0"/>
                </a:lnTo>
                <a:lnTo>
                  <a:pt x="380232" y="380232"/>
                </a:lnTo>
                <a:lnTo>
                  <a:pt x="0" y="38023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9" id="19"/>
          <p:cNvGrpSpPr/>
          <p:nvPr/>
        </p:nvGrpSpPr>
        <p:grpSpPr>
          <a:xfrm rot="0">
            <a:off x="1520396" y="1778696"/>
            <a:ext cx="7244857" cy="2668863"/>
            <a:chOff x="0" y="0"/>
            <a:chExt cx="1122418" cy="413477"/>
          </a:xfrm>
        </p:grpSpPr>
        <p:sp>
          <p:nvSpPr>
            <p:cNvPr name="Freeform 20" id="20"/>
            <p:cNvSpPr/>
            <p:nvPr/>
          </p:nvSpPr>
          <p:spPr>
            <a:xfrm flipH="false" flipV="false" rot="0">
              <a:off x="0" y="0"/>
              <a:ext cx="1122418" cy="413477"/>
            </a:xfrm>
            <a:custGeom>
              <a:avLst/>
              <a:gdLst/>
              <a:ahLst/>
              <a:cxnLst/>
              <a:rect r="r" b="b" t="t" l="l"/>
              <a:pathLst>
                <a:path h="413477" w="1122418">
                  <a:moveTo>
                    <a:pt x="26715" y="0"/>
                  </a:moveTo>
                  <a:lnTo>
                    <a:pt x="1095703" y="0"/>
                  </a:lnTo>
                  <a:cubicBezTo>
                    <a:pt x="1110457" y="0"/>
                    <a:pt x="1122418" y="11961"/>
                    <a:pt x="1122418" y="26715"/>
                  </a:cubicBezTo>
                  <a:lnTo>
                    <a:pt x="1122418" y="386761"/>
                  </a:lnTo>
                  <a:cubicBezTo>
                    <a:pt x="1122418" y="401516"/>
                    <a:pt x="1110457" y="413477"/>
                    <a:pt x="1095703" y="413477"/>
                  </a:cubicBezTo>
                  <a:lnTo>
                    <a:pt x="26715" y="413477"/>
                  </a:lnTo>
                  <a:cubicBezTo>
                    <a:pt x="11961" y="413477"/>
                    <a:pt x="0" y="401516"/>
                    <a:pt x="0" y="386761"/>
                  </a:cubicBezTo>
                  <a:lnTo>
                    <a:pt x="0" y="26715"/>
                  </a:lnTo>
                  <a:cubicBezTo>
                    <a:pt x="0" y="11961"/>
                    <a:pt x="11961" y="0"/>
                    <a:pt x="26715" y="0"/>
                  </a:cubicBezTo>
                  <a:close/>
                </a:path>
              </a:pathLst>
            </a:custGeom>
            <a:blipFill>
              <a:blip r:embed="rId4"/>
              <a:stretch>
                <a:fillRect l="0" t="0" r="0" b="-54052"/>
              </a:stretch>
            </a:blipFill>
          </p:spPr>
        </p:sp>
      </p:grpSp>
      <p:sp>
        <p:nvSpPr>
          <p:cNvPr name="Freeform 21" id="21"/>
          <p:cNvSpPr/>
          <p:nvPr/>
        </p:nvSpPr>
        <p:spPr>
          <a:xfrm flipH="false" flipV="false" rot="0">
            <a:off x="13568711" y="-4805116"/>
            <a:ext cx="9438577" cy="6748583"/>
          </a:xfrm>
          <a:custGeom>
            <a:avLst/>
            <a:gdLst/>
            <a:ahLst/>
            <a:cxnLst/>
            <a:rect r="r" b="b" t="t" l="l"/>
            <a:pathLst>
              <a:path h="6748583" w="9438577">
                <a:moveTo>
                  <a:pt x="0" y="0"/>
                </a:moveTo>
                <a:lnTo>
                  <a:pt x="9438578" y="0"/>
                </a:lnTo>
                <a:lnTo>
                  <a:pt x="9438578" y="6748583"/>
                </a:lnTo>
                <a:lnTo>
                  <a:pt x="0" y="674858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22" id="22"/>
          <p:cNvGrpSpPr/>
          <p:nvPr/>
        </p:nvGrpSpPr>
        <p:grpSpPr>
          <a:xfrm rot="0">
            <a:off x="16128358" y="-1345011"/>
            <a:ext cx="4155559" cy="3571183"/>
            <a:chOff x="0" y="0"/>
            <a:chExt cx="812800" cy="698500"/>
          </a:xfrm>
        </p:grpSpPr>
        <p:sp>
          <p:nvSpPr>
            <p:cNvPr name="Freeform 23" id="23"/>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24" id="24"/>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grpSp>
        <p:nvGrpSpPr>
          <p:cNvPr name="Group 25" id="25"/>
          <p:cNvGrpSpPr/>
          <p:nvPr/>
        </p:nvGrpSpPr>
        <p:grpSpPr>
          <a:xfrm rot="0">
            <a:off x="15234643" y="-327456"/>
            <a:ext cx="1787431" cy="1536073"/>
            <a:chOff x="0" y="0"/>
            <a:chExt cx="812800" cy="698500"/>
          </a:xfrm>
        </p:grpSpPr>
        <p:sp>
          <p:nvSpPr>
            <p:cNvPr name="Freeform 26" id="26"/>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27" id="27"/>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sp>
        <p:nvSpPr>
          <p:cNvPr name="TextBox 28" id="28"/>
          <p:cNvSpPr txBox="true"/>
          <p:nvPr/>
        </p:nvSpPr>
        <p:spPr>
          <a:xfrm rot="0">
            <a:off x="1028700" y="849292"/>
            <a:ext cx="2917936" cy="330240"/>
          </a:xfrm>
          <a:prstGeom prst="rect">
            <a:avLst/>
          </a:prstGeom>
        </p:spPr>
        <p:txBody>
          <a:bodyPr anchor="t" rtlCol="false" tIns="0" lIns="0" bIns="0" rIns="0">
            <a:spAutoFit/>
          </a:bodyPr>
          <a:lstStyle/>
          <a:p>
            <a:pPr algn="l">
              <a:lnSpc>
                <a:spcPts val="2797"/>
              </a:lnSpc>
              <a:spcBef>
                <a:spcPct val="0"/>
              </a:spcBef>
            </a:pPr>
            <a:r>
              <a:rPr lang="en-US" sz="1998">
                <a:solidFill>
                  <a:srgbClr val="000000"/>
                </a:solidFill>
                <a:latin typeface="Montserrat Light"/>
                <a:ea typeface="Montserrat Light"/>
                <a:cs typeface="Montserrat Light"/>
                <a:sym typeface="Montserrat Light"/>
              </a:rPr>
              <a:t>Thynk Unlimited</a:t>
            </a:r>
          </a:p>
        </p:txBody>
      </p:sp>
      <p:sp>
        <p:nvSpPr>
          <p:cNvPr name="TextBox 29" id="29"/>
          <p:cNvSpPr txBox="true"/>
          <p:nvPr/>
        </p:nvSpPr>
        <p:spPr>
          <a:xfrm rot="0">
            <a:off x="10781488" y="2559350"/>
            <a:ext cx="5986116" cy="1009254"/>
          </a:xfrm>
          <a:prstGeom prst="rect">
            <a:avLst/>
          </a:prstGeom>
        </p:spPr>
        <p:txBody>
          <a:bodyPr anchor="t" rtlCol="false" tIns="0" lIns="0" bIns="0" rIns="0">
            <a:spAutoFit/>
          </a:bodyPr>
          <a:lstStyle/>
          <a:p>
            <a:pPr algn="l">
              <a:lnSpc>
                <a:spcPts val="8240"/>
              </a:lnSpc>
              <a:spcBef>
                <a:spcPct val="0"/>
              </a:spcBef>
            </a:pPr>
            <a:r>
              <a:rPr lang="en-US" b="true" sz="5885">
                <a:solidFill>
                  <a:srgbClr val="000000"/>
                </a:solidFill>
                <a:latin typeface="TT Lakes Neue Extended Bold"/>
                <a:ea typeface="TT Lakes Neue Extended Bold"/>
                <a:cs typeface="TT Lakes Neue Extended Bold"/>
                <a:sym typeface="TT Lakes Neue Extended Bold"/>
              </a:rPr>
              <a:t>STRENGTHS</a:t>
            </a:r>
          </a:p>
        </p:txBody>
      </p:sp>
      <p:sp>
        <p:nvSpPr>
          <p:cNvPr name="TextBox 30" id="30"/>
          <p:cNvSpPr txBox="true"/>
          <p:nvPr/>
        </p:nvSpPr>
        <p:spPr>
          <a:xfrm rot="0">
            <a:off x="10781488" y="4409458"/>
            <a:ext cx="5986116" cy="2323505"/>
          </a:xfrm>
          <a:prstGeom prst="rect">
            <a:avLst/>
          </a:prstGeom>
        </p:spPr>
        <p:txBody>
          <a:bodyPr anchor="t" rtlCol="false" tIns="0" lIns="0" bIns="0" rIns="0">
            <a:spAutoFit/>
          </a:bodyPr>
          <a:lstStyle/>
          <a:p>
            <a:pPr algn="l">
              <a:lnSpc>
                <a:spcPts val="2657"/>
              </a:lnSpc>
              <a:spcBef>
                <a:spcPct val="0"/>
              </a:spcBef>
            </a:pPr>
            <a:r>
              <a:rPr lang="en-US" sz="1898">
                <a:solidFill>
                  <a:srgbClr val="000000"/>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p>
        </p:txBody>
      </p:sp>
      <p:sp>
        <p:nvSpPr>
          <p:cNvPr name="TextBox 31" id="31"/>
          <p:cNvSpPr txBox="true"/>
          <p:nvPr/>
        </p:nvSpPr>
        <p:spPr>
          <a:xfrm rot="0">
            <a:off x="10781488" y="7184924"/>
            <a:ext cx="5986116" cy="1323380"/>
          </a:xfrm>
          <a:prstGeom prst="rect">
            <a:avLst/>
          </a:prstGeom>
        </p:spPr>
        <p:txBody>
          <a:bodyPr anchor="t" rtlCol="false" tIns="0" lIns="0" bIns="0" rIns="0">
            <a:spAutoFit/>
          </a:bodyPr>
          <a:lstStyle/>
          <a:p>
            <a:pPr algn="l">
              <a:lnSpc>
                <a:spcPts val="2657"/>
              </a:lnSpc>
              <a:spcBef>
                <a:spcPct val="0"/>
              </a:spcBef>
            </a:pPr>
            <a:r>
              <a:rPr lang="en-US" sz="1898">
                <a:solidFill>
                  <a:srgbClr val="000000"/>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32" id="32"/>
          <p:cNvSpPr txBox="true"/>
          <p:nvPr/>
        </p:nvSpPr>
        <p:spPr>
          <a:xfrm rot="0">
            <a:off x="2251964" y="5309559"/>
            <a:ext cx="6513288"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Simpl</a:t>
            </a:r>
            <a:r>
              <a:rPr lang="en-US" b="true" sz="2198">
                <a:solidFill>
                  <a:srgbClr val="FFFFFF"/>
                </a:solidFill>
                <a:latin typeface="Montserrat Bold"/>
                <a:ea typeface="Montserrat Bold"/>
                <a:cs typeface="Montserrat Bold"/>
                <a:sym typeface="Montserrat Bold"/>
              </a:rPr>
              <a:t>e and user-focused solutions</a:t>
            </a:r>
          </a:p>
        </p:txBody>
      </p:sp>
      <p:sp>
        <p:nvSpPr>
          <p:cNvPr name="TextBox 33" id="33"/>
          <p:cNvSpPr txBox="true"/>
          <p:nvPr/>
        </p:nvSpPr>
        <p:spPr>
          <a:xfrm rot="0">
            <a:off x="2251964" y="6204514"/>
            <a:ext cx="6513288"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Flexibl</a:t>
            </a:r>
            <a:r>
              <a:rPr lang="en-US" b="true" sz="2198">
                <a:solidFill>
                  <a:srgbClr val="FFFFFF"/>
                </a:solidFill>
                <a:latin typeface="Montserrat Bold"/>
                <a:ea typeface="Montserrat Bold"/>
                <a:cs typeface="Montserrat Bold"/>
                <a:sym typeface="Montserrat Bold"/>
              </a:rPr>
              <a:t>e and adaptive working process</a:t>
            </a:r>
          </a:p>
        </p:txBody>
      </p:sp>
      <p:sp>
        <p:nvSpPr>
          <p:cNvPr name="TextBox 34" id="34"/>
          <p:cNvSpPr txBox="true"/>
          <p:nvPr/>
        </p:nvSpPr>
        <p:spPr>
          <a:xfrm rot="0">
            <a:off x="2251964" y="7099468"/>
            <a:ext cx="6513288"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Skill</a:t>
            </a:r>
            <a:r>
              <a:rPr lang="en-US" b="true" sz="2198">
                <a:solidFill>
                  <a:srgbClr val="FFFFFF"/>
                </a:solidFill>
                <a:latin typeface="Montserrat Bold"/>
                <a:ea typeface="Montserrat Bold"/>
                <a:cs typeface="Montserrat Bold"/>
                <a:sym typeface="Montserrat Bold"/>
              </a:rPr>
              <a:t>ed and collaborative team</a:t>
            </a:r>
          </a:p>
        </p:txBody>
      </p:sp>
      <p:sp>
        <p:nvSpPr>
          <p:cNvPr name="TextBox 35" id="35"/>
          <p:cNvSpPr txBox="true"/>
          <p:nvPr/>
        </p:nvSpPr>
        <p:spPr>
          <a:xfrm rot="0">
            <a:off x="2251964" y="7994422"/>
            <a:ext cx="6513288" cy="372785"/>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Stro</a:t>
            </a:r>
            <a:r>
              <a:rPr lang="en-US" b="true" sz="2198">
                <a:solidFill>
                  <a:srgbClr val="FFFFFF"/>
                </a:solidFill>
                <a:latin typeface="Montserrat Bold"/>
                <a:ea typeface="Montserrat Bold"/>
                <a:cs typeface="Montserrat Bold"/>
                <a:sym typeface="Montserrat Bold"/>
              </a:rPr>
              <a:t>ng focus on quality and reliability</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true" rot="0">
            <a:off x="0" y="0"/>
            <a:ext cx="18288000" cy="10287000"/>
          </a:xfrm>
          <a:custGeom>
            <a:avLst/>
            <a:gdLst/>
            <a:ahLst/>
            <a:cxnLst/>
            <a:rect r="r" b="b" t="t" l="l"/>
            <a:pathLst>
              <a:path h="10287000" w="18288000">
                <a:moveTo>
                  <a:pt x="0" y="10287000"/>
                </a:moveTo>
                <a:lnTo>
                  <a:pt x="18288000" y="10287000"/>
                </a:lnTo>
                <a:lnTo>
                  <a:pt x="18288000" y="0"/>
                </a:lnTo>
                <a:lnTo>
                  <a:pt x="0" y="0"/>
                </a:lnTo>
                <a:lnTo>
                  <a:pt x="0" y="10287000"/>
                </a:lnTo>
                <a:close/>
              </a:path>
            </a:pathLst>
          </a:custGeom>
          <a:blipFill>
            <a:blip r:embed="rId2"/>
            <a:stretch>
              <a:fillRect l="0" t="-124631" r="-124631" b="0"/>
            </a:stretch>
          </a:blipFill>
        </p:spPr>
      </p:sp>
      <p:grpSp>
        <p:nvGrpSpPr>
          <p:cNvPr name="Group 3" id="3"/>
          <p:cNvGrpSpPr/>
          <p:nvPr/>
        </p:nvGrpSpPr>
        <p:grpSpPr>
          <a:xfrm rot="0">
            <a:off x="1520396" y="5942175"/>
            <a:ext cx="3484988" cy="2937966"/>
            <a:chOff x="0" y="0"/>
            <a:chExt cx="390981" cy="329610"/>
          </a:xfrm>
        </p:grpSpPr>
        <p:sp>
          <p:nvSpPr>
            <p:cNvPr name="Freeform 4" id="4"/>
            <p:cNvSpPr/>
            <p:nvPr/>
          </p:nvSpPr>
          <p:spPr>
            <a:xfrm flipH="false" flipV="false" rot="0">
              <a:off x="0" y="0"/>
              <a:ext cx="390981" cy="329610"/>
            </a:xfrm>
            <a:custGeom>
              <a:avLst/>
              <a:gdLst/>
              <a:ahLst/>
              <a:cxnLst/>
              <a:rect r="r" b="b" t="t" l="l"/>
              <a:pathLst>
                <a:path h="329610" w="390981">
                  <a:moveTo>
                    <a:pt x="55538" y="0"/>
                  </a:moveTo>
                  <a:lnTo>
                    <a:pt x="335443" y="0"/>
                  </a:lnTo>
                  <a:cubicBezTo>
                    <a:pt x="366116" y="0"/>
                    <a:pt x="390981" y="24865"/>
                    <a:pt x="390981" y="55538"/>
                  </a:cubicBezTo>
                  <a:lnTo>
                    <a:pt x="390981" y="274073"/>
                  </a:lnTo>
                  <a:cubicBezTo>
                    <a:pt x="390981" y="304745"/>
                    <a:pt x="366116" y="329610"/>
                    <a:pt x="335443" y="329610"/>
                  </a:cubicBezTo>
                  <a:lnTo>
                    <a:pt x="55538" y="329610"/>
                  </a:lnTo>
                  <a:cubicBezTo>
                    <a:pt x="24865" y="329610"/>
                    <a:pt x="0" y="304745"/>
                    <a:pt x="0" y="274073"/>
                  </a:cubicBezTo>
                  <a:lnTo>
                    <a:pt x="0" y="55538"/>
                  </a:lnTo>
                  <a:cubicBezTo>
                    <a:pt x="0" y="24865"/>
                    <a:pt x="24865" y="0"/>
                    <a:pt x="55538" y="0"/>
                  </a:cubicBezTo>
                  <a:close/>
                </a:path>
              </a:pathLst>
            </a:custGeom>
            <a:gradFill rotWithShape="true">
              <a:gsLst>
                <a:gs pos="0">
                  <a:srgbClr val="31A1D4">
                    <a:alpha val="47000"/>
                  </a:srgbClr>
                </a:gs>
                <a:gs pos="100000">
                  <a:srgbClr val="035E8E">
                    <a:alpha val="0"/>
                  </a:srgbClr>
                </a:gs>
              </a:gsLst>
              <a:lin ang="2700000"/>
            </a:gradFill>
          </p:spPr>
        </p:sp>
        <p:sp>
          <p:nvSpPr>
            <p:cNvPr name="TextBox 5" id="5"/>
            <p:cNvSpPr txBox="true"/>
            <p:nvPr/>
          </p:nvSpPr>
          <p:spPr>
            <a:xfrm>
              <a:off x="0" y="-38100"/>
              <a:ext cx="390981" cy="367710"/>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6" id="6"/>
          <p:cNvGrpSpPr/>
          <p:nvPr/>
        </p:nvGrpSpPr>
        <p:grpSpPr>
          <a:xfrm rot="0">
            <a:off x="5441136" y="5942175"/>
            <a:ext cx="3484988" cy="2937966"/>
            <a:chOff x="0" y="0"/>
            <a:chExt cx="390981" cy="329610"/>
          </a:xfrm>
        </p:grpSpPr>
        <p:sp>
          <p:nvSpPr>
            <p:cNvPr name="Freeform 7" id="7"/>
            <p:cNvSpPr/>
            <p:nvPr/>
          </p:nvSpPr>
          <p:spPr>
            <a:xfrm flipH="false" flipV="false" rot="0">
              <a:off x="0" y="0"/>
              <a:ext cx="390981" cy="329610"/>
            </a:xfrm>
            <a:custGeom>
              <a:avLst/>
              <a:gdLst/>
              <a:ahLst/>
              <a:cxnLst/>
              <a:rect r="r" b="b" t="t" l="l"/>
              <a:pathLst>
                <a:path h="329610" w="390981">
                  <a:moveTo>
                    <a:pt x="55538" y="0"/>
                  </a:moveTo>
                  <a:lnTo>
                    <a:pt x="335443" y="0"/>
                  </a:lnTo>
                  <a:cubicBezTo>
                    <a:pt x="366116" y="0"/>
                    <a:pt x="390981" y="24865"/>
                    <a:pt x="390981" y="55538"/>
                  </a:cubicBezTo>
                  <a:lnTo>
                    <a:pt x="390981" y="274073"/>
                  </a:lnTo>
                  <a:cubicBezTo>
                    <a:pt x="390981" y="304745"/>
                    <a:pt x="366116" y="329610"/>
                    <a:pt x="335443" y="329610"/>
                  </a:cubicBezTo>
                  <a:lnTo>
                    <a:pt x="55538" y="329610"/>
                  </a:lnTo>
                  <a:cubicBezTo>
                    <a:pt x="24865" y="329610"/>
                    <a:pt x="0" y="304745"/>
                    <a:pt x="0" y="274073"/>
                  </a:cubicBezTo>
                  <a:lnTo>
                    <a:pt x="0" y="55538"/>
                  </a:lnTo>
                  <a:cubicBezTo>
                    <a:pt x="0" y="24865"/>
                    <a:pt x="24865" y="0"/>
                    <a:pt x="55538" y="0"/>
                  </a:cubicBezTo>
                  <a:close/>
                </a:path>
              </a:pathLst>
            </a:custGeom>
            <a:gradFill rotWithShape="true">
              <a:gsLst>
                <a:gs pos="0">
                  <a:srgbClr val="31A1D4">
                    <a:alpha val="47000"/>
                  </a:srgbClr>
                </a:gs>
                <a:gs pos="100000">
                  <a:srgbClr val="035E8E">
                    <a:alpha val="0"/>
                  </a:srgbClr>
                </a:gs>
              </a:gsLst>
              <a:lin ang="2700000"/>
            </a:gradFill>
          </p:spPr>
        </p:sp>
        <p:sp>
          <p:nvSpPr>
            <p:cNvPr name="TextBox 8" id="8"/>
            <p:cNvSpPr txBox="true"/>
            <p:nvPr/>
          </p:nvSpPr>
          <p:spPr>
            <a:xfrm>
              <a:off x="0" y="-38100"/>
              <a:ext cx="390981" cy="367710"/>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9" id="9"/>
          <p:cNvGrpSpPr/>
          <p:nvPr/>
        </p:nvGrpSpPr>
        <p:grpSpPr>
          <a:xfrm rot="0">
            <a:off x="9361876" y="5942175"/>
            <a:ext cx="3484988" cy="2937966"/>
            <a:chOff x="0" y="0"/>
            <a:chExt cx="390981" cy="329610"/>
          </a:xfrm>
        </p:grpSpPr>
        <p:sp>
          <p:nvSpPr>
            <p:cNvPr name="Freeform 10" id="10"/>
            <p:cNvSpPr/>
            <p:nvPr/>
          </p:nvSpPr>
          <p:spPr>
            <a:xfrm flipH="false" flipV="false" rot="0">
              <a:off x="0" y="0"/>
              <a:ext cx="390981" cy="329610"/>
            </a:xfrm>
            <a:custGeom>
              <a:avLst/>
              <a:gdLst/>
              <a:ahLst/>
              <a:cxnLst/>
              <a:rect r="r" b="b" t="t" l="l"/>
              <a:pathLst>
                <a:path h="329610" w="390981">
                  <a:moveTo>
                    <a:pt x="55538" y="0"/>
                  </a:moveTo>
                  <a:lnTo>
                    <a:pt x="335443" y="0"/>
                  </a:lnTo>
                  <a:cubicBezTo>
                    <a:pt x="366116" y="0"/>
                    <a:pt x="390981" y="24865"/>
                    <a:pt x="390981" y="55538"/>
                  </a:cubicBezTo>
                  <a:lnTo>
                    <a:pt x="390981" y="274073"/>
                  </a:lnTo>
                  <a:cubicBezTo>
                    <a:pt x="390981" y="304745"/>
                    <a:pt x="366116" y="329610"/>
                    <a:pt x="335443" y="329610"/>
                  </a:cubicBezTo>
                  <a:lnTo>
                    <a:pt x="55538" y="329610"/>
                  </a:lnTo>
                  <a:cubicBezTo>
                    <a:pt x="24865" y="329610"/>
                    <a:pt x="0" y="304745"/>
                    <a:pt x="0" y="274073"/>
                  </a:cubicBezTo>
                  <a:lnTo>
                    <a:pt x="0" y="55538"/>
                  </a:lnTo>
                  <a:cubicBezTo>
                    <a:pt x="0" y="24865"/>
                    <a:pt x="24865" y="0"/>
                    <a:pt x="55538" y="0"/>
                  </a:cubicBezTo>
                  <a:close/>
                </a:path>
              </a:pathLst>
            </a:custGeom>
            <a:gradFill rotWithShape="true">
              <a:gsLst>
                <a:gs pos="0">
                  <a:srgbClr val="31A1D4">
                    <a:alpha val="47000"/>
                  </a:srgbClr>
                </a:gs>
                <a:gs pos="100000">
                  <a:srgbClr val="035E8E">
                    <a:alpha val="0"/>
                  </a:srgbClr>
                </a:gs>
              </a:gsLst>
              <a:lin ang="2700000"/>
            </a:gradFill>
          </p:spPr>
        </p:sp>
        <p:sp>
          <p:nvSpPr>
            <p:cNvPr name="TextBox 11" id="11"/>
            <p:cNvSpPr txBox="true"/>
            <p:nvPr/>
          </p:nvSpPr>
          <p:spPr>
            <a:xfrm>
              <a:off x="0" y="-38100"/>
              <a:ext cx="390981" cy="367710"/>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12" id="12"/>
          <p:cNvGrpSpPr/>
          <p:nvPr/>
        </p:nvGrpSpPr>
        <p:grpSpPr>
          <a:xfrm rot="0">
            <a:off x="13282616" y="5942175"/>
            <a:ext cx="3484988" cy="2937966"/>
            <a:chOff x="0" y="0"/>
            <a:chExt cx="390981" cy="329610"/>
          </a:xfrm>
        </p:grpSpPr>
        <p:sp>
          <p:nvSpPr>
            <p:cNvPr name="Freeform 13" id="13"/>
            <p:cNvSpPr/>
            <p:nvPr/>
          </p:nvSpPr>
          <p:spPr>
            <a:xfrm flipH="false" flipV="false" rot="0">
              <a:off x="0" y="0"/>
              <a:ext cx="390981" cy="329610"/>
            </a:xfrm>
            <a:custGeom>
              <a:avLst/>
              <a:gdLst/>
              <a:ahLst/>
              <a:cxnLst/>
              <a:rect r="r" b="b" t="t" l="l"/>
              <a:pathLst>
                <a:path h="329610" w="390981">
                  <a:moveTo>
                    <a:pt x="55538" y="0"/>
                  </a:moveTo>
                  <a:lnTo>
                    <a:pt x="335443" y="0"/>
                  </a:lnTo>
                  <a:cubicBezTo>
                    <a:pt x="366116" y="0"/>
                    <a:pt x="390981" y="24865"/>
                    <a:pt x="390981" y="55538"/>
                  </a:cubicBezTo>
                  <a:lnTo>
                    <a:pt x="390981" y="274073"/>
                  </a:lnTo>
                  <a:cubicBezTo>
                    <a:pt x="390981" y="304745"/>
                    <a:pt x="366116" y="329610"/>
                    <a:pt x="335443" y="329610"/>
                  </a:cubicBezTo>
                  <a:lnTo>
                    <a:pt x="55538" y="329610"/>
                  </a:lnTo>
                  <a:cubicBezTo>
                    <a:pt x="24865" y="329610"/>
                    <a:pt x="0" y="304745"/>
                    <a:pt x="0" y="274073"/>
                  </a:cubicBezTo>
                  <a:lnTo>
                    <a:pt x="0" y="55538"/>
                  </a:lnTo>
                  <a:cubicBezTo>
                    <a:pt x="0" y="24865"/>
                    <a:pt x="24865" y="0"/>
                    <a:pt x="55538" y="0"/>
                  </a:cubicBezTo>
                  <a:close/>
                </a:path>
              </a:pathLst>
            </a:custGeom>
            <a:gradFill rotWithShape="true">
              <a:gsLst>
                <a:gs pos="0">
                  <a:srgbClr val="31A1D4">
                    <a:alpha val="47000"/>
                  </a:srgbClr>
                </a:gs>
                <a:gs pos="100000">
                  <a:srgbClr val="035E8E">
                    <a:alpha val="0"/>
                  </a:srgbClr>
                </a:gs>
              </a:gsLst>
              <a:lin ang="2700000"/>
            </a:gradFill>
          </p:spPr>
        </p:sp>
        <p:sp>
          <p:nvSpPr>
            <p:cNvPr name="TextBox 14" id="14"/>
            <p:cNvSpPr txBox="true"/>
            <p:nvPr/>
          </p:nvSpPr>
          <p:spPr>
            <a:xfrm>
              <a:off x="0" y="-38100"/>
              <a:ext cx="390981" cy="367710"/>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15" id="15"/>
          <p:cNvGrpSpPr/>
          <p:nvPr/>
        </p:nvGrpSpPr>
        <p:grpSpPr>
          <a:xfrm rot="0">
            <a:off x="2510144" y="5375043"/>
            <a:ext cx="1505491" cy="1406285"/>
            <a:chOff x="0" y="0"/>
            <a:chExt cx="1637191" cy="1529306"/>
          </a:xfrm>
        </p:grpSpPr>
        <p:sp>
          <p:nvSpPr>
            <p:cNvPr name="Freeform 16" id="16"/>
            <p:cNvSpPr/>
            <p:nvPr/>
          </p:nvSpPr>
          <p:spPr>
            <a:xfrm flipH="false" flipV="false" rot="0">
              <a:off x="0" y="0"/>
              <a:ext cx="1637191" cy="1529306"/>
            </a:xfrm>
            <a:custGeom>
              <a:avLst/>
              <a:gdLst/>
              <a:ahLst/>
              <a:cxnLst/>
              <a:rect r="r" b="b" t="t" l="l"/>
              <a:pathLst>
                <a:path h="1529306" w="1637191">
                  <a:moveTo>
                    <a:pt x="56567" y="0"/>
                  </a:moveTo>
                  <a:lnTo>
                    <a:pt x="1580624" y="0"/>
                  </a:lnTo>
                  <a:cubicBezTo>
                    <a:pt x="1595626" y="0"/>
                    <a:pt x="1610014" y="5960"/>
                    <a:pt x="1620622" y="16568"/>
                  </a:cubicBezTo>
                  <a:cubicBezTo>
                    <a:pt x="1631231" y="27176"/>
                    <a:pt x="1637191" y="41564"/>
                    <a:pt x="1637191" y="56567"/>
                  </a:cubicBezTo>
                  <a:lnTo>
                    <a:pt x="1637191" y="1472739"/>
                  </a:lnTo>
                  <a:cubicBezTo>
                    <a:pt x="1637191" y="1487741"/>
                    <a:pt x="1631231" y="1502129"/>
                    <a:pt x="1620622" y="1512738"/>
                  </a:cubicBezTo>
                  <a:cubicBezTo>
                    <a:pt x="1610014" y="1523346"/>
                    <a:pt x="1595626" y="1529306"/>
                    <a:pt x="1580624" y="1529306"/>
                  </a:cubicBezTo>
                  <a:lnTo>
                    <a:pt x="56567" y="1529306"/>
                  </a:lnTo>
                  <a:cubicBezTo>
                    <a:pt x="41564" y="1529306"/>
                    <a:pt x="27176" y="1523346"/>
                    <a:pt x="16568" y="1512738"/>
                  </a:cubicBezTo>
                  <a:cubicBezTo>
                    <a:pt x="5960" y="1502129"/>
                    <a:pt x="0" y="1487741"/>
                    <a:pt x="0" y="1472739"/>
                  </a:cubicBezTo>
                  <a:lnTo>
                    <a:pt x="0" y="56567"/>
                  </a:lnTo>
                  <a:cubicBezTo>
                    <a:pt x="0" y="41564"/>
                    <a:pt x="5960" y="27176"/>
                    <a:pt x="16568" y="16568"/>
                  </a:cubicBezTo>
                  <a:cubicBezTo>
                    <a:pt x="27176" y="5960"/>
                    <a:pt x="41564" y="0"/>
                    <a:pt x="56567" y="0"/>
                  </a:cubicBezTo>
                  <a:close/>
                </a:path>
              </a:pathLst>
            </a:custGeom>
            <a:gradFill rotWithShape="true">
              <a:gsLst>
                <a:gs pos="0">
                  <a:srgbClr val="31A1D4">
                    <a:alpha val="100000"/>
                  </a:srgbClr>
                </a:gs>
                <a:gs pos="100000">
                  <a:srgbClr val="035E8E">
                    <a:alpha val="0"/>
                  </a:srgbClr>
                </a:gs>
              </a:gsLst>
              <a:lin ang="2700000"/>
            </a:gradFill>
          </p:spPr>
        </p:sp>
        <p:sp>
          <p:nvSpPr>
            <p:cNvPr name="TextBox 17" id="17"/>
            <p:cNvSpPr txBox="true"/>
            <p:nvPr/>
          </p:nvSpPr>
          <p:spPr>
            <a:xfrm>
              <a:off x="0" y="-38100"/>
              <a:ext cx="1637191" cy="1567406"/>
            </a:xfrm>
            <a:prstGeom prst="rect">
              <a:avLst/>
            </a:prstGeom>
          </p:spPr>
          <p:txBody>
            <a:bodyPr anchor="ctr" rtlCol="false" tIns="50800" lIns="50800" bIns="50800" rIns="50800"/>
            <a:lstStyle/>
            <a:p>
              <a:pPr algn="ctr">
                <a:lnSpc>
                  <a:spcPts val="3077"/>
                </a:lnSpc>
              </a:pPr>
            </a:p>
          </p:txBody>
        </p:sp>
      </p:grpSp>
      <p:grpSp>
        <p:nvGrpSpPr>
          <p:cNvPr name="Group 18" id="18"/>
          <p:cNvGrpSpPr/>
          <p:nvPr/>
        </p:nvGrpSpPr>
        <p:grpSpPr>
          <a:xfrm rot="0">
            <a:off x="6430884" y="5375043"/>
            <a:ext cx="1505491" cy="1406285"/>
            <a:chOff x="0" y="0"/>
            <a:chExt cx="1637191" cy="1529306"/>
          </a:xfrm>
        </p:grpSpPr>
        <p:sp>
          <p:nvSpPr>
            <p:cNvPr name="Freeform 19" id="19"/>
            <p:cNvSpPr/>
            <p:nvPr/>
          </p:nvSpPr>
          <p:spPr>
            <a:xfrm flipH="false" flipV="false" rot="0">
              <a:off x="0" y="0"/>
              <a:ext cx="1637191" cy="1529306"/>
            </a:xfrm>
            <a:custGeom>
              <a:avLst/>
              <a:gdLst/>
              <a:ahLst/>
              <a:cxnLst/>
              <a:rect r="r" b="b" t="t" l="l"/>
              <a:pathLst>
                <a:path h="1529306" w="1637191">
                  <a:moveTo>
                    <a:pt x="56567" y="0"/>
                  </a:moveTo>
                  <a:lnTo>
                    <a:pt x="1580624" y="0"/>
                  </a:lnTo>
                  <a:cubicBezTo>
                    <a:pt x="1595626" y="0"/>
                    <a:pt x="1610014" y="5960"/>
                    <a:pt x="1620622" y="16568"/>
                  </a:cubicBezTo>
                  <a:cubicBezTo>
                    <a:pt x="1631231" y="27176"/>
                    <a:pt x="1637191" y="41564"/>
                    <a:pt x="1637191" y="56567"/>
                  </a:cubicBezTo>
                  <a:lnTo>
                    <a:pt x="1637191" y="1472739"/>
                  </a:lnTo>
                  <a:cubicBezTo>
                    <a:pt x="1637191" y="1487741"/>
                    <a:pt x="1631231" y="1502129"/>
                    <a:pt x="1620622" y="1512738"/>
                  </a:cubicBezTo>
                  <a:cubicBezTo>
                    <a:pt x="1610014" y="1523346"/>
                    <a:pt x="1595626" y="1529306"/>
                    <a:pt x="1580624" y="1529306"/>
                  </a:cubicBezTo>
                  <a:lnTo>
                    <a:pt x="56567" y="1529306"/>
                  </a:lnTo>
                  <a:cubicBezTo>
                    <a:pt x="41564" y="1529306"/>
                    <a:pt x="27176" y="1523346"/>
                    <a:pt x="16568" y="1512738"/>
                  </a:cubicBezTo>
                  <a:cubicBezTo>
                    <a:pt x="5960" y="1502129"/>
                    <a:pt x="0" y="1487741"/>
                    <a:pt x="0" y="1472739"/>
                  </a:cubicBezTo>
                  <a:lnTo>
                    <a:pt x="0" y="56567"/>
                  </a:lnTo>
                  <a:cubicBezTo>
                    <a:pt x="0" y="41564"/>
                    <a:pt x="5960" y="27176"/>
                    <a:pt x="16568" y="16568"/>
                  </a:cubicBezTo>
                  <a:cubicBezTo>
                    <a:pt x="27176" y="5960"/>
                    <a:pt x="41564" y="0"/>
                    <a:pt x="56567" y="0"/>
                  </a:cubicBezTo>
                  <a:close/>
                </a:path>
              </a:pathLst>
            </a:custGeom>
            <a:gradFill rotWithShape="true">
              <a:gsLst>
                <a:gs pos="0">
                  <a:srgbClr val="31A1D4">
                    <a:alpha val="100000"/>
                  </a:srgbClr>
                </a:gs>
                <a:gs pos="100000">
                  <a:srgbClr val="035E8E">
                    <a:alpha val="0"/>
                  </a:srgbClr>
                </a:gs>
              </a:gsLst>
              <a:lin ang="2700000"/>
            </a:gradFill>
          </p:spPr>
        </p:sp>
        <p:sp>
          <p:nvSpPr>
            <p:cNvPr name="TextBox 20" id="20"/>
            <p:cNvSpPr txBox="true"/>
            <p:nvPr/>
          </p:nvSpPr>
          <p:spPr>
            <a:xfrm>
              <a:off x="0" y="-38100"/>
              <a:ext cx="1637191" cy="1567406"/>
            </a:xfrm>
            <a:prstGeom prst="rect">
              <a:avLst/>
            </a:prstGeom>
          </p:spPr>
          <p:txBody>
            <a:bodyPr anchor="ctr" rtlCol="false" tIns="50800" lIns="50800" bIns="50800" rIns="50800"/>
            <a:lstStyle/>
            <a:p>
              <a:pPr algn="ctr">
                <a:lnSpc>
                  <a:spcPts val="3077"/>
                </a:lnSpc>
              </a:pPr>
            </a:p>
          </p:txBody>
        </p:sp>
      </p:grpSp>
      <p:grpSp>
        <p:nvGrpSpPr>
          <p:cNvPr name="Group 21" id="21"/>
          <p:cNvGrpSpPr/>
          <p:nvPr/>
        </p:nvGrpSpPr>
        <p:grpSpPr>
          <a:xfrm rot="0">
            <a:off x="10351624" y="5375043"/>
            <a:ext cx="1505491" cy="1406285"/>
            <a:chOff x="0" y="0"/>
            <a:chExt cx="1637191" cy="1529306"/>
          </a:xfrm>
        </p:grpSpPr>
        <p:sp>
          <p:nvSpPr>
            <p:cNvPr name="Freeform 22" id="22"/>
            <p:cNvSpPr/>
            <p:nvPr/>
          </p:nvSpPr>
          <p:spPr>
            <a:xfrm flipH="false" flipV="false" rot="0">
              <a:off x="0" y="0"/>
              <a:ext cx="1637191" cy="1529306"/>
            </a:xfrm>
            <a:custGeom>
              <a:avLst/>
              <a:gdLst/>
              <a:ahLst/>
              <a:cxnLst/>
              <a:rect r="r" b="b" t="t" l="l"/>
              <a:pathLst>
                <a:path h="1529306" w="1637191">
                  <a:moveTo>
                    <a:pt x="56567" y="0"/>
                  </a:moveTo>
                  <a:lnTo>
                    <a:pt x="1580624" y="0"/>
                  </a:lnTo>
                  <a:cubicBezTo>
                    <a:pt x="1595626" y="0"/>
                    <a:pt x="1610014" y="5960"/>
                    <a:pt x="1620622" y="16568"/>
                  </a:cubicBezTo>
                  <a:cubicBezTo>
                    <a:pt x="1631231" y="27176"/>
                    <a:pt x="1637191" y="41564"/>
                    <a:pt x="1637191" y="56567"/>
                  </a:cubicBezTo>
                  <a:lnTo>
                    <a:pt x="1637191" y="1472739"/>
                  </a:lnTo>
                  <a:cubicBezTo>
                    <a:pt x="1637191" y="1487741"/>
                    <a:pt x="1631231" y="1502129"/>
                    <a:pt x="1620622" y="1512738"/>
                  </a:cubicBezTo>
                  <a:cubicBezTo>
                    <a:pt x="1610014" y="1523346"/>
                    <a:pt x="1595626" y="1529306"/>
                    <a:pt x="1580624" y="1529306"/>
                  </a:cubicBezTo>
                  <a:lnTo>
                    <a:pt x="56567" y="1529306"/>
                  </a:lnTo>
                  <a:cubicBezTo>
                    <a:pt x="41564" y="1529306"/>
                    <a:pt x="27176" y="1523346"/>
                    <a:pt x="16568" y="1512738"/>
                  </a:cubicBezTo>
                  <a:cubicBezTo>
                    <a:pt x="5960" y="1502129"/>
                    <a:pt x="0" y="1487741"/>
                    <a:pt x="0" y="1472739"/>
                  </a:cubicBezTo>
                  <a:lnTo>
                    <a:pt x="0" y="56567"/>
                  </a:lnTo>
                  <a:cubicBezTo>
                    <a:pt x="0" y="41564"/>
                    <a:pt x="5960" y="27176"/>
                    <a:pt x="16568" y="16568"/>
                  </a:cubicBezTo>
                  <a:cubicBezTo>
                    <a:pt x="27176" y="5960"/>
                    <a:pt x="41564" y="0"/>
                    <a:pt x="56567" y="0"/>
                  </a:cubicBezTo>
                  <a:close/>
                </a:path>
              </a:pathLst>
            </a:custGeom>
            <a:gradFill rotWithShape="true">
              <a:gsLst>
                <a:gs pos="0">
                  <a:srgbClr val="31A1D4">
                    <a:alpha val="100000"/>
                  </a:srgbClr>
                </a:gs>
                <a:gs pos="100000">
                  <a:srgbClr val="035E8E">
                    <a:alpha val="0"/>
                  </a:srgbClr>
                </a:gs>
              </a:gsLst>
              <a:lin ang="2700000"/>
            </a:gradFill>
          </p:spPr>
        </p:sp>
        <p:sp>
          <p:nvSpPr>
            <p:cNvPr name="TextBox 23" id="23"/>
            <p:cNvSpPr txBox="true"/>
            <p:nvPr/>
          </p:nvSpPr>
          <p:spPr>
            <a:xfrm>
              <a:off x="0" y="-38100"/>
              <a:ext cx="1637191" cy="1567406"/>
            </a:xfrm>
            <a:prstGeom prst="rect">
              <a:avLst/>
            </a:prstGeom>
          </p:spPr>
          <p:txBody>
            <a:bodyPr anchor="ctr" rtlCol="false" tIns="50800" lIns="50800" bIns="50800" rIns="50800"/>
            <a:lstStyle/>
            <a:p>
              <a:pPr algn="ctr">
                <a:lnSpc>
                  <a:spcPts val="3077"/>
                </a:lnSpc>
              </a:pPr>
            </a:p>
          </p:txBody>
        </p:sp>
      </p:grpSp>
      <p:grpSp>
        <p:nvGrpSpPr>
          <p:cNvPr name="Group 24" id="24"/>
          <p:cNvGrpSpPr/>
          <p:nvPr/>
        </p:nvGrpSpPr>
        <p:grpSpPr>
          <a:xfrm rot="0">
            <a:off x="14272365" y="5375043"/>
            <a:ext cx="1505491" cy="1406285"/>
            <a:chOff x="0" y="0"/>
            <a:chExt cx="1637191" cy="1529306"/>
          </a:xfrm>
        </p:grpSpPr>
        <p:sp>
          <p:nvSpPr>
            <p:cNvPr name="Freeform 25" id="25"/>
            <p:cNvSpPr/>
            <p:nvPr/>
          </p:nvSpPr>
          <p:spPr>
            <a:xfrm flipH="false" flipV="false" rot="0">
              <a:off x="0" y="0"/>
              <a:ext cx="1637191" cy="1529306"/>
            </a:xfrm>
            <a:custGeom>
              <a:avLst/>
              <a:gdLst/>
              <a:ahLst/>
              <a:cxnLst/>
              <a:rect r="r" b="b" t="t" l="l"/>
              <a:pathLst>
                <a:path h="1529306" w="1637191">
                  <a:moveTo>
                    <a:pt x="56567" y="0"/>
                  </a:moveTo>
                  <a:lnTo>
                    <a:pt x="1580624" y="0"/>
                  </a:lnTo>
                  <a:cubicBezTo>
                    <a:pt x="1595626" y="0"/>
                    <a:pt x="1610014" y="5960"/>
                    <a:pt x="1620622" y="16568"/>
                  </a:cubicBezTo>
                  <a:cubicBezTo>
                    <a:pt x="1631231" y="27176"/>
                    <a:pt x="1637191" y="41564"/>
                    <a:pt x="1637191" y="56567"/>
                  </a:cubicBezTo>
                  <a:lnTo>
                    <a:pt x="1637191" y="1472739"/>
                  </a:lnTo>
                  <a:cubicBezTo>
                    <a:pt x="1637191" y="1487741"/>
                    <a:pt x="1631231" y="1502129"/>
                    <a:pt x="1620622" y="1512738"/>
                  </a:cubicBezTo>
                  <a:cubicBezTo>
                    <a:pt x="1610014" y="1523346"/>
                    <a:pt x="1595626" y="1529306"/>
                    <a:pt x="1580624" y="1529306"/>
                  </a:cubicBezTo>
                  <a:lnTo>
                    <a:pt x="56567" y="1529306"/>
                  </a:lnTo>
                  <a:cubicBezTo>
                    <a:pt x="41564" y="1529306"/>
                    <a:pt x="27176" y="1523346"/>
                    <a:pt x="16568" y="1512738"/>
                  </a:cubicBezTo>
                  <a:cubicBezTo>
                    <a:pt x="5960" y="1502129"/>
                    <a:pt x="0" y="1487741"/>
                    <a:pt x="0" y="1472739"/>
                  </a:cubicBezTo>
                  <a:lnTo>
                    <a:pt x="0" y="56567"/>
                  </a:lnTo>
                  <a:cubicBezTo>
                    <a:pt x="0" y="41564"/>
                    <a:pt x="5960" y="27176"/>
                    <a:pt x="16568" y="16568"/>
                  </a:cubicBezTo>
                  <a:cubicBezTo>
                    <a:pt x="27176" y="5960"/>
                    <a:pt x="41564" y="0"/>
                    <a:pt x="56567" y="0"/>
                  </a:cubicBezTo>
                  <a:close/>
                </a:path>
              </a:pathLst>
            </a:custGeom>
            <a:gradFill rotWithShape="true">
              <a:gsLst>
                <a:gs pos="0">
                  <a:srgbClr val="31A1D4">
                    <a:alpha val="100000"/>
                  </a:srgbClr>
                </a:gs>
                <a:gs pos="100000">
                  <a:srgbClr val="035E8E">
                    <a:alpha val="0"/>
                  </a:srgbClr>
                </a:gs>
              </a:gsLst>
              <a:lin ang="2700000"/>
            </a:gradFill>
          </p:spPr>
        </p:sp>
        <p:sp>
          <p:nvSpPr>
            <p:cNvPr name="TextBox 26" id="26"/>
            <p:cNvSpPr txBox="true"/>
            <p:nvPr/>
          </p:nvSpPr>
          <p:spPr>
            <a:xfrm>
              <a:off x="0" y="-38100"/>
              <a:ext cx="1637191" cy="1567406"/>
            </a:xfrm>
            <a:prstGeom prst="rect">
              <a:avLst/>
            </a:prstGeom>
          </p:spPr>
          <p:txBody>
            <a:bodyPr anchor="ctr" rtlCol="false" tIns="50800" lIns="50800" bIns="50800" rIns="50800"/>
            <a:lstStyle/>
            <a:p>
              <a:pPr algn="ctr">
                <a:lnSpc>
                  <a:spcPts val="3077"/>
                </a:lnSpc>
              </a:pPr>
            </a:p>
          </p:txBody>
        </p:sp>
      </p:grpSp>
      <p:sp>
        <p:nvSpPr>
          <p:cNvPr name="Freeform 27" id="27"/>
          <p:cNvSpPr/>
          <p:nvPr/>
        </p:nvSpPr>
        <p:spPr>
          <a:xfrm flipH="false" flipV="false" rot="0">
            <a:off x="2807652" y="5622947"/>
            <a:ext cx="910476" cy="910476"/>
          </a:xfrm>
          <a:custGeom>
            <a:avLst/>
            <a:gdLst/>
            <a:ahLst/>
            <a:cxnLst/>
            <a:rect r="r" b="b" t="t" l="l"/>
            <a:pathLst>
              <a:path h="910476" w="910476">
                <a:moveTo>
                  <a:pt x="0" y="0"/>
                </a:moveTo>
                <a:lnTo>
                  <a:pt x="910476" y="0"/>
                </a:lnTo>
                <a:lnTo>
                  <a:pt x="910476" y="910476"/>
                </a:lnTo>
                <a:lnTo>
                  <a:pt x="0" y="91047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8" id="28"/>
          <p:cNvSpPr/>
          <p:nvPr/>
        </p:nvSpPr>
        <p:spPr>
          <a:xfrm flipH="false" flipV="false" rot="0">
            <a:off x="6728392" y="5622947"/>
            <a:ext cx="910476" cy="910476"/>
          </a:xfrm>
          <a:custGeom>
            <a:avLst/>
            <a:gdLst/>
            <a:ahLst/>
            <a:cxnLst/>
            <a:rect r="r" b="b" t="t" l="l"/>
            <a:pathLst>
              <a:path h="910476" w="910476">
                <a:moveTo>
                  <a:pt x="0" y="0"/>
                </a:moveTo>
                <a:lnTo>
                  <a:pt x="910476" y="0"/>
                </a:lnTo>
                <a:lnTo>
                  <a:pt x="910476" y="910476"/>
                </a:lnTo>
                <a:lnTo>
                  <a:pt x="0" y="91047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9" id="29"/>
          <p:cNvSpPr/>
          <p:nvPr/>
        </p:nvSpPr>
        <p:spPr>
          <a:xfrm flipH="false" flipV="false" rot="0">
            <a:off x="10661082" y="5622947"/>
            <a:ext cx="886576" cy="910476"/>
          </a:xfrm>
          <a:custGeom>
            <a:avLst/>
            <a:gdLst/>
            <a:ahLst/>
            <a:cxnLst/>
            <a:rect r="r" b="b" t="t" l="l"/>
            <a:pathLst>
              <a:path h="910476" w="886576">
                <a:moveTo>
                  <a:pt x="0" y="0"/>
                </a:moveTo>
                <a:lnTo>
                  <a:pt x="886576" y="0"/>
                </a:lnTo>
                <a:lnTo>
                  <a:pt x="886576" y="910476"/>
                </a:lnTo>
                <a:lnTo>
                  <a:pt x="0" y="91047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30" id="30"/>
          <p:cNvSpPr/>
          <p:nvPr/>
        </p:nvSpPr>
        <p:spPr>
          <a:xfrm flipH="false" flipV="false" rot="0">
            <a:off x="14593772" y="5622947"/>
            <a:ext cx="862676" cy="910476"/>
          </a:xfrm>
          <a:custGeom>
            <a:avLst/>
            <a:gdLst/>
            <a:ahLst/>
            <a:cxnLst/>
            <a:rect r="r" b="b" t="t" l="l"/>
            <a:pathLst>
              <a:path h="910476" w="862676">
                <a:moveTo>
                  <a:pt x="0" y="0"/>
                </a:moveTo>
                <a:lnTo>
                  <a:pt x="862676" y="0"/>
                </a:lnTo>
                <a:lnTo>
                  <a:pt x="862676" y="910476"/>
                </a:lnTo>
                <a:lnTo>
                  <a:pt x="0" y="910476"/>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31" id="31"/>
          <p:cNvSpPr txBox="true"/>
          <p:nvPr/>
        </p:nvSpPr>
        <p:spPr>
          <a:xfrm rot="0">
            <a:off x="1028700" y="849292"/>
            <a:ext cx="2917936" cy="330240"/>
          </a:xfrm>
          <a:prstGeom prst="rect">
            <a:avLst/>
          </a:prstGeom>
        </p:spPr>
        <p:txBody>
          <a:bodyPr anchor="t" rtlCol="false" tIns="0" lIns="0" bIns="0" rIns="0">
            <a:spAutoFit/>
          </a:bodyPr>
          <a:lstStyle/>
          <a:p>
            <a:pPr algn="l">
              <a:lnSpc>
                <a:spcPts val="2797"/>
              </a:lnSpc>
              <a:spcBef>
                <a:spcPct val="0"/>
              </a:spcBef>
            </a:pPr>
            <a:r>
              <a:rPr lang="en-US" sz="1998">
                <a:solidFill>
                  <a:srgbClr val="FFFFFF"/>
                </a:solidFill>
                <a:latin typeface="Montserrat Light"/>
                <a:ea typeface="Montserrat Light"/>
                <a:cs typeface="Montserrat Light"/>
                <a:sym typeface="Montserrat Light"/>
              </a:rPr>
              <a:t>Thynk</a:t>
            </a:r>
            <a:r>
              <a:rPr lang="en-US" sz="1998">
                <a:solidFill>
                  <a:srgbClr val="FFFFFF"/>
                </a:solidFill>
                <a:latin typeface="Montserrat Light"/>
                <a:ea typeface="Montserrat Light"/>
                <a:cs typeface="Montserrat Light"/>
                <a:sym typeface="Montserrat Light"/>
              </a:rPr>
              <a:t> Unlimited</a:t>
            </a:r>
          </a:p>
        </p:txBody>
      </p:sp>
      <p:sp>
        <p:nvSpPr>
          <p:cNvPr name="TextBox 32" id="32"/>
          <p:cNvSpPr txBox="true"/>
          <p:nvPr/>
        </p:nvSpPr>
        <p:spPr>
          <a:xfrm rot="0">
            <a:off x="1520396" y="2552066"/>
            <a:ext cx="4378621"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TARGET</a:t>
            </a:r>
          </a:p>
        </p:txBody>
      </p:sp>
      <p:sp>
        <p:nvSpPr>
          <p:cNvPr name="TextBox 33" id="33"/>
          <p:cNvSpPr txBox="true"/>
          <p:nvPr/>
        </p:nvSpPr>
        <p:spPr>
          <a:xfrm rot="0">
            <a:off x="1520396" y="3447020"/>
            <a:ext cx="4378621"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USERS</a:t>
            </a:r>
          </a:p>
        </p:txBody>
      </p:sp>
      <p:sp>
        <p:nvSpPr>
          <p:cNvPr name="TextBox 34" id="34"/>
          <p:cNvSpPr txBox="true"/>
          <p:nvPr/>
        </p:nvSpPr>
        <p:spPr>
          <a:xfrm rot="0">
            <a:off x="8146000" y="2628266"/>
            <a:ext cx="8621604" cy="1656755"/>
          </a:xfrm>
          <a:prstGeom prst="rect">
            <a:avLst/>
          </a:prstGeom>
        </p:spPr>
        <p:txBody>
          <a:bodyPr anchor="t" rtlCol="false" tIns="0" lIns="0" bIns="0" rIns="0">
            <a:spAutoFit/>
          </a:bodyPr>
          <a:lstStyle/>
          <a:p>
            <a:pPr algn="l">
              <a:lnSpc>
                <a:spcPts val="2657"/>
              </a:lnSpc>
              <a:spcBef>
                <a:spcPct val="0"/>
              </a:spcBef>
            </a:pPr>
            <a:r>
              <a:rPr lang="en-US" sz="18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p>
        </p:txBody>
      </p:sp>
      <p:sp>
        <p:nvSpPr>
          <p:cNvPr name="TextBox 35" id="35"/>
          <p:cNvSpPr txBox="true"/>
          <p:nvPr/>
        </p:nvSpPr>
        <p:spPr>
          <a:xfrm rot="0">
            <a:off x="1951887" y="7535705"/>
            <a:ext cx="2622005" cy="763310"/>
          </a:xfrm>
          <a:prstGeom prst="rect">
            <a:avLst/>
          </a:prstGeom>
        </p:spPr>
        <p:txBody>
          <a:bodyPr anchor="t" rtlCol="false" tIns="0" lIns="0" bIns="0" rIns="0">
            <a:spAutoFit/>
          </a:bodyPr>
          <a:lstStyle/>
          <a:p>
            <a:pPr algn="ctr">
              <a:lnSpc>
                <a:spcPts val="3077"/>
              </a:lnSpc>
              <a:spcBef>
                <a:spcPct val="0"/>
              </a:spcBef>
            </a:pPr>
            <a:r>
              <a:rPr lang="en-US" b="true" sz="2198">
                <a:solidFill>
                  <a:srgbClr val="FFFFFF"/>
                </a:solidFill>
                <a:latin typeface="Montserrat Bold"/>
                <a:ea typeface="Montserrat Bold"/>
                <a:cs typeface="Montserrat Bold"/>
                <a:sym typeface="Montserrat Bold"/>
              </a:rPr>
              <a:t>Small to m</a:t>
            </a:r>
            <a:r>
              <a:rPr lang="en-US" b="true" sz="2198">
                <a:solidFill>
                  <a:srgbClr val="FFFFFF"/>
                </a:solidFill>
                <a:latin typeface="Montserrat Bold"/>
                <a:ea typeface="Montserrat Bold"/>
                <a:cs typeface="Montserrat Bold"/>
                <a:sym typeface="Montserrat Bold"/>
              </a:rPr>
              <a:t>edium organizations</a:t>
            </a:r>
          </a:p>
        </p:txBody>
      </p:sp>
      <p:sp>
        <p:nvSpPr>
          <p:cNvPr name="TextBox 36" id="36"/>
          <p:cNvSpPr txBox="true"/>
          <p:nvPr/>
        </p:nvSpPr>
        <p:spPr>
          <a:xfrm rot="0">
            <a:off x="5872627" y="7535705"/>
            <a:ext cx="2622005" cy="763310"/>
          </a:xfrm>
          <a:prstGeom prst="rect">
            <a:avLst/>
          </a:prstGeom>
        </p:spPr>
        <p:txBody>
          <a:bodyPr anchor="t" rtlCol="false" tIns="0" lIns="0" bIns="0" rIns="0">
            <a:spAutoFit/>
          </a:bodyPr>
          <a:lstStyle/>
          <a:p>
            <a:pPr algn="ctr">
              <a:lnSpc>
                <a:spcPts val="3077"/>
              </a:lnSpc>
              <a:spcBef>
                <a:spcPct val="0"/>
              </a:spcBef>
            </a:pPr>
            <a:r>
              <a:rPr lang="en-US" b="true" sz="2198">
                <a:solidFill>
                  <a:srgbClr val="FFFFFF"/>
                </a:solidFill>
                <a:latin typeface="Montserrat Bold"/>
                <a:ea typeface="Montserrat Bold"/>
                <a:cs typeface="Montserrat Bold"/>
                <a:sym typeface="Montserrat Bold"/>
              </a:rPr>
              <a:t>Growing b</a:t>
            </a:r>
            <a:r>
              <a:rPr lang="en-US" b="true" sz="2198">
                <a:solidFill>
                  <a:srgbClr val="FFFFFF"/>
                </a:solidFill>
                <a:latin typeface="Montserrat Bold"/>
                <a:ea typeface="Montserrat Bold"/>
                <a:cs typeface="Montserrat Bold"/>
                <a:sym typeface="Montserrat Bold"/>
              </a:rPr>
              <a:t>usinesses</a:t>
            </a:r>
          </a:p>
        </p:txBody>
      </p:sp>
      <p:sp>
        <p:nvSpPr>
          <p:cNvPr name="TextBox 37" id="37"/>
          <p:cNvSpPr txBox="true"/>
          <p:nvPr/>
        </p:nvSpPr>
        <p:spPr>
          <a:xfrm rot="0">
            <a:off x="9793368" y="7535705"/>
            <a:ext cx="2622005" cy="763310"/>
          </a:xfrm>
          <a:prstGeom prst="rect">
            <a:avLst/>
          </a:prstGeom>
        </p:spPr>
        <p:txBody>
          <a:bodyPr anchor="t" rtlCol="false" tIns="0" lIns="0" bIns="0" rIns="0">
            <a:spAutoFit/>
          </a:bodyPr>
          <a:lstStyle/>
          <a:p>
            <a:pPr algn="ctr">
              <a:lnSpc>
                <a:spcPts val="3077"/>
              </a:lnSpc>
              <a:spcBef>
                <a:spcPct val="0"/>
              </a:spcBef>
            </a:pPr>
            <a:r>
              <a:rPr lang="en-US" b="true" sz="2198">
                <a:solidFill>
                  <a:srgbClr val="FFFFFF"/>
                </a:solidFill>
                <a:latin typeface="Montserrat Bold"/>
                <a:ea typeface="Montserrat Bold"/>
                <a:cs typeface="Montserrat Bold"/>
                <a:sym typeface="Montserrat Bold"/>
              </a:rPr>
              <a:t>Educational </a:t>
            </a:r>
            <a:r>
              <a:rPr lang="en-US" b="true" sz="2198">
                <a:solidFill>
                  <a:srgbClr val="FFFFFF"/>
                </a:solidFill>
                <a:latin typeface="Montserrat Bold"/>
                <a:ea typeface="Montserrat Bold"/>
                <a:cs typeface="Montserrat Bold"/>
                <a:sym typeface="Montserrat Bold"/>
              </a:rPr>
              <a:t>institutions</a:t>
            </a:r>
          </a:p>
        </p:txBody>
      </p:sp>
      <p:sp>
        <p:nvSpPr>
          <p:cNvPr name="TextBox 38" id="38"/>
          <p:cNvSpPr txBox="true"/>
          <p:nvPr/>
        </p:nvSpPr>
        <p:spPr>
          <a:xfrm rot="0">
            <a:off x="13714108" y="7535705"/>
            <a:ext cx="2622005" cy="763310"/>
          </a:xfrm>
          <a:prstGeom prst="rect">
            <a:avLst/>
          </a:prstGeom>
        </p:spPr>
        <p:txBody>
          <a:bodyPr anchor="t" rtlCol="false" tIns="0" lIns="0" bIns="0" rIns="0">
            <a:spAutoFit/>
          </a:bodyPr>
          <a:lstStyle/>
          <a:p>
            <a:pPr algn="ctr">
              <a:lnSpc>
                <a:spcPts val="3077"/>
              </a:lnSpc>
              <a:spcBef>
                <a:spcPct val="0"/>
              </a:spcBef>
            </a:pPr>
            <a:r>
              <a:rPr lang="en-US" b="true" sz="2198">
                <a:solidFill>
                  <a:srgbClr val="FFFFFF"/>
                </a:solidFill>
                <a:latin typeface="Montserrat Bold"/>
                <a:ea typeface="Montserrat Bold"/>
                <a:cs typeface="Montserrat Bold"/>
                <a:sym typeface="Montserrat Bold"/>
              </a:rPr>
              <a:t>Professional s</a:t>
            </a:r>
            <a:r>
              <a:rPr lang="en-US" b="true" sz="2198">
                <a:solidFill>
                  <a:srgbClr val="FFFFFF"/>
                </a:solidFill>
                <a:latin typeface="Montserrat Bold"/>
                <a:ea typeface="Montserrat Bold"/>
                <a:cs typeface="Montserrat Bold"/>
                <a:sym typeface="Montserrat Bold"/>
              </a:rPr>
              <a:t>ervice providers</a:t>
            </a:r>
          </a:p>
        </p:txBody>
      </p:sp>
      <p:sp>
        <p:nvSpPr>
          <p:cNvPr name="Freeform 39" id="39"/>
          <p:cNvSpPr/>
          <p:nvPr/>
        </p:nvSpPr>
        <p:spPr>
          <a:xfrm flipH="false" flipV="false" rot="0">
            <a:off x="11768318" y="-4958517"/>
            <a:ext cx="9438577" cy="6748583"/>
          </a:xfrm>
          <a:custGeom>
            <a:avLst/>
            <a:gdLst/>
            <a:ahLst/>
            <a:cxnLst/>
            <a:rect r="r" b="b" t="t" l="l"/>
            <a:pathLst>
              <a:path h="6748583" w="9438577">
                <a:moveTo>
                  <a:pt x="0" y="0"/>
                </a:moveTo>
                <a:lnTo>
                  <a:pt x="9438578" y="0"/>
                </a:lnTo>
                <a:lnTo>
                  <a:pt x="9438578" y="6748583"/>
                </a:lnTo>
                <a:lnTo>
                  <a:pt x="0" y="6748583"/>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40" id="40"/>
          <p:cNvGrpSpPr/>
          <p:nvPr/>
        </p:nvGrpSpPr>
        <p:grpSpPr>
          <a:xfrm rot="0">
            <a:off x="16885087" y="-1481594"/>
            <a:ext cx="4155559" cy="3571183"/>
            <a:chOff x="0" y="0"/>
            <a:chExt cx="812800" cy="698500"/>
          </a:xfrm>
        </p:grpSpPr>
        <p:sp>
          <p:nvSpPr>
            <p:cNvPr name="Freeform 41" id="41"/>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42" id="42"/>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true" rot="0">
            <a:off x="0" y="0"/>
            <a:ext cx="18288000" cy="10287000"/>
          </a:xfrm>
          <a:custGeom>
            <a:avLst/>
            <a:gdLst/>
            <a:ahLst/>
            <a:cxnLst/>
            <a:rect r="r" b="b" t="t" l="l"/>
            <a:pathLst>
              <a:path h="10287000" w="18288000">
                <a:moveTo>
                  <a:pt x="0" y="10287000"/>
                </a:moveTo>
                <a:lnTo>
                  <a:pt x="18288000" y="10287000"/>
                </a:lnTo>
                <a:lnTo>
                  <a:pt x="18288000" y="0"/>
                </a:lnTo>
                <a:lnTo>
                  <a:pt x="0" y="0"/>
                </a:lnTo>
                <a:lnTo>
                  <a:pt x="0" y="10287000"/>
                </a:lnTo>
                <a:close/>
              </a:path>
            </a:pathLst>
          </a:custGeom>
          <a:blipFill>
            <a:blip r:embed="rId2"/>
            <a:stretch>
              <a:fillRect l="0" t="-124631" r="-124631" b="0"/>
            </a:stretch>
          </a:blipFill>
        </p:spPr>
      </p:sp>
      <p:grpSp>
        <p:nvGrpSpPr>
          <p:cNvPr name="Group 3" id="3"/>
          <p:cNvGrpSpPr/>
          <p:nvPr/>
        </p:nvGrpSpPr>
        <p:grpSpPr>
          <a:xfrm rot="0">
            <a:off x="1520396" y="1865416"/>
            <a:ext cx="7244857" cy="4293243"/>
            <a:chOff x="0" y="0"/>
            <a:chExt cx="1122418" cy="665136"/>
          </a:xfrm>
        </p:grpSpPr>
        <p:sp>
          <p:nvSpPr>
            <p:cNvPr name="Freeform 4" id="4"/>
            <p:cNvSpPr/>
            <p:nvPr/>
          </p:nvSpPr>
          <p:spPr>
            <a:xfrm flipH="true" flipV="false" rot="0">
              <a:off x="0" y="0"/>
              <a:ext cx="1122418" cy="665136"/>
            </a:xfrm>
            <a:custGeom>
              <a:avLst/>
              <a:gdLst/>
              <a:ahLst/>
              <a:cxnLst/>
              <a:rect r="r" b="b" t="t" l="l"/>
              <a:pathLst>
                <a:path h="665136" w="1122418">
                  <a:moveTo>
                    <a:pt x="1095703" y="0"/>
                  </a:moveTo>
                  <a:lnTo>
                    <a:pt x="26715" y="0"/>
                  </a:lnTo>
                  <a:cubicBezTo>
                    <a:pt x="11961" y="0"/>
                    <a:pt x="0" y="11961"/>
                    <a:pt x="0" y="26715"/>
                  </a:cubicBezTo>
                  <a:lnTo>
                    <a:pt x="0" y="638420"/>
                  </a:lnTo>
                  <a:cubicBezTo>
                    <a:pt x="0" y="653175"/>
                    <a:pt x="11961" y="665136"/>
                    <a:pt x="26715" y="665136"/>
                  </a:cubicBezTo>
                  <a:lnTo>
                    <a:pt x="1095703" y="665136"/>
                  </a:lnTo>
                  <a:cubicBezTo>
                    <a:pt x="1110457" y="665136"/>
                    <a:pt x="1122418" y="653175"/>
                    <a:pt x="1122418" y="638420"/>
                  </a:cubicBezTo>
                  <a:lnTo>
                    <a:pt x="1122418" y="26715"/>
                  </a:lnTo>
                  <a:cubicBezTo>
                    <a:pt x="1122418" y="11961"/>
                    <a:pt x="1110457" y="0"/>
                    <a:pt x="1095703" y="0"/>
                  </a:cubicBezTo>
                  <a:close/>
                </a:path>
              </a:pathLst>
            </a:custGeom>
            <a:blipFill>
              <a:blip r:embed="rId3"/>
              <a:stretch>
                <a:fillRect l="0" t="-10557" r="0" b="-2082"/>
              </a:stretch>
            </a:blipFill>
          </p:spPr>
        </p:sp>
      </p:grpSp>
      <p:grpSp>
        <p:nvGrpSpPr>
          <p:cNvPr name="Group 5" id="5"/>
          <p:cNvGrpSpPr/>
          <p:nvPr/>
        </p:nvGrpSpPr>
        <p:grpSpPr>
          <a:xfrm rot="0">
            <a:off x="10309460" y="1928441"/>
            <a:ext cx="662184" cy="662184"/>
            <a:chOff x="0" y="0"/>
            <a:chExt cx="720112" cy="720112"/>
          </a:xfrm>
        </p:grpSpPr>
        <p:sp>
          <p:nvSpPr>
            <p:cNvPr name="Freeform 6" id="6"/>
            <p:cNvSpPr/>
            <p:nvPr/>
          </p:nvSpPr>
          <p:spPr>
            <a:xfrm flipH="false" flipV="false" rot="0">
              <a:off x="0" y="0"/>
              <a:ext cx="720112" cy="720112"/>
            </a:xfrm>
            <a:custGeom>
              <a:avLst/>
              <a:gdLst/>
              <a:ahLst/>
              <a:cxnLst/>
              <a:rect r="r" b="b" t="t" l="l"/>
              <a:pathLst>
                <a:path h="720112" w="720112">
                  <a:moveTo>
                    <a:pt x="128606" y="0"/>
                  </a:moveTo>
                  <a:lnTo>
                    <a:pt x="591506" y="0"/>
                  </a:lnTo>
                  <a:cubicBezTo>
                    <a:pt x="625614" y="0"/>
                    <a:pt x="658326" y="13550"/>
                    <a:pt x="682444" y="37668"/>
                  </a:cubicBezTo>
                  <a:cubicBezTo>
                    <a:pt x="706562" y="61786"/>
                    <a:pt x="720112" y="94498"/>
                    <a:pt x="720112" y="128606"/>
                  </a:cubicBezTo>
                  <a:lnTo>
                    <a:pt x="720112" y="591506"/>
                  </a:lnTo>
                  <a:cubicBezTo>
                    <a:pt x="720112" y="625614"/>
                    <a:pt x="706562" y="658326"/>
                    <a:pt x="682444" y="682444"/>
                  </a:cubicBezTo>
                  <a:cubicBezTo>
                    <a:pt x="658326" y="706562"/>
                    <a:pt x="625614" y="720112"/>
                    <a:pt x="591506" y="720112"/>
                  </a:cubicBezTo>
                  <a:lnTo>
                    <a:pt x="128606" y="720112"/>
                  </a:lnTo>
                  <a:cubicBezTo>
                    <a:pt x="94498" y="720112"/>
                    <a:pt x="61786" y="706562"/>
                    <a:pt x="37668" y="682444"/>
                  </a:cubicBezTo>
                  <a:cubicBezTo>
                    <a:pt x="13550" y="658326"/>
                    <a:pt x="0" y="625614"/>
                    <a:pt x="0" y="591506"/>
                  </a:cubicBezTo>
                  <a:lnTo>
                    <a:pt x="0" y="128606"/>
                  </a:lnTo>
                  <a:cubicBezTo>
                    <a:pt x="0" y="94498"/>
                    <a:pt x="13550" y="61786"/>
                    <a:pt x="37668" y="37668"/>
                  </a:cubicBezTo>
                  <a:cubicBezTo>
                    <a:pt x="61786" y="13550"/>
                    <a:pt x="94498" y="0"/>
                    <a:pt x="128606" y="0"/>
                  </a:cubicBezTo>
                  <a:close/>
                </a:path>
              </a:pathLst>
            </a:custGeom>
            <a:gradFill rotWithShape="true">
              <a:gsLst>
                <a:gs pos="0">
                  <a:srgbClr val="31A1D4">
                    <a:alpha val="100000"/>
                  </a:srgbClr>
                </a:gs>
                <a:gs pos="100000">
                  <a:srgbClr val="035E8E">
                    <a:alpha val="100000"/>
                  </a:srgbClr>
                </a:gs>
              </a:gsLst>
              <a:lin ang="0"/>
            </a:gradFill>
          </p:spPr>
        </p:sp>
        <p:sp>
          <p:nvSpPr>
            <p:cNvPr name="TextBox 7" id="7"/>
            <p:cNvSpPr txBox="true"/>
            <p:nvPr/>
          </p:nvSpPr>
          <p:spPr>
            <a:xfrm>
              <a:off x="0" y="-38100"/>
              <a:ext cx="720112" cy="758212"/>
            </a:xfrm>
            <a:prstGeom prst="rect">
              <a:avLst/>
            </a:prstGeom>
          </p:spPr>
          <p:txBody>
            <a:bodyPr anchor="ctr" rtlCol="false" tIns="50800" lIns="50800" bIns="50800" rIns="50800"/>
            <a:lstStyle/>
            <a:p>
              <a:pPr algn="ctr">
                <a:lnSpc>
                  <a:spcPts val="3077"/>
                </a:lnSpc>
              </a:pPr>
            </a:p>
          </p:txBody>
        </p:sp>
      </p:grpSp>
      <p:grpSp>
        <p:nvGrpSpPr>
          <p:cNvPr name="Group 8" id="8"/>
          <p:cNvGrpSpPr/>
          <p:nvPr/>
        </p:nvGrpSpPr>
        <p:grpSpPr>
          <a:xfrm rot="0">
            <a:off x="10309460" y="4475690"/>
            <a:ext cx="662184" cy="662184"/>
            <a:chOff x="0" y="0"/>
            <a:chExt cx="720112" cy="720112"/>
          </a:xfrm>
        </p:grpSpPr>
        <p:sp>
          <p:nvSpPr>
            <p:cNvPr name="Freeform 9" id="9"/>
            <p:cNvSpPr/>
            <p:nvPr/>
          </p:nvSpPr>
          <p:spPr>
            <a:xfrm flipH="false" flipV="false" rot="0">
              <a:off x="0" y="0"/>
              <a:ext cx="720112" cy="720112"/>
            </a:xfrm>
            <a:custGeom>
              <a:avLst/>
              <a:gdLst/>
              <a:ahLst/>
              <a:cxnLst/>
              <a:rect r="r" b="b" t="t" l="l"/>
              <a:pathLst>
                <a:path h="720112" w="720112">
                  <a:moveTo>
                    <a:pt x="128606" y="0"/>
                  </a:moveTo>
                  <a:lnTo>
                    <a:pt x="591506" y="0"/>
                  </a:lnTo>
                  <a:cubicBezTo>
                    <a:pt x="625614" y="0"/>
                    <a:pt x="658326" y="13550"/>
                    <a:pt x="682444" y="37668"/>
                  </a:cubicBezTo>
                  <a:cubicBezTo>
                    <a:pt x="706562" y="61786"/>
                    <a:pt x="720112" y="94498"/>
                    <a:pt x="720112" y="128606"/>
                  </a:cubicBezTo>
                  <a:lnTo>
                    <a:pt x="720112" y="591506"/>
                  </a:lnTo>
                  <a:cubicBezTo>
                    <a:pt x="720112" y="625614"/>
                    <a:pt x="706562" y="658326"/>
                    <a:pt x="682444" y="682444"/>
                  </a:cubicBezTo>
                  <a:cubicBezTo>
                    <a:pt x="658326" y="706562"/>
                    <a:pt x="625614" y="720112"/>
                    <a:pt x="591506" y="720112"/>
                  </a:cubicBezTo>
                  <a:lnTo>
                    <a:pt x="128606" y="720112"/>
                  </a:lnTo>
                  <a:cubicBezTo>
                    <a:pt x="94498" y="720112"/>
                    <a:pt x="61786" y="706562"/>
                    <a:pt x="37668" y="682444"/>
                  </a:cubicBezTo>
                  <a:cubicBezTo>
                    <a:pt x="13550" y="658326"/>
                    <a:pt x="0" y="625614"/>
                    <a:pt x="0" y="591506"/>
                  </a:cubicBezTo>
                  <a:lnTo>
                    <a:pt x="0" y="128606"/>
                  </a:lnTo>
                  <a:cubicBezTo>
                    <a:pt x="0" y="94498"/>
                    <a:pt x="13550" y="61786"/>
                    <a:pt x="37668" y="37668"/>
                  </a:cubicBezTo>
                  <a:cubicBezTo>
                    <a:pt x="61786" y="13550"/>
                    <a:pt x="94498" y="0"/>
                    <a:pt x="128606" y="0"/>
                  </a:cubicBezTo>
                  <a:close/>
                </a:path>
              </a:pathLst>
            </a:custGeom>
            <a:gradFill rotWithShape="true">
              <a:gsLst>
                <a:gs pos="0">
                  <a:srgbClr val="31A1D4">
                    <a:alpha val="100000"/>
                  </a:srgbClr>
                </a:gs>
                <a:gs pos="100000">
                  <a:srgbClr val="035E8E">
                    <a:alpha val="100000"/>
                  </a:srgbClr>
                </a:gs>
              </a:gsLst>
              <a:lin ang="0"/>
            </a:gradFill>
          </p:spPr>
        </p:sp>
        <p:sp>
          <p:nvSpPr>
            <p:cNvPr name="TextBox 10" id="10"/>
            <p:cNvSpPr txBox="true"/>
            <p:nvPr/>
          </p:nvSpPr>
          <p:spPr>
            <a:xfrm>
              <a:off x="0" y="-38100"/>
              <a:ext cx="720112" cy="758212"/>
            </a:xfrm>
            <a:prstGeom prst="rect">
              <a:avLst/>
            </a:prstGeom>
          </p:spPr>
          <p:txBody>
            <a:bodyPr anchor="ctr" rtlCol="false" tIns="50800" lIns="50800" bIns="50800" rIns="50800"/>
            <a:lstStyle/>
            <a:p>
              <a:pPr algn="ctr">
                <a:lnSpc>
                  <a:spcPts val="3077"/>
                </a:lnSpc>
              </a:pPr>
            </a:p>
          </p:txBody>
        </p:sp>
      </p:grpSp>
      <p:sp>
        <p:nvSpPr>
          <p:cNvPr name="Freeform 11" id="11"/>
          <p:cNvSpPr/>
          <p:nvPr/>
        </p:nvSpPr>
        <p:spPr>
          <a:xfrm flipH="false" flipV="false" rot="0">
            <a:off x="10445448" y="2064429"/>
            <a:ext cx="390209" cy="390209"/>
          </a:xfrm>
          <a:custGeom>
            <a:avLst/>
            <a:gdLst/>
            <a:ahLst/>
            <a:cxnLst/>
            <a:rect r="r" b="b" t="t" l="l"/>
            <a:pathLst>
              <a:path h="390209" w="390209">
                <a:moveTo>
                  <a:pt x="0" y="0"/>
                </a:moveTo>
                <a:lnTo>
                  <a:pt x="390209" y="0"/>
                </a:lnTo>
                <a:lnTo>
                  <a:pt x="390209" y="390209"/>
                </a:lnTo>
                <a:lnTo>
                  <a:pt x="0" y="39020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10445448" y="4611678"/>
            <a:ext cx="390209" cy="390209"/>
          </a:xfrm>
          <a:custGeom>
            <a:avLst/>
            <a:gdLst/>
            <a:ahLst/>
            <a:cxnLst/>
            <a:rect r="r" b="b" t="t" l="l"/>
            <a:pathLst>
              <a:path h="390209" w="390209">
                <a:moveTo>
                  <a:pt x="0" y="0"/>
                </a:moveTo>
                <a:lnTo>
                  <a:pt x="390209" y="0"/>
                </a:lnTo>
                <a:lnTo>
                  <a:pt x="390209" y="390209"/>
                </a:lnTo>
                <a:lnTo>
                  <a:pt x="0" y="39020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3" id="13"/>
          <p:cNvSpPr txBox="true"/>
          <p:nvPr/>
        </p:nvSpPr>
        <p:spPr>
          <a:xfrm rot="0">
            <a:off x="1028700" y="849292"/>
            <a:ext cx="2917936" cy="330240"/>
          </a:xfrm>
          <a:prstGeom prst="rect">
            <a:avLst/>
          </a:prstGeom>
        </p:spPr>
        <p:txBody>
          <a:bodyPr anchor="t" rtlCol="false" tIns="0" lIns="0" bIns="0" rIns="0">
            <a:spAutoFit/>
          </a:bodyPr>
          <a:lstStyle/>
          <a:p>
            <a:pPr algn="l">
              <a:lnSpc>
                <a:spcPts val="2797"/>
              </a:lnSpc>
              <a:spcBef>
                <a:spcPct val="0"/>
              </a:spcBef>
            </a:pPr>
            <a:r>
              <a:rPr lang="en-US" sz="1998">
                <a:solidFill>
                  <a:srgbClr val="FFFFFF"/>
                </a:solidFill>
                <a:latin typeface="Montserrat Light"/>
                <a:ea typeface="Montserrat Light"/>
                <a:cs typeface="Montserrat Light"/>
                <a:sym typeface="Montserrat Light"/>
              </a:rPr>
              <a:t>Thynk</a:t>
            </a:r>
            <a:r>
              <a:rPr lang="en-US" sz="1998">
                <a:solidFill>
                  <a:srgbClr val="FFFFFF"/>
                </a:solidFill>
                <a:latin typeface="Montserrat Light"/>
                <a:ea typeface="Montserrat Light"/>
                <a:cs typeface="Montserrat Light"/>
                <a:sym typeface="Montserrat Light"/>
              </a:rPr>
              <a:t> Unlimited</a:t>
            </a:r>
          </a:p>
        </p:txBody>
      </p:sp>
      <p:sp>
        <p:nvSpPr>
          <p:cNvPr name="TextBox 14" id="14"/>
          <p:cNvSpPr txBox="true"/>
          <p:nvPr/>
        </p:nvSpPr>
        <p:spPr>
          <a:xfrm rot="0">
            <a:off x="10309460" y="7044484"/>
            <a:ext cx="7205521"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TECHNOLOGY</a:t>
            </a:r>
          </a:p>
        </p:txBody>
      </p:sp>
      <p:sp>
        <p:nvSpPr>
          <p:cNvPr name="TextBox 15" id="15"/>
          <p:cNvSpPr txBox="true"/>
          <p:nvPr/>
        </p:nvSpPr>
        <p:spPr>
          <a:xfrm rot="0">
            <a:off x="10309460" y="7939438"/>
            <a:ext cx="7205521" cy="1009254"/>
          </a:xfrm>
          <a:prstGeom prst="rect">
            <a:avLst/>
          </a:prstGeom>
        </p:spPr>
        <p:txBody>
          <a:bodyPr anchor="t" rtlCol="false" tIns="0" lIns="0" bIns="0" rIns="0">
            <a:spAutoFit/>
          </a:bodyPr>
          <a:lstStyle/>
          <a:p>
            <a:pPr algn="l">
              <a:lnSpc>
                <a:spcPts val="8240"/>
              </a:lnSpc>
              <a:spcBef>
                <a:spcPct val="0"/>
              </a:spcBef>
            </a:pPr>
            <a:r>
              <a:rPr lang="en-US" b="true" sz="5885">
                <a:solidFill>
                  <a:srgbClr val="FFFFFF"/>
                </a:solidFill>
                <a:latin typeface="TT Lakes Neue Extended Bold"/>
                <a:ea typeface="TT Lakes Neue Extended Bold"/>
                <a:cs typeface="TT Lakes Neue Extended Bold"/>
                <a:sym typeface="TT Lakes Neue Extended Bold"/>
              </a:rPr>
              <a:t>APPROACH</a:t>
            </a:r>
          </a:p>
        </p:txBody>
      </p:sp>
      <p:sp>
        <p:nvSpPr>
          <p:cNvPr name="TextBox 16" id="16"/>
          <p:cNvSpPr txBox="true"/>
          <p:nvPr/>
        </p:nvSpPr>
        <p:spPr>
          <a:xfrm rot="0">
            <a:off x="1520396" y="7372998"/>
            <a:ext cx="7205521" cy="1323380"/>
          </a:xfrm>
          <a:prstGeom prst="rect">
            <a:avLst/>
          </a:prstGeom>
        </p:spPr>
        <p:txBody>
          <a:bodyPr anchor="t" rtlCol="false" tIns="0" lIns="0" bIns="0" rIns="0">
            <a:spAutoFit/>
          </a:bodyPr>
          <a:lstStyle/>
          <a:p>
            <a:pPr algn="l">
              <a:lnSpc>
                <a:spcPts val="2657"/>
              </a:lnSpc>
              <a:spcBef>
                <a:spcPct val="0"/>
              </a:spcBef>
            </a:pPr>
            <a:r>
              <a:rPr lang="en-US" sz="18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 quis nostrud exercitation ullamco laboris nisi ut aliquip ex ea commodo consequat.</a:t>
            </a:r>
          </a:p>
        </p:txBody>
      </p:sp>
      <p:sp>
        <p:nvSpPr>
          <p:cNvPr name="TextBox 17" id="17"/>
          <p:cNvSpPr txBox="true"/>
          <p:nvPr/>
        </p:nvSpPr>
        <p:spPr>
          <a:xfrm rot="0">
            <a:off x="10309460" y="2849371"/>
            <a:ext cx="5347795" cy="76204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18" id="18"/>
          <p:cNvSpPr txBox="true"/>
          <p:nvPr/>
        </p:nvSpPr>
        <p:spPr>
          <a:xfrm rot="0">
            <a:off x="10309460" y="5396619"/>
            <a:ext cx="5347795" cy="762040"/>
          </a:xfrm>
          <a:prstGeom prst="rect">
            <a:avLst/>
          </a:prstGeom>
        </p:spPr>
        <p:txBody>
          <a:bodyPr anchor="t" rtlCol="false" tIns="0" lIns="0" bIns="0" rIns="0">
            <a:spAutoFit/>
          </a:bodyPr>
          <a:lstStyle/>
          <a:p>
            <a:pPr algn="l">
              <a:lnSpc>
                <a:spcPts val="2097"/>
              </a:lnSpc>
              <a:spcBef>
                <a:spcPct val="0"/>
              </a:spcBef>
            </a:pPr>
            <a:r>
              <a:rPr lang="en-US" sz="1498">
                <a:solidFill>
                  <a:srgbClr val="C6C6C6"/>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TextBox 19" id="19"/>
          <p:cNvSpPr txBox="true"/>
          <p:nvPr/>
        </p:nvSpPr>
        <p:spPr>
          <a:xfrm rot="0">
            <a:off x="11466588" y="1827316"/>
            <a:ext cx="3207680" cy="763310"/>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Us</a:t>
            </a:r>
            <a:r>
              <a:rPr lang="en-US" b="true" sz="2198">
                <a:solidFill>
                  <a:srgbClr val="FFFFFF"/>
                </a:solidFill>
                <a:latin typeface="Montserrat Bold"/>
                <a:ea typeface="Montserrat Bold"/>
                <a:cs typeface="Montserrat Bold"/>
                <a:sym typeface="Montserrat Bold"/>
              </a:rPr>
              <a:t>es simple and effective technology</a:t>
            </a:r>
          </a:p>
        </p:txBody>
      </p:sp>
      <p:sp>
        <p:nvSpPr>
          <p:cNvPr name="TextBox 20" id="20"/>
          <p:cNvSpPr txBox="true"/>
          <p:nvPr/>
        </p:nvSpPr>
        <p:spPr>
          <a:xfrm rot="0">
            <a:off x="11466588" y="4374564"/>
            <a:ext cx="3371407" cy="763310"/>
          </a:xfrm>
          <a:prstGeom prst="rect">
            <a:avLst/>
          </a:prstGeom>
        </p:spPr>
        <p:txBody>
          <a:bodyPr anchor="t" rtlCol="false" tIns="0" lIns="0" bIns="0" rIns="0">
            <a:spAutoFit/>
          </a:bodyPr>
          <a:lstStyle/>
          <a:p>
            <a:pPr algn="l">
              <a:lnSpc>
                <a:spcPts val="3077"/>
              </a:lnSpc>
              <a:spcBef>
                <a:spcPct val="0"/>
              </a:spcBef>
            </a:pPr>
            <a:r>
              <a:rPr lang="en-US" sz="2198" b="true">
                <a:solidFill>
                  <a:srgbClr val="FFFFFF"/>
                </a:solidFill>
                <a:latin typeface="Montserrat Bold"/>
                <a:ea typeface="Montserrat Bold"/>
                <a:cs typeface="Montserrat Bold"/>
                <a:sym typeface="Montserrat Bold"/>
              </a:rPr>
              <a:t>Support</a:t>
            </a:r>
            <a:r>
              <a:rPr lang="en-US" b="true" sz="2198">
                <a:solidFill>
                  <a:srgbClr val="FFFFFF"/>
                </a:solidFill>
                <a:latin typeface="Montserrat Bold"/>
                <a:ea typeface="Montserrat Bold"/>
                <a:cs typeface="Montserrat Bold"/>
                <a:sym typeface="Montserrat Bold"/>
              </a:rPr>
              <a:t>s growth and future needs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FFFFF">
                <a:alpha val="100000"/>
              </a:srgbClr>
            </a:gs>
            <a:gs pos="100000">
              <a:srgbClr val="D8D8D8">
                <a:alpha val="100000"/>
              </a:srgbClr>
            </a:gs>
          </a:gsLst>
          <a:lin ang="5400000"/>
        </a:gradFill>
      </p:bgPr>
    </p:bg>
    <p:spTree>
      <p:nvGrpSpPr>
        <p:cNvPr id="1" name=""/>
        <p:cNvGrpSpPr/>
        <p:nvPr/>
      </p:nvGrpSpPr>
      <p:grpSpPr>
        <a:xfrm>
          <a:off x="0" y="0"/>
          <a:ext cx="0" cy="0"/>
          <a:chOff x="0" y="0"/>
          <a:chExt cx="0" cy="0"/>
        </a:xfrm>
      </p:grpSpPr>
      <p:grpSp>
        <p:nvGrpSpPr>
          <p:cNvPr name="Group 2" id="2"/>
          <p:cNvGrpSpPr/>
          <p:nvPr/>
        </p:nvGrpSpPr>
        <p:grpSpPr>
          <a:xfrm rot="0">
            <a:off x="8444430" y="2236744"/>
            <a:ext cx="3975625" cy="5423951"/>
            <a:chOff x="0" y="0"/>
            <a:chExt cx="615928" cy="840312"/>
          </a:xfrm>
        </p:grpSpPr>
        <p:sp>
          <p:nvSpPr>
            <p:cNvPr name="Freeform 3" id="3"/>
            <p:cNvSpPr/>
            <p:nvPr/>
          </p:nvSpPr>
          <p:spPr>
            <a:xfrm flipH="false" flipV="false" rot="0">
              <a:off x="0" y="0"/>
              <a:ext cx="615928" cy="840312"/>
            </a:xfrm>
            <a:custGeom>
              <a:avLst/>
              <a:gdLst/>
              <a:ahLst/>
              <a:cxnLst/>
              <a:rect r="r" b="b" t="t" l="l"/>
              <a:pathLst>
                <a:path h="840312" w="615928">
                  <a:moveTo>
                    <a:pt x="48684" y="0"/>
                  </a:moveTo>
                  <a:lnTo>
                    <a:pt x="567245" y="0"/>
                  </a:lnTo>
                  <a:cubicBezTo>
                    <a:pt x="580156" y="0"/>
                    <a:pt x="592539" y="5129"/>
                    <a:pt x="601669" y="14259"/>
                  </a:cubicBezTo>
                  <a:cubicBezTo>
                    <a:pt x="610799" y="23389"/>
                    <a:pt x="615928" y="35772"/>
                    <a:pt x="615928" y="48684"/>
                  </a:cubicBezTo>
                  <a:lnTo>
                    <a:pt x="615928" y="791628"/>
                  </a:lnTo>
                  <a:cubicBezTo>
                    <a:pt x="615928" y="818516"/>
                    <a:pt x="594132" y="840312"/>
                    <a:pt x="567245" y="840312"/>
                  </a:cubicBezTo>
                  <a:lnTo>
                    <a:pt x="48684" y="840312"/>
                  </a:lnTo>
                  <a:cubicBezTo>
                    <a:pt x="35772" y="840312"/>
                    <a:pt x="23389" y="835183"/>
                    <a:pt x="14259" y="826053"/>
                  </a:cubicBezTo>
                  <a:cubicBezTo>
                    <a:pt x="5129" y="816923"/>
                    <a:pt x="0" y="804540"/>
                    <a:pt x="0" y="791628"/>
                  </a:cubicBezTo>
                  <a:lnTo>
                    <a:pt x="0" y="48684"/>
                  </a:lnTo>
                  <a:cubicBezTo>
                    <a:pt x="0" y="21796"/>
                    <a:pt x="21796" y="0"/>
                    <a:pt x="48684" y="0"/>
                  </a:cubicBezTo>
                  <a:close/>
                </a:path>
              </a:pathLst>
            </a:custGeom>
            <a:blipFill>
              <a:blip r:embed="rId2"/>
              <a:stretch>
                <a:fillRect l="-71002" t="0" r="-71002" b="0"/>
              </a:stretch>
            </a:blipFill>
          </p:spPr>
        </p:sp>
      </p:grpSp>
      <p:grpSp>
        <p:nvGrpSpPr>
          <p:cNvPr name="Group 4" id="4"/>
          <p:cNvGrpSpPr/>
          <p:nvPr/>
        </p:nvGrpSpPr>
        <p:grpSpPr>
          <a:xfrm rot="0">
            <a:off x="12791979" y="3639330"/>
            <a:ext cx="3975625" cy="5423951"/>
            <a:chOff x="0" y="0"/>
            <a:chExt cx="615928" cy="840312"/>
          </a:xfrm>
        </p:grpSpPr>
        <p:sp>
          <p:nvSpPr>
            <p:cNvPr name="Freeform 5" id="5"/>
            <p:cNvSpPr/>
            <p:nvPr/>
          </p:nvSpPr>
          <p:spPr>
            <a:xfrm flipH="false" flipV="false" rot="0">
              <a:off x="0" y="0"/>
              <a:ext cx="615928" cy="840312"/>
            </a:xfrm>
            <a:custGeom>
              <a:avLst/>
              <a:gdLst/>
              <a:ahLst/>
              <a:cxnLst/>
              <a:rect r="r" b="b" t="t" l="l"/>
              <a:pathLst>
                <a:path h="840312" w="615928">
                  <a:moveTo>
                    <a:pt x="48684" y="0"/>
                  </a:moveTo>
                  <a:lnTo>
                    <a:pt x="567245" y="0"/>
                  </a:lnTo>
                  <a:cubicBezTo>
                    <a:pt x="580156" y="0"/>
                    <a:pt x="592539" y="5129"/>
                    <a:pt x="601669" y="14259"/>
                  </a:cubicBezTo>
                  <a:cubicBezTo>
                    <a:pt x="610799" y="23389"/>
                    <a:pt x="615928" y="35772"/>
                    <a:pt x="615928" y="48684"/>
                  </a:cubicBezTo>
                  <a:lnTo>
                    <a:pt x="615928" y="791628"/>
                  </a:lnTo>
                  <a:cubicBezTo>
                    <a:pt x="615928" y="818516"/>
                    <a:pt x="594132" y="840312"/>
                    <a:pt x="567245" y="840312"/>
                  </a:cubicBezTo>
                  <a:lnTo>
                    <a:pt x="48684" y="840312"/>
                  </a:lnTo>
                  <a:cubicBezTo>
                    <a:pt x="35772" y="840312"/>
                    <a:pt x="23389" y="835183"/>
                    <a:pt x="14259" y="826053"/>
                  </a:cubicBezTo>
                  <a:cubicBezTo>
                    <a:pt x="5129" y="816923"/>
                    <a:pt x="0" y="804540"/>
                    <a:pt x="0" y="791628"/>
                  </a:cubicBezTo>
                  <a:lnTo>
                    <a:pt x="0" y="48684"/>
                  </a:lnTo>
                  <a:cubicBezTo>
                    <a:pt x="0" y="21796"/>
                    <a:pt x="21796" y="0"/>
                    <a:pt x="48684" y="0"/>
                  </a:cubicBezTo>
                  <a:close/>
                </a:path>
              </a:pathLst>
            </a:custGeom>
            <a:blipFill>
              <a:blip r:embed="rId3"/>
              <a:stretch>
                <a:fillRect l="-52386" t="0" r="-52386" b="0"/>
              </a:stretch>
            </a:blipFill>
          </p:spPr>
        </p:sp>
      </p:grpSp>
      <p:sp>
        <p:nvSpPr>
          <p:cNvPr name="Freeform 6" id="6"/>
          <p:cNvSpPr/>
          <p:nvPr/>
        </p:nvSpPr>
        <p:spPr>
          <a:xfrm flipH="false" flipV="false" rot="0">
            <a:off x="13568711" y="-3962307"/>
            <a:ext cx="9438577" cy="6748583"/>
          </a:xfrm>
          <a:custGeom>
            <a:avLst/>
            <a:gdLst/>
            <a:ahLst/>
            <a:cxnLst/>
            <a:rect r="r" b="b" t="t" l="l"/>
            <a:pathLst>
              <a:path h="6748583" w="9438577">
                <a:moveTo>
                  <a:pt x="0" y="0"/>
                </a:moveTo>
                <a:lnTo>
                  <a:pt x="9438578" y="0"/>
                </a:lnTo>
                <a:lnTo>
                  <a:pt x="9438578" y="6748583"/>
                </a:lnTo>
                <a:lnTo>
                  <a:pt x="0" y="674858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7" id="7"/>
          <p:cNvGrpSpPr/>
          <p:nvPr/>
        </p:nvGrpSpPr>
        <p:grpSpPr>
          <a:xfrm rot="0">
            <a:off x="16128358" y="-502202"/>
            <a:ext cx="4155559" cy="3571183"/>
            <a:chOff x="0" y="0"/>
            <a:chExt cx="812800" cy="698500"/>
          </a:xfrm>
        </p:grpSpPr>
        <p:sp>
          <p:nvSpPr>
            <p:cNvPr name="Freeform 8" id="8"/>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9" id="9"/>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grpSp>
        <p:nvGrpSpPr>
          <p:cNvPr name="Group 10" id="10"/>
          <p:cNvGrpSpPr/>
          <p:nvPr/>
        </p:nvGrpSpPr>
        <p:grpSpPr>
          <a:xfrm rot="0">
            <a:off x="15234643" y="515353"/>
            <a:ext cx="1787431" cy="1536073"/>
            <a:chOff x="0" y="0"/>
            <a:chExt cx="812800" cy="698500"/>
          </a:xfrm>
        </p:grpSpPr>
        <p:sp>
          <p:nvSpPr>
            <p:cNvPr name="Freeform 11" id="11"/>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12" id="12"/>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sp>
        <p:nvSpPr>
          <p:cNvPr name="TextBox 13" id="13"/>
          <p:cNvSpPr txBox="true"/>
          <p:nvPr/>
        </p:nvSpPr>
        <p:spPr>
          <a:xfrm rot="0">
            <a:off x="1028700" y="849292"/>
            <a:ext cx="2917936" cy="330240"/>
          </a:xfrm>
          <a:prstGeom prst="rect">
            <a:avLst/>
          </a:prstGeom>
        </p:spPr>
        <p:txBody>
          <a:bodyPr anchor="t" rtlCol="false" tIns="0" lIns="0" bIns="0" rIns="0">
            <a:spAutoFit/>
          </a:bodyPr>
          <a:lstStyle/>
          <a:p>
            <a:pPr algn="l">
              <a:lnSpc>
                <a:spcPts val="2797"/>
              </a:lnSpc>
              <a:spcBef>
                <a:spcPct val="0"/>
              </a:spcBef>
            </a:pPr>
            <a:r>
              <a:rPr lang="en-US" sz="1998">
                <a:solidFill>
                  <a:srgbClr val="000000"/>
                </a:solidFill>
                <a:latin typeface="Montserrat Light"/>
                <a:ea typeface="Montserrat Light"/>
                <a:cs typeface="Montserrat Light"/>
                <a:sym typeface="Montserrat Light"/>
              </a:rPr>
              <a:t>Thynk Unlimited</a:t>
            </a:r>
          </a:p>
        </p:txBody>
      </p:sp>
      <p:sp>
        <p:nvSpPr>
          <p:cNvPr name="TextBox 14" id="14"/>
          <p:cNvSpPr txBox="true"/>
          <p:nvPr/>
        </p:nvSpPr>
        <p:spPr>
          <a:xfrm rot="0">
            <a:off x="1520396" y="3153707"/>
            <a:ext cx="5396082" cy="1009254"/>
          </a:xfrm>
          <a:prstGeom prst="rect">
            <a:avLst/>
          </a:prstGeom>
        </p:spPr>
        <p:txBody>
          <a:bodyPr anchor="t" rtlCol="false" tIns="0" lIns="0" bIns="0" rIns="0">
            <a:spAutoFit/>
          </a:bodyPr>
          <a:lstStyle/>
          <a:p>
            <a:pPr algn="l">
              <a:lnSpc>
                <a:spcPts val="8240"/>
              </a:lnSpc>
              <a:spcBef>
                <a:spcPct val="0"/>
              </a:spcBef>
            </a:pPr>
            <a:r>
              <a:rPr lang="en-US" b="true" sz="5885">
                <a:solidFill>
                  <a:srgbClr val="000000"/>
                </a:solidFill>
                <a:latin typeface="TT Lakes Neue Extended Bold"/>
                <a:ea typeface="TT Lakes Neue Extended Bold"/>
                <a:cs typeface="TT Lakes Neue Extended Bold"/>
                <a:sym typeface="TT Lakes Neue Extended Bold"/>
              </a:rPr>
              <a:t>CLOSI</a:t>
            </a:r>
            <a:r>
              <a:rPr lang="en-US" b="true" sz="5885">
                <a:solidFill>
                  <a:srgbClr val="000000"/>
                </a:solidFill>
                <a:latin typeface="TT Lakes Neue Extended Bold"/>
                <a:ea typeface="TT Lakes Neue Extended Bold"/>
                <a:cs typeface="TT Lakes Neue Extended Bold"/>
                <a:sym typeface="TT Lakes Neue Extended Bold"/>
              </a:rPr>
              <a:t>NG</a:t>
            </a:r>
          </a:p>
        </p:txBody>
      </p:sp>
      <p:sp>
        <p:nvSpPr>
          <p:cNvPr name="TextBox 15" id="15"/>
          <p:cNvSpPr txBox="true"/>
          <p:nvPr/>
        </p:nvSpPr>
        <p:spPr>
          <a:xfrm rot="0">
            <a:off x="1520396" y="5003815"/>
            <a:ext cx="5396082" cy="2656880"/>
          </a:xfrm>
          <a:prstGeom prst="rect">
            <a:avLst/>
          </a:prstGeom>
        </p:spPr>
        <p:txBody>
          <a:bodyPr anchor="t" rtlCol="false" tIns="0" lIns="0" bIns="0" rIns="0">
            <a:spAutoFit/>
          </a:bodyPr>
          <a:lstStyle/>
          <a:p>
            <a:pPr algn="l">
              <a:lnSpc>
                <a:spcPts val="2657"/>
              </a:lnSpc>
              <a:spcBef>
                <a:spcPct val="0"/>
              </a:spcBef>
            </a:pPr>
            <a:r>
              <a:rPr lang="en-US" sz="1898">
                <a:solidFill>
                  <a:srgbClr val="000000"/>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5984" r="-65984" b="0"/>
            </a:stretch>
          </a:blipFill>
        </p:spPr>
      </p:sp>
      <p:sp>
        <p:nvSpPr>
          <p:cNvPr name="Freeform 3" id="3"/>
          <p:cNvSpPr/>
          <p:nvPr/>
        </p:nvSpPr>
        <p:spPr>
          <a:xfrm flipH="false" flipV="false" rot="0">
            <a:off x="-2108849" y="6034841"/>
            <a:ext cx="9438577" cy="6748583"/>
          </a:xfrm>
          <a:custGeom>
            <a:avLst/>
            <a:gdLst/>
            <a:ahLst/>
            <a:cxnLst/>
            <a:rect r="r" b="b" t="t" l="l"/>
            <a:pathLst>
              <a:path h="6748583" w="9438577">
                <a:moveTo>
                  <a:pt x="0" y="0"/>
                </a:moveTo>
                <a:lnTo>
                  <a:pt x="9438578" y="0"/>
                </a:lnTo>
                <a:lnTo>
                  <a:pt x="9438578" y="6748583"/>
                </a:lnTo>
                <a:lnTo>
                  <a:pt x="0" y="674858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5521572" y="6407094"/>
            <a:ext cx="7244857" cy="616879"/>
            <a:chOff x="0" y="0"/>
            <a:chExt cx="4772913" cy="406400"/>
          </a:xfrm>
        </p:grpSpPr>
        <p:sp>
          <p:nvSpPr>
            <p:cNvPr name="Freeform 5" id="5"/>
            <p:cNvSpPr/>
            <p:nvPr/>
          </p:nvSpPr>
          <p:spPr>
            <a:xfrm flipH="false" flipV="false" rot="0">
              <a:off x="0" y="0"/>
              <a:ext cx="4772913" cy="406400"/>
            </a:xfrm>
            <a:custGeom>
              <a:avLst/>
              <a:gdLst/>
              <a:ahLst/>
              <a:cxnLst/>
              <a:rect r="r" b="b" t="t" l="l"/>
              <a:pathLst>
                <a:path h="406400" w="4772913">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lnTo>
                    <a:pt x="4569713" y="0"/>
                  </a:lnTo>
                  <a:close/>
                </a:path>
              </a:pathLst>
            </a:custGeom>
            <a:gradFill rotWithShape="true">
              <a:gsLst>
                <a:gs pos="0">
                  <a:srgbClr val="31A1D4">
                    <a:alpha val="47000"/>
                  </a:srgbClr>
                </a:gs>
                <a:gs pos="100000">
                  <a:srgbClr val="035E8E">
                    <a:alpha val="0"/>
                  </a:srgbClr>
                </a:gs>
              </a:gsLst>
              <a:lin ang="2700000"/>
            </a:gradFill>
            <a:ln cap="rnd">
              <a:noFill/>
              <a:prstDash val="solid"/>
              <a:round/>
            </a:ln>
          </p:spPr>
        </p:sp>
        <p:sp>
          <p:nvSpPr>
            <p:cNvPr name="TextBox 6" id="6"/>
            <p:cNvSpPr txBox="true"/>
            <p:nvPr/>
          </p:nvSpPr>
          <p:spPr>
            <a:xfrm>
              <a:off x="0" y="-38100"/>
              <a:ext cx="4772913" cy="444500"/>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7" id="7"/>
          <p:cNvGrpSpPr/>
          <p:nvPr/>
        </p:nvGrpSpPr>
        <p:grpSpPr>
          <a:xfrm rot="0">
            <a:off x="-1482992" y="7162049"/>
            <a:ext cx="3636307" cy="3124951"/>
            <a:chOff x="0" y="0"/>
            <a:chExt cx="812800" cy="698500"/>
          </a:xfrm>
        </p:grpSpPr>
        <p:sp>
          <p:nvSpPr>
            <p:cNvPr name="Freeform 8" id="8"/>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9" id="9"/>
            <p:cNvSpPr txBox="true"/>
            <p:nvPr/>
          </p:nvSpPr>
          <p:spPr>
            <a:xfrm>
              <a:off x="114300" y="-38100"/>
              <a:ext cx="584200" cy="736600"/>
            </a:xfrm>
            <a:prstGeom prst="rect">
              <a:avLst/>
            </a:prstGeom>
          </p:spPr>
          <p:txBody>
            <a:bodyPr anchor="ctr" rtlCol="false" tIns="50800" lIns="50800" bIns="50800" rIns="50800"/>
            <a:lstStyle/>
            <a:p>
              <a:pPr algn="ctr" marL="0" indent="0" lvl="0">
                <a:lnSpc>
                  <a:spcPts val="3357"/>
                </a:lnSpc>
                <a:spcBef>
                  <a:spcPct val="0"/>
                </a:spcBef>
              </a:pPr>
            </a:p>
          </p:txBody>
        </p:sp>
      </p:grpSp>
      <p:grpSp>
        <p:nvGrpSpPr>
          <p:cNvPr name="Group 10" id="10"/>
          <p:cNvGrpSpPr/>
          <p:nvPr/>
        </p:nvGrpSpPr>
        <p:grpSpPr>
          <a:xfrm rot="0">
            <a:off x="1028700" y="8501408"/>
            <a:ext cx="4155559" cy="3571183"/>
            <a:chOff x="0" y="0"/>
            <a:chExt cx="812800" cy="698500"/>
          </a:xfrm>
        </p:grpSpPr>
        <p:sp>
          <p:nvSpPr>
            <p:cNvPr name="Freeform 11" id="11"/>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12" id="12"/>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grpSp>
        <p:nvGrpSpPr>
          <p:cNvPr name="Group 13" id="13"/>
          <p:cNvGrpSpPr/>
          <p:nvPr/>
        </p:nvGrpSpPr>
        <p:grpSpPr>
          <a:xfrm rot="0">
            <a:off x="335162" y="6342923"/>
            <a:ext cx="1906328" cy="1638251"/>
            <a:chOff x="0" y="0"/>
            <a:chExt cx="812800" cy="698500"/>
          </a:xfrm>
        </p:grpSpPr>
        <p:sp>
          <p:nvSpPr>
            <p:cNvPr name="Freeform 14" id="14"/>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35000"/>
                  </a:srgbClr>
                </a:gs>
                <a:gs pos="100000">
                  <a:srgbClr val="035E8E">
                    <a:alpha val="0"/>
                  </a:srgbClr>
                </a:gs>
              </a:gsLst>
              <a:lin ang="0"/>
            </a:gradFill>
          </p:spPr>
        </p:sp>
        <p:sp>
          <p:nvSpPr>
            <p:cNvPr name="TextBox 15" id="15"/>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grpSp>
        <p:nvGrpSpPr>
          <p:cNvPr name="Group 16" id="16"/>
          <p:cNvGrpSpPr/>
          <p:nvPr/>
        </p:nvGrpSpPr>
        <p:grpSpPr>
          <a:xfrm rot="0">
            <a:off x="3746822" y="8501408"/>
            <a:ext cx="1510485" cy="1298073"/>
            <a:chOff x="0" y="0"/>
            <a:chExt cx="812800" cy="698500"/>
          </a:xfrm>
        </p:grpSpPr>
        <p:sp>
          <p:nvSpPr>
            <p:cNvPr name="Freeform 17" id="17"/>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gradFill rotWithShape="true">
              <a:gsLst>
                <a:gs pos="0">
                  <a:srgbClr val="31A1D4">
                    <a:alpha val="47000"/>
                  </a:srgbClr>
                </a:gs>
                <a:gs pos="100000">
                  <a:srgbClr val="035E8E">
                    <a:alpha val="0"/>
                  </a:srgbClr>
                </a:gs>
              </a:gsLst>
              <a:lin ang="0"/>
            </a:gradFill>
          </p:spPr>
        </p:sp>
        <p:sp>
          <p:nvSpPr>
            <p:cNvPr name="TextBox 18" id="18"/>
            <p:cNvSpPr txBox="true"/>
            <p:nvPr/>
          </p:nvSpPr>
          <p:spPr>
            <a:xfrm>
              <a:off x="114300" y="-38100"/>
              <a:ext cx="584200" cy="736600"/>
            </a:xfrm>
            <a:prstGeom prst="rect">
              <a:avLst/>
            </a:prstGeom>
          </p:spPr>
          <p:txBody>
            <a:bodyPr anchor="ctr" rtlCol="false" tIns="50800" lIns="50800" bIns="50800" rIns="50800"/>
            <a:lstStyle/>
            <a:p>
              <a:pPr algn="ctr">
                <a:lnSpc>
                  <a:spcPts val="3357"/>
                </a:lnSpc>
              </a:pPr>
            </a:p>
          </p:txBody>
        </p:sp>
      </p:grpSp>
      <p:sp>
        <p:nvSpPr>
          <p:cNvPr name="TextBox 19" id="19"/>
          <p:cNvSpPr txBox="true"/>
          <p:nvPr/>
        </p:nvSpPr>
        <p:spPr>
          <a:xfrm rot="0">
            <a:off x="2812536" y="3082052"/>
            <a:ext cx="12662927" cy="1633738"/>
          </a:xfrm>
          <a:prstGeom prst="rect">
            <a:avLst/>
          </a:prstGeom>
        </p:spPr>
        <p:txBody>
          <a:bodyPr anchor="t" rtlCol="false" tIns="0" lIns="0" bIns="0" rIns="0">
            <a:spAutoFit/>
          </a:bodyPr>
          <a:lstStyle/>
          <a:p>
            <a:pPr algn="ctr">
              <a:lnSpc>
                <a:spcPts val="13376"/>
              </a:lnSpc>
              <a:spcBef>
                <a:spcPct val="0"/>
              </a:spcBef>
            </a:pPr>
            <a:r>
              <a:rPr lang="en-US" b="true" sz="9554">
                <a:solidFill>
                  <a:srgbClr val="FFFFFF"/>
                </a:solidFill>
                <a:latin typeface="TT Lakes Neue Extended Bold"/>
                <a:ea typeface="TT Lakes Neue Extended Bold"/>
                <a:cs typeface="TT Lakes Neue Extended Bold"/>
                <a:sym typeface="TT Lakes Neue Extended Bold"/>
              </a:rPr>
              <a:t>THANK YOU</a:t>
            </a:r>
          </a:p>
        </p:txBody>
      </p:sp>
      <p:sp>
        <p:nvSpPr>
          <p:cNvPr name="TextBox 20" id="20"/>
          <p:cNvSpPr txBox="true"/>
          <p:nvPr/>
        </p:nvSpPr>
        <p:spPr>
          <a:xfrm rot="0">
            <a:off x="6430680" y="6536126"/>
            <a:ext cx="2106102" cy="330240"/>
          </a:xfrm>
          <a:prstGeom prst="rect">
            <a:avLst/>
          </a:prstGeom>
        </p:spPr>
        <p:txBody>
          <a:bodyPr anchor="t" rtlCol="false" tIns="0" lIns="0" bIns="0" rIns="0">
            <a:spAutoFit/>
          </a:bodyPr>
          <a:lstStyle/>
          <a:p>
            <a:pPr algn="l">
              <a:lnSpc>
                <a:spcPts val="2797"/>
              </a:lnSpc>
              <a:spcBef>
                <a:spcPct val="0"/>
              </a:spcBef>
            </a:pPr>
            <a:r>
              <a:rPr lang="en-US" sz="1998">
                <a:solidFill>
                  <a:srgbClr val="FFFFFF"/>
                </a:solidFill>
                <a:latin typeface="Montserrat Light"/>
                <a:ea typeface="Montserrat Light"/>
                <a:cs typeface="Montserrat Light"/>
                <a:sym typeface="Montserrat Light"/>
              </a:rPr>
              <a:t>123-456-7890</a:t>
            </a:r>
          </a:p>
        </p:txBody>
      </p:sp>
      <p:sp>
        <p:nvSpPr>
          <p:cNvPr name="TextBox 21" id="21"/>
          <p:cNvSpPr txBox="true"/>
          <p:nvPr/>
        </p:nvSpPr>
        <p:spPr>
          <a:xfrm rot="0">
            <a:off x="9187470" y="6536126"/>
            <a:ext cx="3578958" cy="330240"/>
          </a:xfrm>
          <a:prstGeom prst="rect">
            <a:avLst/>
          </a:prstGeom>
        </p:spPr>
        <p:txBody>
          <a:bodyPr anchor="t" rtlCol="false" tIns="0" lIns="0" bIns="0" rIns="0">
            <a:spAutoFit/>
          </a:bodyPr>
          <a:lstStyle/>
          <a:p>
            <a:pPr algn="l">
              <a:lnSpc>
                <a:spcPts val="2797"/>
              </a:lnSpc>
              <a:spcBef>
                <a:spcPct val="0"/>
              </a:spcBef>
            </a:pPr>
            <a:r>
              <a:rPr lang="en-US" sz="1998">
                <a:solidFill>
                  <a:srgbClr val="FFFFFF"/>
                </a:solidFill>
                <a:latin typeface="Montserrat Light"/>
                <a:ea typeface="Montserrat Light"/>
                <a:cs typeface="Montserrat Light"/>
                <a:sym typeface="Montserrat Light"/>
              </a:rPr>
              <a:t>www.reallygreatsite.com</a:t>
            </a:r>
          </a:p>
        </p:txBody>
      </p:sp>
      <p:sp>
        <p:nvSpPr>
          <p:cNvPr name="TextBox 22" id="22"/>
          <p:cNvSpPr txBox="true"/>
          <p:nvPr/>
        </p:nvSpPr>
        <p:spPr>
          <a:xfrm rot="0">
            <a:off x="1028700" y="849292"/>
            <a:ext cx="2917936" cy="330240"/>
          </a:xfrm>
          <a:prstGeom prst="rect">
            <a:avLst/>
          </a:prstGeom>
        </p:spPr>
        <p:txBody>
          <a:bodyPr anchor="t" rtlCol="false" tIns="0" lIns="0" bIns="0" rIns="0">
            <a:spAutoFit/>
          </a:bodyPr>
          <a:lstStyle/>
          <a:p>
            <a:pPr algn="l">
              <a:lnSpc>
                <a:spcPts val="2797"/>
              </a:lnSpc>
              <a:spcBef>
                <a:spcPct val="0"/>
              </a:spcBef>
            </a:pPr>
            <a:r>
              <a:rPr lang="en-US" sz="1998">
                <a:solidFill>
                  <a:srgbClr val="FFFFFF"/>
                </a:solidFill>
                <a:latin typeface="Montserrat Light"/>
                <a:ea typeface="Montserrat Light"/>
                <a:cs typeface="Montserrat Light"/>
                <a:sym typeface="Montserrat Light"/>
              </a:rPr>
              <a:t>Thynk</a:t>
            </a:r>
            <a:r>
              <a:rPr lang="en-US" sz="1998">
                <a:solidFill>
                  <a:srgbClr val="FFFFFF"/>
                </a:solidFill>
                <a:latin typeface="Montserrat Light"/>
                <a:ea typeface="Montserrat Light"/>
                <a:cs typeface="Montserrat Light"/>
                <a:sym typeface="Montserrat Light"/>
              </a:rPr>
              <a:t> Unlimited</a:t>
            </a:r>
          </a:p>
        </p:txBody>
      </p:sp>
      <p:sp>
        <p:nvSpPr>
          <p:cNvPr name="TextBox 23" id="23"/>
          <p:cNvSpPr txBox="true"/>
          <p:nvPr/>
        </p:nvSpPr>
        <p:spPr>
          <a:xfrm rot="0">
            <a:off x="13593987" y="9078892"/>
            <a:ext cx="3665313" cy="330240"/>
          </a:xfrm>
          <a:prstGeom prst="rect">
            <a:avLst/>
          </a:prstGeom>
        </p:spPr>
        <p:txBody>
          <a:bodyPr anchor="t" rtlCol="false" tIns="0" lIns="0" bIns="0" rIns="0">
            <a:spAutoFit/>
          </a:bodyPr>
          <a:lstStyle/>
          <a:p>
            <a:pPr algn="r">
              <a:lnSpc>
                <a:spcPts val="2797"/>
              </a:lnSpc>
              <a:spcBef>
                <a:spcPct val="0"/>
              </a:spcBef>
            </a:pPr>
            <a:r>
              <a:rPr lang="en-US" sz="1998">
                <a:solidFill>
                  <a:srgbClr val="FFFFFF"/>
                </a:solidFill>
                <a:latin typeface="Montserrat Light"/>
                <a:ea typeface="Montserrat Light"/>
                <a:cs typeface="Montserrat Light"/>
                <a:sym typeface="Montserrat Light"/>
              </a:rPr>
              <a:t>www.rea</a:t>
            </a:r>
            <a:r>
              <a:rPr lang="en-US" sz="1998">
                <a:solidFill>
                  <a:srgbClr val="FFFFFF"/>
                </a:solidFill>
                <a:latin typeface="Montserrat Light"/>
                <a:ea typeface="Montserrat Light"/>
                <a:cs typeface="Montserrat Light"/>
                <a:sym typeface="Montserrat Light"/>
              </a:rPr>
              <a:t>llygreatsite.com</a:t>
            </a:r>
          </a:p>
        </p:txBody>
      </p:sp>
      <p:sp>
        <p:nvSpPr>
          <p:cNvPr name="TextBox 24" id="24"/>
          <p:cNvSpPr txBox="true"/>
          <p:nvPr/>
        </p:nvSpPr>
        <p:spPr>
          <a:xfrm rot="0">
            <a:off x="6404467" y="4980008"/>
            <a:ext cx="5479065" cy="762040"/>
          </a:xfrm>
          <a:prstGeom prst="rect">
            <a:avLst/>
          </a:prstGeom>
        </p:spPr>
        <p:txBody>
          <a:bodyPr anchor="t" rtlCol="false" tIns="0" lIns="0" bIns="0" rIns="0">
            <a:spAutoFit/>
          </a:bodyPr>
          <a:lstStyle/>
          <a:p>
            <a:pPr algn="ctr">
              <a:lnSpc>
                <a:spcPts val="2097"/>
              </a:lnSpc>
              <a:spcBef>
                <a:spcPct val="0"/>
              </a:spcBef>
            </a:pPr>
            <a:r>
              <a:rPr lang="en-US" sz="1498">
                <a:solidFill>
                  <a:srgbClr val="FFFFFF"/>
                </a:solidFill>
                <a:latin typeface="Montserrat Light"/>
                <a:ea typeface="Montserrat Light"/>
                <a:cs typeface="Montserrat Light"/>
                <a:sym typeface="Montserrat Light"/>
              </a:rPr>
              <a:t>Lorem ipsum dolor sit amet, consectetur adipiscing elit, sed do eiusmod tempor incididunt ut labore et dolore magna aliqua. Ut enim ad minim veniam.</a:t>
            </a:r>
          </a:p>
        </p:txBody>
      </p:sp>
      <p:sp>
        <p:nvSpPr>
          <p:cNvPr name="Freeform 25" id="25"/>
          <p:cNvSpPr/>
          <p:nvPr/>
        </p:nvSpPr>
        <p:spPr>
          <a:xfrm flipH="false" flipV="false" rot="0">
            <a:off x="6035415" y="6569621"/>
            <a:ext cx="291826" cy="291826"/>
          </a:xfrm>
          <a:custGeom>
            <a:avLst/>
            <a:gdLst/>
            <a:ahLst/>
            <a:cxnLst/>
            <a:rect r="r" b="b" t="t" l="l"/>
            <a:pathLst>
              <a:path h="291826" w="291826">
                <a:moveTo>
                  <a:pt x="0" y="0"/>
                </a:moveTo>
                <a:lnTo>
                  <a:pt x="291825" y="0"/>
                </a:lnTo>
                <a:lnTo>
                  <a:pt x="291825" y="291825"/>
                </a:lnTo>
                <a:lnTo>
                  <a:pt x="0" y="29182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a:ln cap="sq">
            <a:noFill/>
            <a:prstDash val="solid"/>
            <a:miter/>
          </a:ln>
        </p:spPr>
      </p:sp>
      <p:sp>
        <p:nvSpPr>
          <p:cNvPr name="Freeform 26" id="26"/>
          <p:cNvSpPr/>
          <p:nvPr/>
        </p:nvSpPr>
        <p:spPr>
          <a:xfrm flipH="false" flipV="false" rot="0">
            <a:off x="8805231" y="6578315"/>
            <a:ext cx="277464" cy="274437"/>
          </a:xfrm>
          <a:custGeom>
            <a:avLst/>
            <a:gdLst/>
            <a:ahLst/>
            <a:cxnLst/>
            <a:rect r="r" b="b" t="t" l="l"/>
            <a:pathLst>
              <a:path h="274437" w="277464">
                <a:moveTo>
                  <a:pt x="0" y="0"/>
                </a:moveTo>
                <a:lnTo>
                  <a:pt x="277464" y="0"/>
                </a:lnTo>
                <a:lnTo>
                  <a:pt x="277464" y="274437"/>
                </a:lnTo>
                <a:lnTo>
                  <a:pt x="0" y="27443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a:ln cap="sq">
            <a:noFill/>
            <a:prstDash val="solid"/>
            <a:miter/>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DAHO6OV4fXs</dc:identifier>
  <dcterms:modified xsi:type="dcterms:W3CDTF">2011-08-01T06:04:30Z</dcterms:modified>
  <cp:revision>1</cp:revision>
  <dc:title>Blue Modern Technology Company Presentation</dc:title>
</cp:coreProperties>
</file>